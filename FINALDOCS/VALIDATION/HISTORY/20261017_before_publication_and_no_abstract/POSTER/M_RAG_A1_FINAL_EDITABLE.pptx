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d2e96c41034397" /><Relationship Type="http://schemas.openxmlformats.org/officeDocument/2006/relationships/extended-properties" Target="/docProps/app.xml" Id="Rb00099eadc564157" /><Relationship Type="http://schemas.openxmlformats.org/officeDocument/2006/relationships/officeDocument" Target="/ppt/presentation.xml" Id="Ra7721f5a6b66423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a58bf6f0514c86"/>
  </p:sldMasterIdLst>
  <p:notesMasterIdLst>
    <p:notesMasterId xmlns:r="http://schemas.openxmlformats.org/officeDocument/2006/relationships" r:id="R0c7be1f8abc2443b"/>
  </p:notesMasterIdLst>
  <p:sldIdLst>
    <p:sldId xmlns:r="http://schemas.openxmlformats.org/officeDocument/2006/relationships" id="256" r:id="R2d580b33d23d47bc"/>
  </p:sldIdLst>
  <p:sldSz cx="21384000" cy="30276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6e91d7332d4d3e" /><Relationship Type="http://schemas.openxmlformats.org/officeDocument/2006/relationships/slideMaster" Target="/ppt/slideMasters/slideMaster1.xml" Id="R16a58bf6f0514c86" /><Relationship Type="http://schemas.openxmlformats.org/officeDocument/2006/relationships/notesMaster" Target="/ppt/notesMasters/notesMaster1.xml" Id="R0c7be1f8abc2443b" /><Relationship Type="http://schemas.openxmlformats.org/officeDocument/2006/relationships/presProps" Target="/ppt/presProps.xml" Id="R57dfa5ae77a24691" /><Relationship Type="http://schemas.openxmlformats.org/officeDocument/2006/relationships/tableStyles" Target="/ppt/tableStyles.xml" Id="Re9b8599df9d44542" /><Relationship Type="http://schemas.openxmlformats.org/officeDocument/2006/relationships/slide" Target="/ppt/slides/slide1.xml" Id="R2d580b33d23d47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4370e2cb8041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78805af586483a" /><Relationship Type="http://schemas.openxmlformats.org/officeDocument/2006/relationships/notesMaster" Target="/ppt/notesMasters/notesMaster1.xml" Id="Raefa0daaa4d442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sources and full statistics: FINALDOCS/DATA/FACTORIAL_STATISTICS_60Q.json; FINALDOCS/MANUSCRIPT/GRADUATION_REPORT_TRANSFER_KO_60Q.md. The exploratory analysis uses query-level repeated measures and Holm-adjusted hypothesis families. Editable tables follow explicit data-type alignment. Reference [4] https://arxiv.org/abs/2511.09984; references follow manuscript numbering.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8075b6432a406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cb29a6f0394d0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23c3054cce47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8055d4302641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411efa9b0846e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a31c218c9b44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48359CC-4D8E-41DA-B605-F3350540D8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8400" y="11437600"/>
            <a:ext cx="17107200" cy="437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841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4BC5F42-0E1F-46A2-9DB6-8C739EE2893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207600" y="16651800"/>
            <a:ext cx="14968800" cy="336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363FC78-7A49-4239-99E6-CC0177D378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38400" y="12615000"/>
            <a:ext cx="17107200" cy="504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367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0B04E8-BB69-4285-9978-64BE368C77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2850" y="2354800"/>
            <a:ext cx="18978300" cy="37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6821DE3-51DA-48BA-A39F-B87A769B07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2850" y="8410000"/>
            <a:ext cx="18978300" cy="188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1pPr>
            <a:lvl2pPr marL="935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2pPr>
            <a:lvl3pPr marL="1470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3pPr>
            <a:lvl4pPr marL="2004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4pPr>
            <a:lvl5pPr marL="25393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5pPr>
            <a:lvl6pPr marL="3073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6pPr>
            <a:lvl7pPr marL="3608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7pPr>
            <a:lvl8pPr marL="4143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8pPr>
            <a:lvl9pPr marL="4677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417882F-10E4-4CBA-BA7F-927DD5C4ED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2850" y="2354800"/>
            <a:ext cx="18978300" cy="37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F0C527-7D24-474D-9CD5-E5253C099C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2850" y="8410000"/>
            <a:ext cx="8820900" cy="188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1pPr>
            <a:lvl2pPr marL="935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2pPr>
            <a:lvl3pPr marL="1470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3pPr>
            <a:lvl4pPr marL="2004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4pPr>
            <a:lvl5pPr marL="25393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5pPr>
            <a:lvl6pPr marL="3073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6pPr>
            <a:lvl7pPr marL="3608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7pPr>
            <a:lvl8pPr marL="4143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8pPr>
            <a:lvl9pPr marL="4677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7E70C3C-7F85-4165-9203-78C225FC2B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1360250" y="8410000"/>
            <a:ext cx="8820900" cy="188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68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1pPr>
            <a:lvl2pPr marL="935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2pPr>
            <a:lvl3pPr marL="1470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3pPr>
            <a:lvl4pPr marL="2004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4pPr>
            <a:lvl5pPr marL="25393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5pPr>
            <a:lvl6pPr marL="3073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6pPr>
            <a:lvl7pPr marL="3608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7pPr>
            <a:lvl8pPr marL="4143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8pPr>
            <a:lvl9pPr marL="4677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C5F39C-57B8-42F2-A00D-676970CBB5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02850" y="2354800"/>
            <a:ext cx="18978300" cy="37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78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3BAD953-F47A-4175-9BCA-5CE55BF769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202850" y="8410000"/>
            <a:ext cx="8820900" cy="188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94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400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1pPr>
            <a:lvl2pPr marL="935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2pPr>
            <a:lvl3pPr marL="1470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3pPr>
            <a:lvl4pPr marL="2004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4pPr>
            <a:lvl5pPr marL="25393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5pPr>
            <a:lvl6pPr marL="30739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6pPr>
            <a:lvl7pPr marL="36085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7pPr>
            <a:lvl8pPr marL="41431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8pPr>
            <a:lvl9pPr marL="4677750" indent="-400950">
              <a:lnSpc>
                <a:spcPct val="110000"/>
              </a:lnSpc>
              <a:spcBef>
                <a:spcPts val="0"/>
              </a:spcBef>
              <a:spcAft>
                <a:spcPts val="210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0911e60ecd47d1" /><Relationship Type="http://schemas.openxmlformats.org/officeDocument/2006/relationships/slideLayout" Target="/ppt/slideLayouts/slideLayout1.xml" Id="R80110722d007410e" /><Relationship Type="http://schemas.openxmlformats.org/officeDocument/2006/relationships/slideLayout" Target="/ppt/slideLayouts/slideLayout2.xml" Id="Rb335736f41194d7f" /><Relationship Type="http://schemas.openxmlformats.org/officeDocument/2006/relationships/slideLayout" Target="/ppt/slideLayouts/slideLayout3.xml" Id="Rdedbe022be4e4e5c" /><Relationship Type="http://schemas.openxmlformats.org/officeDocument/2006/relationships/slideLayout" Target="/ppt/slideLayouts/slideLayout4.xml" Id="R9326ff41311e4390" /><Relationship Type="http://schemas.openxmlformats.org/officeDocument/2006/relationships/slideLayout" Target="/ppt/slideLayouts/slideLayout5.xml" Id="R0794f6036e83440f" /><Relationship Type="http://schemas.openxmlformats.org/officeDocument/2006/relationships/slideLayout" Target="/ppt/slideLayouts/slideLayout6.xml" Id="Rc3cde7c99c9546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110722d007410e"/>
    <p:sldLayoutId xmlns:r="http://schemas.openxmlformats.org/officeDocument/2006/relationships" id="2147483650" r:id="Rb335736f41194d7f"/>
    <p:sldLayoutId xmlns:r="http://schemas.openxmlformats.org/officeDocument/2006/relationships" id="2147483651" r:id="Rdedbe022be4e4e5c"/>
    <p:sldLayoutId xmlns:r="http://schemas.openxmlformats.org/officeDocument/2006/relationships" id="2147483652" r:id="R9326ff41311e4390"/>
    <p:sldLayoutId xmlns:r="http://schemas.openxmlformats.org/officeDocument/2006/relationships" id="2147483653" r:id="R0794f6036e83440f"/>
    <p:sldLayoutId xmlns:r="http://schemas.openxmlformats.org/officeDocument/2006/relationships" id="2147483654" r:id="Rc3cde7c99c9546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13e67385e2427c" /><Relationship Type="http://schemas.openxmlformats.org/officeDocument/2006/relationships/notesSlide" Target="/ppt/notesSlides/notesSlide1.xml" Id="R8ef5e62e327b44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62205CB-56E8-4729-BFA7-C57BB698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1384000" cy="3067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한국어 질의로 영어 학술·기술 문서를 검색하는">
            <a:extLst xmlns:a="http://schemas.openxmlformats.org/drawingml/2006/main">
              <a:ext uri="{FF2B5EF4-FFF2-40B4-BE49-F238E27FC236}">
                <a16:creationId xmlns:a16="http://schemas.microsoft.com/office/drawing/2014/main" id="{7E48507D-2D4A-4296-9D3D-6C6B4369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20317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한국어 질의로 영어 학술·기술 문서를 검색하는</a:t>
            </a:r>
          </a:p>
        </p:txBody>
      </p:sp>
      <p:sp>
        <p:nvSpPr>
          <p:cNvPr id="3" name="RAG에서의 HyDE·CAD·SCD 조합 실험">
            <a:extLst xmlns:a="http://schemas.openxmlformats.org/drawingml/2006/main">
              <a:ext uri="{FF2B5EF4-FFF2-40B4-BE49-F238E27FC236}">
                <a16:creationId xmlns:a16="http://schemas.microsoft.com/office/drawing/2014/main" id="{DE9E98EE-3B20-40D8-A5F2-0A5C489A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62075"/>
            <a:ext cx="20317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2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RAG에서의 HyDE·CAD·SCD 조합 실험</a:t>
            </a:r>
          </a:p>
        </p:txBody>
      </p:sp>
      <p:sp>
        <p:nvSpPr>
          <p:cNvPr id="4" name="문종건 · 동국대학교 WISE캠퍼스 컴퓨터공학과 · 지도교수 김진석 · 2026.10.15">
            <a:extLst xmlns:a="http://schemas.openxmlformats.org/drawingml/2006/main">
              <a:ext uri="{FF2B5EF4-FFF2-40B4-BE49-F238E27FC236}">
                <a16:creationId xmlns:a16="http://schemas.microsoft.com/office/drawing/2014/main" id="{A58E3837-B1B5-4DBC-B883-05FB9CDA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86025"/>
            <a:ext cx="2031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문종건 · 동국대학교 WISE캠퍼스 컴퓨터공학과 · 지도교수 김진석 · 2026.10.15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80E843-63AE-4D8B-937D-DCFDB4003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76625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1 연구 배경과 목적">
            <a:extLst xmlns:a="http://schemas.openxmlformats.org/drawingml/2006/main">
              <a:ext uri="{FF2B5EF4-FFF2-40B4-BE49-F238E27FC236}">
                <a16:creationId xmlns:a16="http://schemas.microsoft.com/office/drawing/2014/main" id="{12AD9B65-CF84-4269-BB0F-89D76A16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 연구 배경과 목적</a:t>
            </a:r>
          </a:p>
        </p:txBody>
      </p:sp>
      <p:sp>
        <p:nvSpPr>
          <p:cNvPr id="7" name="검색 증강 생성(Retrieval-Augmented Generation, RAG)은 관련 문서 구간을 검색하고 그 텍">
            <a:extLst xmlns:a="http://schemas.openxmlformats.org/drawingml/2006/main">
              <a:ext uri="{FF2B5EF4-FFF2-40B4-BE49-F238E27FC236}">
                <a16:creationId xmlns:a16="http://schemas.microsoft.com/office/drawing/2014/main" id="{BFC63E54-7552-448F-B768-4B376ACD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97299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검색 증강 생성(Retrieval-Augmented Generation, RAG)은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관련 문서 구간을 검색하고 그 텍스트로 답변을 생성한다[1].</a:t>
            </a:r>
          </a:p>
        </p:txBody>
      </p:sp>
      <p:sp>
        <p:nvSpPr>
          <p:cNvPr id="8" name="HyDE: 가상 문서 임베딩(Hypothetical Document Embeddings) 가상 문서 검색 입력 구성[">
            <a:extLst xmlns:a="http://schemas.openxmlformats.org/drawingml/2006/main">
              <a:ext uri="{FF2B5EF4-FFF2-40B4-BE49-F238E27FC236}">
                <a16:creationId xmlns:a16="http://schemas.microsoft.com/office/drawing/2014/main" id="{2C6D1E42-A1B6-4FC3-8ECF-95944688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97299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HyDE: 가상 문서 임베딩(Hypothetical Document Embeddings)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가상 문서 검색 입력 구성[2]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CAD: 문맥 인식 디코딩(Context-Aware Decoding)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검색 근거의 영향 조정[3]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SCD: 소프트 제약 디코딩(Soft Constrained Decoding)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출력 언어 제어[4]</a:t>
            </a:r>
          </a:p>
        </p:txBody>
      </p:sp>
      <p:sp>
        <p:nvSpPr>
          <p:cNvPr id="9" name="한국어 질의와 영어 문서의 표현 차이, 근거의 답변 반영, 출력 언어를 단계별로 평가할 필요가 있다. 본 연구는 동일">
            <a:extLst xmlns:a="http://schemas.openxmlformats.org/drawingml/2006/main">
              <a:ext uri="{FF2B5EF4-FFF2-40B4-BE49-F238E27FC236}">
                <a16:creationId xmlns:a16="http://schemas.microsoft.com/office/drawing/2014/main" id="{5640AC6E-A6B8-4075-A853-035C7FB1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457950"/>
            <a:ext cx="9729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질의와 영어 문서의 표현 차이, 근거의 답변 반영,</a:t>
            </a:r>
          </a:p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출력 언어를 단계별로 평가할 필요가 있다. 본 연구는</a:t>
            </a:r>
          </a:p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동일 파이프라인에서 세 기법의 개별·조합 효과를 비교한다.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666CEC-2BBE-4D35-AA6F-C305A50B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362825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02 Paper-RAG 구조와 기법 적용 위치">
            <a:extLst xmlns:a="http://schemas.openxmlformats.org/drawingml/2006/main">
              <a:ext uri="{FF2B5EF4-FFF2-40B4-BE49-F238E27FC236}">
                <a16:creationId xmlns:a16="http://schemas.microsoft.com/office/drawing/2014/main" id="{A359DAFF-1DCC-42DF-9631-830EB45C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391400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 Paper-RAG 구조와 기법 적용 위치</a:t>
            </a:r>
          </a:p>
        </p:txBody>
      </p:sp>
      <p:sp>
        <p:nvSpPr>
          <p:cNvPr id="12" name="Paper-RAG는 본 연구의 고정 검색·생성 파이프라인이다.">
            <a:extLst xmlns:a="http://schemas.openxmlformats.org/drawingml/2006/main">
              <a:ext uri="{FF2B5EF4-FFF2-40B4-BE49-F238E27FC236}">
                <a16:creationId xmlns:a16="http://schemas.microsoft.com/office/drawing/2014/main" id="{65CEE761-27C9-46D0-8B8B-E8C8D9B8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972425"/>
            <a:ext cx="9729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Paper-RAG는 본 연구의 고정 검색·생성 파이프라인이다.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EC1F70-A555-4911-84C4-1E7D6F0D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515350"/>
            <a:ext cx="4655438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2F6DF6"/>
            </a:solidFill>
            <a:prstDash val="solid"/>
          </a:ln>
        </p:spPr>
      </p:sp>
      <p:sp>
        <p:nvSpPr>
          <p:cNvPr id="14" name="한국어 질의 HyDE OFF: 원질의 HyDE ON: 영어 번역·가상 문서">
            <a:extLst xmlns:a="http://schemas.openxmlformats.org/drawingml/2006/main">
              <a:ext uri="{FF2B5EF4-FFF2-40B4-BE49-F238E27FC236}">
                <a16:creationId xmlns:a16="http://schemas.microsoft.com/office/drawing/2014/main" id="{618FAC3F-A521-42F8-9CD6-06618993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629650"/>
            <a:ext cx="4503038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질의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 OFF: 원질의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 ON: 영어 번역·가상 문서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FAE63D-9DB8-416E-88E6-ABF20C78A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388" y="8515350"/>
            <a:ext cx="4655438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695184"/>
            </a:solidFill>
            <a:prstDash val="solid"/>
          </a:ln>
        </p:spPr>
      </p:sp>
      <p:sp>
        <p:nvSpPr>
          <p:cNvPr id="16" name="BM25 희소 검색[6] 한국어 원질의 사용">
            <a:extLst xmlns:a="http://schemas.openxmlformats.org/drawingml/2006/main">
              <a:ext uri="{FF2B5EF4-FFF2-40B4-BE49-F238E27FC236}">
                <a16:creationId xmlns:a16="http://schemas.microsoft.com/office/drawing/2014/main" id="{7A4978EA-8000-42B7-A520-16E12317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588" y="8629650"/>
            <a:ext cx="4503038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BM25 희소 검색[6]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원질의 사용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5968A-A3AF-4E1A-8A39-A96B04DD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963150"/>
            <a:ext cx="4655438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2F6DF6"/>
            </a:solidFill>
            <a:prstDash val="solid"/>
          </a:ln>
        </p:spPr>
      </p:sp>
      <p:sp>
        <p:nvSpPr>
          <p:cNvPr id="18" name="BGE-M3 밀집 검색[5]">
            <a:extLst xmlns:a="http://schemas.openxmlformats.org/drawingml/2006/main">
              <a:ext uri="{FF2B5EF4-FFF2-40B4-BE49-F238E27FC236}">
                <a16:creationId xmlns:a16="http://schemas.microsoft.com/office/drawing/2014/main" id="{861CA805-13DA-42D7-83F2-F22FA1AA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077450"/>
            <a:ext cx="4503038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BGE-M3 밀집 검색[5]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5EAABA-C861-4B00-B54C-CED5A777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388" y="9963150"/>
            <a:ext cx="4655438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695184"/>
            </a:solidFill>
            <a:prstDash val="solid"/>
          </a:ln>
        </p:spPr>
      </p:sp>
      <p:sp>
        <p:nvSpPr>
          <p:cNvPr id="20" name="가중 RRF[7] 0.6 / 0.4, k=60">
            <a:extLst xmlns:a="http://schemas.openxmlformats.org/drawingml/2006/main">
              <a:ext uri="{FF2B5EF4-FFF2-40B4-BE49-F238E27FC236}">
                <a16:creationId xmlns:a16="http://schemas.microsoft.com/office/drawing/2014/main" id="{D8AFCB13-FB30-44B0-B4CE-00343984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5588" y="10077450"/>
            <a:ext cx="450303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가중 RRF[7]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0.6 / 0.4, k=60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75C063-180B-46BC-9C20-AF20BE81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946844" y="969645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24A"/>
          </a:solidFill>
          <a:ln xmlns:a="http://schemas.openxmlformats.org/drawingml/2006/main" w="0">
            <a:solidFill>
              <a:srgbClr val="24324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AAAD59-D5F6-4AB8-B76E-8385F8D5A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36488" y="10115550"/>
            <a:ext cx="2667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24A"/>
          </a:solidFill>
          <a:ln xmlns:a="http://schemas.openxmlformats.org/drawingml/2006/main" w="0">
            <a:solidFill>
              <a:srgbClr val="24324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EDD4FF-C09C-4596-964A-E360834D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21381" y="9696450"/>
            <a:ext cx="1714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24A"/>
          </a:solidFill>
          <a:ln xmlns:a="http://schemas.openxmlformats.org/drawingml/2006/main" w="0">
            <a:solidFill>
              <a:srgbClr val="24324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693ADC-3015-4F57-8330-E5354036F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010900"/>
            <a:ext cx="97299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695184"/>
            </a:solidFill>
            <a:prstDash val="solid"/>
          </a:ln>
        </p:spPr>
      </p:sp>
      <p:sp>
        <p:nvSpPr>
          <p:cNvPr id="25" name="원질의 기반 CrossEncoder 재정렬[8] 상위 5개 구간 선택·문맥 길이 관리">
            <a:extLst xmlns:a="http://schemas.openxmlformats.org/drawingml/2006/main">
              <a:ext uri="{FF2B5EF4-FFF2-40B4-BE49-F238E27FC236}">
                <a16:creationId xmlns:a16="http://schemas.microsoft.com/office/drawing/2014/main" id="{5114DAB0-4999-4624-93DB-3B3EB37A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125200"/>
            <a:ext cx="95775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원질의 기반 CrossEncoder 재정렬[8]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상위 5개 구간 선택·문맥 길이 관리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980D2E-0D33-46F0-B537-E56B9A7E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134850"/>
            <a:ext cx="97299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D"/>
          </a:solidFill>
          <a:ln xmlns:a="http://schemas.openxmlformats.org/drawingml/2006/main" w="19050">
            <a:solidFill>
              <a:srgbClr val="16846F"/>
            </a:solidFill>
            <a:prstDash val="solid"/>
          </a:ln>
        </p:spPr>
      </p:sp>
      <p:sp>
        <p:nvSpPr>
          <p:cNvPr id="27" name="Mi:dm 2.0 Base Instruct[18] CAD 로짓 결합 후 SCD 언어별 조정, 최종 답변 생성">
            <a:extLst xmlns:a="http://schemas.openxmlformats.org/drawingml/2006/main">
              <a:ext uri="{FF2B5EF4-FFF2-40B4-BE49-F238E27FC236}">
                <a16:creationId xmlns:a16="http://schemas.microsoft.com/office/drawing/2014/main" id="{C5BF05F1-93FA-4260-957B-C4B48354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249150"/>
            <a:ext cx="95775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Mi:dm 2.0 Base Instruct[18]</a:t>
            </a:r>
          </a:p>
          <a:p xmlns:a="http://schemas.openxmlformats.org/drawingml/2006/main">
            <a:pPr algn="ctr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CAD 로짓 결합 후 SCD 언어별 조정, 최종 답변 생성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48F89E-EF29-42DA-AA6E-5B5FB43D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84113" y="10772775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24A"/>
          </a:solidFill>
          <a:ln xmlns:a="http://schemas.openxmlformats.org/drawingml/2006/main" w="0">
            <a:solidFill>
              <a:srgbClr val="24324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92B1DD-2037-4653-A37D-E7707BEBA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484113" y="11887200"/>
            <a:ext cx="1714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324A"/>
          </a:solidFill>
          <a:ln xmlns:a="http://schemas.openxmlformats.org/drawingml/2006/main" w="0">
            <a:solidFill>
              <a:srgbClr val="24324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740FB1-CC0B-47DB-937E-60985F7F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239750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03 3요인 완전요인 실험 설계">
            <a:extLst xmlns:a="http://schemas.openxmlformats.org/drawingml/2006/main">
              <a:ext uri="{FF2B5EF4-FFF2-40B4-BE49-F238E27FC236}">
                <a16:creationId xmlns:a16="http://schemas.microsoft.com/office/drawing/2014/main" id="{A87ECBC9-0566-4AF1-A6A6-B495B714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268325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 3요인 완전요인 실험 설계</a:t>
            </a:r>
          </a:p>
        </p:txBody>
      </p:sp>
      <p:sp>
        <p:nvSpPr>
          <p:cNvPr id="32" name="H=HyDE, C=CAD, S=SCD   0=미적용, 1=적용">
            <a:extLst xmlns:a="http://schemas.openxmlformats.org/drawingml/2006/main">
              <a:ext uri="{FF2B5EF4-FFF2-40B4-BE49-F238E27FC236}">
                <a16:creationId xmlns:a16="http://schemas.microsoft.com/office/drawing/2014/main" id="{9F93F138-42C0-4DF2-BE1A-C4F25E7AA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811250"/>
            <a:ext cx="9729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H=HyDE, C=CAD, S=SCD   0=미적용, 1=적용</a:t>
            </a:r>
          </a:p>
        </p:txBody>
      </p:sp>
      <p:graphicFrame>
        <p:nvGraphicFrame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168366-7139-4AC4-B94A-0B6C1F71BCE1}"/>
              </a:ext>
            </a:extLst>
          </p:cNvPr>
          <p:cNvGraphicFramePr/>
          <p:nvPr/>
        </p:nvGraphicFramePr>
        <p:xfrm>
          <a:off xmlns:a="http://schemas.openxmlformats.org/drawingml/2006/main" x="704850" y="14258925"/>
          <a:ext xmlns:a="http://schemas.openxmlformats.org/drawingml/2006/main" cx="9729975" cy="3086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475789"/>
                <a:gridCol w="1751396"/>
                <a:gridCol w="1751396"/>
                <a:gridCol w="1751396"/>
              </a:tblGrid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H0C0S0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H0C0S1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H0C1S0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H0C1S1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H1C0S0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H1C0S1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H1C1S0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H1C1S1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</a:tbl>
          </a:graphicData>
        </a:graphic>
      </p:graphicFrame>
      <p:sp>
        <p:nvSpPr>
          <p:cNvPr id="34" name="영어 문서 4종 × 15개 질의 × 8조건 = 480개 생성 기록">
            <a:extLst xmlns:a="http://schemas.openxmlformats.org/drawingml/2006/main">
              <a:ext uri="{FF2B5EF4-FFF2-40B4-BE49-F238E27FC236}">
                <a16:creationId xmlns:a16="http://schemas.microsoft.com/office/drawing/2014/main" id="{66864D79-5146-44E8-920A-A53838BB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0"/>
            <a:ext cx="9729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영어 문서 4종 × 15개 질의 × 8조건 = 480개 생성 기록</a:t>
            </a:r>
          </a:p>
        </p:txBody>
      </p:sp>
      <p:sp>
        <p:nvSpPr>
          <p:cNvPr id="35" name="생성 512토큰, CAD α=0.5, SCD α=1.1·β=0.9·Tstart=5">
            <a:extLst xmlns:a="http://schemas.openxmlformats.org/drawingml/2006/main">
              <a:ext uri="{FF2B5EF4-FFF2-40B4-BE49-F238E27FC236}">
                <a16:creationId xmlns:a16="http://schemas.microsoft.com/office/drawing/2014/main" id="{2A888506-9B62-4DFC-A046-71AEC1A9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45100"/>
            <a:ext cx="9729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생성 512토큰, CAD α=0.5, SCD α=1.1·β=0.9·Tstart=5</a:t>
            </a:r>
          </a:p>
        </p:txBody>
      </p:sp>
      <p:sp>
        <p:nvSpPr>
          <p:cNvPr id="36" name="문서 요약을 15개 내용 단위로 나누어 질의를 작성하고, 총 60개 질의의 원문 페이지·정답 근거·답변 가능성을 확인">
            <a:extLst xmlns:a="http://schemas.openxmlformats.org/drawingml/2006/main">
              <a:ext uri="{FF2B5EF4-FFF2-40B4-BE49-F238E27FC236}">
                <a16:creationId xmlns:a16="http://schemas.microsoft.com/office/drawing/2014/main" id="{D676F183-EBA1-4044-9E7D-3DCA6E547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0"/>
            <a:ext cx="97299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문서 요약을 15개 내용 단위로 나누어 질의를 작성하고,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총 60개 질의의 원문 페이지·정답 근거·답변 가능성을 확인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086B2B-56E3-4844-AF51-CABA5AC8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145250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04 평가 지표 및 실험·통계 방법">
            <a:extLst xmlns:a="http://schemas.openxmlformats.org/drawingml/2006/main">
              <a:ext uri="{FF2B5EF4-FFF2-40B4-BE49-F238E27FC236}">
                <a16:creationId xmlns:a16="http://schemas.microsoft.com/office/drawing/2014/main" id="{C6C06BA7-1329-4939-965D-859F5F94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173825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 평가 지표 및 실험·통계 방법</a:t>
            </a:r>
          </a:p>
        </p:txBody>
      </p:sp>
      <p:sp>
        <p:nvSpPr>
          <p:cNvPr id="39" name="근거 충실도: 높을수록 검색 근거가 지지하는 답변 주장 비율이 크다. 답변 관련성: 높을수록 답변 기반 질문과 원질문">
            <a:extLst xmlns:a="http://schemas.openxmlformats.org/drawingml/2006/main">
              <a:ext uri="{FF2B5EF4-FFF2-40B4-BE49-F238E27FC236}">
                <a16:creationId xmlns:a16="http://schemas.microsoft.com/office/drawing/2014/main" id="{5E7403BF-CFB6-4272-9D80-9510D5D97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716750"/>
            <a:ext cx="97299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근거 충실도: 높을수록 검색 근거가 지지하는 답변 주장 비율이 크다.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답변 관련성: 높을수록 답변 기반 질문과 원질문의 의미가 가깝다.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문맥 정밀도: 높을수록 참조 답변에 유용한 구간이 상위에 놓인다.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문맥 재현율: 높을수록 검색 근거가 포괄하는 참조 답변 비중이 크다.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비율: 한글 / (한글 + ASCII 영문자), 높을수록 한글 비중이 크다.</a:t>
            </a:r>
          </a:p>
        </p:txBody>
      </p:sp>
      <p:sp>
        <p:nvSpPr>
          <p:cNvPr id="40" name="품질 관측값은 0~1이다. 관련성 +0.080은 ON−OFF 평균 차이 0.080점이다. SD는 질의별 분포의 표본표">
            <a:extLst xmlns:a="http://schemas.openxmlformats.org/drawingml/2006/main">
              <a:ext uri="{FF2B5EF4-FFF2-40B4-BE49-F238E27FC236}">
                <a16:creationId xmlns:a16="http://schemas.microsoft.com/office/drawing/2014/main" id="{F22B2673-8C83-4EA0-8AF8-AB950575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93125"/>
            <a:ext cx="9729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품질 관측값은 0~1이다. 관련성 +0.080은 ON−OFF 평균 차이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0.080점이다. SD는 질의별 분포의 표본표준편차다.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비율 0.700은 70.0%, 차이 +0.218은 +21.8%p다.</a:t>
            </a:r>
          </a:p>
        </p:txBody>
      </p:sp>
      <p:sp>
        <p:nvSpPr>
          <p:cNvPr id="41" name="평가 예시  ext_raptor_011, H0C0S0">
            <a:extLst xmlns:a="http://schemas.openxmlformats.org/drawingml/2006/main">
              <a:ext uri="{FF2B5EF4-FFF2-40B4-BE49-F238E27FC236}">
                <a16:creationId xmlns:a16="http://schemas.microsoft.com/office/drawing/2014/main" id="{D7CBEFEC-D542-43E3-A12F-310A3F67E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0"/>
            <a:ext cx="9729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평가 예시  ext_raptor_011, H0C0S0</a:t>
            </a:r>
          </a:p>
        </p:txBody>
      </p:sp>
      <p:sp>
        <p:nvSpPr>
          <p:cNvPr id="42" name="질문: Cinderella 사례의 정성 분석에서 RAPTOR의 tree-based retrieval이 DPR보다 주제">
            <a:extLst xmlns:a="http://schemas.openxmlformats.org/drawingml/2006/main">
              <a:ext uri="{FF2B5EF4-FFF2-40B4-BE49-F238E27FC236}">
                <a16:creationId xmlns:a16="http://schemas.microsoft.com/office/drawing/2014/main" id="{EF383AD0-D560-4E46-B03C-277EBE95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02800"/>
            <a:ext cx="9729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질문: Cinderella 사례의 정성 분석에서 RAPTOR의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tree-based retrieval이 DPR보다 주제형·멀티홉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질문에 유리했던 이유는 무엇입니까?</a:t>
            </a:r>
          </a:p>
        </p:txBody>
      </p:sp>
      <p:sp>
        <p:nvSpPr>
          <p:cNvPr id="43" name="참조 답변 요지(원문 p.19): RAPTOR는 이야기의 주요 부분을, DPR은 이야기의 좁은 일부를 자세히 검색한다">
            <a:extLst xmlns:a="http://schemas.openxmlformats.org/drawingml/2006/main">
              <a:ext uri="{FF2B5EF4-FFF2-40B4-BE49-F238E27FC236}">
                <a16:creationId xmlns:a16="http://schemas.microsoft.com/office/drawing/2014/main" id="{2AAA700B-49E2-4B20-8E39-0266A247F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88625"/>
            <a:ext cx="9729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참조 답변 요지(원문 p.19): RAPTOR는 이야기의 주요 부분을,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DPR은 이야기의 좁은 일부를 자세히 검색한다.</a:t>
            </a:r>
          </a:p>
        </p:txBody>
      </p:sp>
      <p:sp>
        <p:nvSpPr>
          <p:cNvPr id="44" name="근거 발췌: “RAPTOR selects nodes from different layers” 생성 답변 발췌: “질문">
            <a:extLst xmlns:a="http://schemas.openxmlformats.org/drawingml/2006/main">
              <a:ext uri="{FF2B5EF4-FFF2-40B4-BE49-F238E27FC236}">
                <a16:creationId xmlns:a16="http://schemas.microsoft.com/office/drawing/2014/main" id="{A8337AA5-218A-40ED-AEDA-2E098232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888700"/>
            <a:ext cx="9729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근거 발췌: “RAPTOR selects nodes from different layers”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생성 답변 발췌: “질문의 요구사항에 따라 서로 다른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층위(layer)에서 노드를 선택할 수 있습니다.”</a:t>
            </a:r>
          </a:p>
        </p:txBody>
      </p:sp>
      <p:sp>
        <p:nvSpPr>
          <p:cNvPr id="45" name="충실도 1.000: 추출된 답변 주장을 검색 문맥이 모두 지지 관련성 0.937: 답변 기반 질문과 원질문의 평균 의">
            <a:extLst xmlns:a="http://schemas.openxmlformats.org/drawingml/2006/main">
              <a:ext uri="{FF2B5EF4-FFF2-40B4-BE49-F238E27FC236}">
                <a16:creationId xmlns:a16="http://schemas.microsoft.com/office/drawing/2014/main" id="{C54C3DD1-49C8-44B4-A3A2-B81BE899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84050"/>
            <a:ext cx="9729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충실도 1.000: 추출된 답변 주장을 검색 문맥이 모두 지지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관련성 0.937: 답변 기반 질문과 원질문의 평균 의미 유사도</a:t>
            </a:r>
          </a:p>
        </p:txBody>
      </p:sp>
      <p:sp>
        <p:nvSpPr>
          <p:cNvPr id="46" name="평가: RAGAS 0.2.15[10], gpt-4o, BGE-M3 임베딩 S0: 영어 문맥 / S1: 한국어 번역 평">
            <a:extLst xmlns:a="http://schemas.openxmlformats.org/drawingml/2006/main">
              <a:ext uri="{FF2B5EF4-FFF2-40B4-BE49-F238E27FC236}">
                <a16:creationId xmlns:a16="http://schemas.microsoft.com/office/drawing/2014/main" id="{922E7EA3-F45C-4B98-97EF-F3326A84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93650"/>
            <a:ext cx="97299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평가: RAGAS 0.2.15[10], gpt-4o, BGE-M3 임베딩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S0: 영어 문맥 / S1: 한국어 번역 평가 문맥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생성에는 영어 문맥 사용, 저장 답변은 그대로 평가</a:t>
            </a:r>
          </a:p>
        </p:txBody>
      </p:sp>
      <p:sp>
        <p:nvSpPr>
          <p:cNvPr id="47" name="반복측정 분산분석(ANOVA)·대응 t-검정·Holm, α=0.05 품질 S별 H×C / 문자·시간 H×C×S, SC">
            <a:extLst xmlns:a="http://schemas.openxmlformats.org/drawingml/2006/main">
              <a:ext uri="{FF2B5EF4-FFF2-40B4-BE49-F238E27FC236}">
                <a16:creationId xmlns:a16="http://schemas.microsoft.com/office/drawing/2014/main" id="{E842B2F6-E2E2-44AA-AA30-352B93302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0"/>
            <a:ext cx="9729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반복측정 분산분석(ANOVA)·대응 t-검정·Holm, α=0.05</a:t>
            </a:r>
          </a:p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품질 S별 H×C / 문자·시간 H×C×S, SCD 120·240쌍→질의60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CEE9B4-2143-4301-B133-36D58CA5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3476625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05 조합별 결과와 통계 검정">
            <a:extLst xmlns:a="http://schemas.openxmlformats.org/drawingml/2006/main">
              <a:ext uri="{FF2B5EF4-FFF2-40B4-BE49-F238E27FC236}">
                <a16:creationId xmlns:a16="http://schemas.microsoft.com/office/drawing/2014/main" id="{75E73BFA-1E7B-4493-8A44-26356040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425" y="3505200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 조합별 결과와 통계 검정</a:t>
            </a:r>
          </a:p>
        </p:txBody>
      </p:sp>
      <p:sp>
        <p:nvSpPr>
          <p:cNvPr id="50" name="HyDE·CAD·SCD 8조합의 품질·한국어 비율·시간 평균(SD)">
            <a:extLst xmlns:a="http://schemas.openxmlformats.org/drawingml/2006/main">
              <a:ext uri="{FF2B5EF4-FFF2-40B4-BE49-F238E27FC236}">
                <a16:creationId xmlns:a16="http://schemas.microsoft.com/office/drawing/2014/main" id="{FC457C18-FED2-48C0-AC4D-61DA44DD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4095750"/>
            <a:ext cx="9729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HyDE·CAD·SCD 8조합의 품질·한국어 비율·시간 평균(SD)</a:t>
            </a:r>
          </a:p>
        </p:txBody>
      </p:sp>
      <p:graphicFrame>
        <p:nvGraphicFrame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9A7DFE8-056D-4FE0-BF9B-762E4A0233E8}"/>
              </a:ext>
            </a:extLst>
          </p:cNvPr>
          <p:cNvGraphicFramePr/>
          <p:nvPr/>
        </p:nvGraphicFramePr>
        <p:xfrm>
          <a:off xmlns:a="http://schemas.openxmlformats.org/drawingml/2006/main" x="10949175" y="4610100"/>
          <a:ext xmlns:a="http://schemas.openxmlformats.org/drawingml/2006/main" cx="9729975" cy="617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56796"/>
                <a:gridCol w="1362197"/>
                <a:gridCol w="1362197"/>
                <a:gridCol w="1362197"/>
                <a:gridCol w="1362197"/>
                <a:gridCol w="1362197"/>
                <a:gridCol w="1362197"/>
              </a:tblGrid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충실도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관련성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문맥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정밀도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문맥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한국어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비율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H0C0S0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0.791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(0.260)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0.683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(0.282)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0.749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0.933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0.494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(0.265)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20.792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(23.404)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H0C1S0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0.839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(0.201)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0.675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(0.261)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0.740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0.917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0.488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(0.245)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63.867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(25.312)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H1C0S0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0.834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(0.186)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0.763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(0.209)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0.714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(0.296)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0.933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0.556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(0.213)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23.440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(4.707)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H1C1S0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0.860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(0.181)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0.705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(0.248)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0.736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0.900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(0.303)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0.503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(0.229)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73.532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(21.584)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H0C0S1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0.787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(0.254)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0.637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(0.296)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0.763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0.900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(0.303)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0.699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(0.329)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18.898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(5.085)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H0C1S1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0.777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0.600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(0.321)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0.752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0.850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(0.360)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0.719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(0.218)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55.159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(26.465)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H1C0S1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0.822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(0.218)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0.710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(0.272)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0.743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(0.281)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0.900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(0.303)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0.807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(0.200)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24.892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(5.196)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H1C1S1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0.831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(0.253)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0.667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(0.286)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0.754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(0.267)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0.917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0.731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(0.209)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64.125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(21.675)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</a:tbl>
          </a:graphicData>
        </a:graphic>
      </p:graphicFrame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EC4494-FBB9-4E50-9937-0D99E3F2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8024813"/>
            <a:ext cx="9729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0: 영어 평가 문맥 / S1: 한국어 번역 평가 문맥 충실도 H0C1S0 n=58, H0C0S1 n=57, 나머지">
            <a:extLst xmlns:a="http://schemas.openxmlformats.org/drawingml/2006/main">
              <a:ext uri="{FF2B5EF4-FFF2-40B4-BE49-F238E27FC236}">
                <a16:creationId xmlns:a16="http://schemas.microsoft.com/office/drawing/2014/main" id="{AFE0D401-8A15-4152-A41A-3760A213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10963275"/>
            <a:ext cx="97299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S0: 영어 평가 문맥 / S1: 한국어 번역 평가 문맥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충실도 H0C1S0 n=58, H0C0S1 n=57, 나머지 n=60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비율·시간(초)은 생성 기록에서 직접 계산</a:t>
            </a:r>
          </a:p>
        </p:txBody>
      </p:sp>
      <p:sp>
        <p:nvSpPr>
          <p:cNvPr id="54" name="3요인 반복측정 ANOVA  ·  각 효과 df=(1,59)">
            <a:extLst xmlns:a="http://schemas.openxmlformats.org/drawingml/2006/main">
              <a:ext uri="{FF2B5EF4-FFF2-40B4-BE49-F238E27FC236}">
                <a16:creationId xmlns:a16="http://schemas.microsoft.com/office/drawing/2014/main" id="{7817F849-61CD-428A-8162-44EA13D25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12115800"/>
            <a:ext cx="97299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3요인 반복측정 ANOVA  ·  각 효과 df=(1,59)</a:t>
            </a:r>
          </a:p>
        </p:txBody>
      </p:sp>
      <p:graphicFrame>
        <p:nvGraphicFrame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52750D-8BAD-44B6-9436-F4B1E1226E8E}"/>
              </a:ext>
            </a:extLst>
          </p:cNvPr>
          <p:cNvGraphicFramePr/>
          <p:nvPr/>
        </p:nvGraphicFramePr>
        <p:xfrm>
          <a:off xmlns:a="http://schemas.openxmlformats.org/drawingml/2006/main" x="10949175" y="12601575"/>
          <a:ext xmlns:a="http://schemas.openxmlformats.org/drawingml/2006/main" cx="9729975" cy="40100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48695"/>
                <a:gridCol w="2140595"/>
                <a:gridCol w="1751396"/>
                <a:gridCol w="2140595"/>
                <a:gridCol w="1848695"/>
              </a:tblGrid>
              <a:tr h="6096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요인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한국어 비율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보정 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실행 시간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보정 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2.924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0.370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16.362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3.365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0.358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423.765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341.302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6.097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0.066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H×C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4.417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0.239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2.262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0.414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H×S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0.771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0.940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0.976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C×S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0.940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12.080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485775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H×C×S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1.035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0.940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0.487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0.976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문자 비율·시간은 각각 7검정에 Holm 보정. RAGAS H×C 검정은 평가 문맥 언어별로 수행했으며, 전체 24검">
            <a:extLst xmlns:a="http://schemas.openxmlformats.org/drawingml/2006/main">
              <a:ext uri="{FF2B5EF4-FFF2-40B4-BE49-F238E27FC236}">
                <a16:creationId xmlns:a16="http://schemas.microsoft.com/office/drawing/2014/main" id="{511A453B-8A53-4CC4-BD1C-7E19A4CB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16764000"/>
            <a:ext cx="97299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문자 비율·시간은 각각 7검정에 Holm 보정.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RAGAS H×C 검정은 평가 문맥 언어별로 수행했으며,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전체 24검정의 Holm 보정 p는 모두 0.05 이상이었다.</a:t>
            </a:r>
          </a:p>
        </p:txBody>
      </p:sp>
      <p:sp>
        <p:nvSpPr>
          <p:cNvPr id="57" name="기법별 대응 비교  ·  질의별 평균 차이, 양측 검정">
            <a:extLst xmlns:a="http://schemas.openxmlformats.org/drawingml/2006/main">
              <a:ext uri="{FF2B5EF4-FFF2-40B4-BE49-F238E27FC236}">
                <a16:creationId xmlns:a16="http://schemas.microsoft.com/office/drawing/2014/main" id="{558D78C8-6A76-4629-8E1F-F52B6A3B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17811750"/>
            <a:ext cx="97299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기법별 대응 비교  ·  질의별 평균 차이, 양측 검정</a:t>
            </a:r>
          </a:p>
        </p:txBody>
      </p:sp>
      <p:graphicFrame>
        <p:nvGraphicFrame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46C911D-6624-44C8-A3F4-21854624A143}"/>
              </a:ext>
            </a:extLst>
          </p:cNvPr>
          <p:cNvGraphicFramePr/>
          <p:nvPr/>
        </p:nvGraphicFramePr>
        <p:xfrm>
          <a:off xmlns:a="http://schemas.openxmlformats.org/drawingml/2006/main" x="10949175" y="18316575"/>
          <a:ext xmlns:a="http://schemas.openxmlformats.org/drawingml/2006/main" cx="9729975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32494"/>
                <a:gridCol w="2237894"/>
                <a:gridCol w="1945995"/>
                <a:gridCol w="1556796"/>
                <a:gridCol w="1556796"/>
              </a:tblGrid>
              <a:tr h="8001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차이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(SD)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t(df)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보정 전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보정 후</a:t>
                      </a:r>
                    </a:p>
                    <a:p>
                      <a:pPr algn="ctr"/>
                      <a:r>
                        <a:rPr sz="1800" b="1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T w="6668">
                      <a:solidFill>
                        <a:srgbClr val="D8CFE4"/>
                      </a:solidFill>
                      <a:prstDash val="solid"/>
                    </a:lnT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EAE4F1"/>
                    </a:solidFill>
                  </a:tcPr>
                </a:tc>
              </a:tr>
              <a:tr h="8001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HyDE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 관련성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0.080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(0.279)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2.236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(59)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0.029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0.117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CAD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 충실도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0.029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(0.255)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0.862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(57)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0.393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1.000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8F6FA"/>
                    </a:solidFill>
                  </a:tcPr>
                </a:tc>
              </a:tr>
              <a:tr h="800100"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SCD H0</a:t>
                      </a:r>
                    </a:p>
                    <a:p>
                      <a:pPr algn="l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한국어 비율</a:t>
                      </a:r>
                    </a:p>
                  </a:txBody>
                  <a:tcPr marL="91440" marR="91440" marT="45720" marB="45720" anchor="ctr">
                    <a:lnL w="6668">
                      <a:solidFill>
                        <a:srgbClr val="D8CFE4"/>
                      </a:solidFill>
                      <a:prstDash val="solid"/>
                    </a:lnL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0.218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(0.121)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13.951</a:t>
                      </a:r>
                    </a:p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(59)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 lIns="38100" tIns="38100" rIns="38100" bIns="38100">
                      <a:noAutofit/>
                    </a:bodyPr>
                    <a:lstStyle/>
                    <a:p>
                      <a:pPr algn="r"/>
                      <a:r>
                        <a:rPr sz="1800" b="0">
                          <a:solidFill>
                            <a:srgbClr val="24324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&lt;0.001</a:t>
                      </a:r>
                    </a:p>
                  </a:txBody>
                  <a:tcPr marL="91440" marR="91440" marT="45720" marB="45720" anchor="ctr">
                    <a:lnR w="6668">
                      <a:solidFill>
                        <a:srgbClr val="D8CFE4"/>
                      </a:solidFill>
                      <a:prstDash val="solid"/>
                    </a:lnR>
                    <a:lnB w="6668">
                      <a:solidFill>
                        <a:srgbClr val="D8CF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9" name="HyDE: C0S0, CAD: H0S0, SCD: H0의 CAD 상태 평균 보정: HyDE·CAD 각 4지표, SCD">
            <a:extLst xmlns:a="http://schemas.openxmlformats.org/drawingml/2006/main">
              <a:ext uri="{FF2B5EF4-FFF2-40B4-BE49-F238E27FC236}">
                <a16:creationId xmlns:a16="http://schemas.microsoft.com/office/drawing/2014/main" id="{7260EA1C-D30E-4F52-B88D-F3EF760C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1564600"/>
            <a:ext cx="97299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HyDE: C0S0, CAD: H0S0, SCD: H0의 CAD 상태 평균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보정: HyDE·CAD 각 4지표, SCD 주·전체 비교 2검정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SCD 차이 +0.218은 한글 비중 +21.8%p에 해당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평균표 SD는 점수의 산포, 대응표 SD는 ON−OFF 차이의 산포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12C0399-A0FC-4CD8-B637-706CDF06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2812375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06 결과 해석">
            <a:extLst xmlns:a="http://schemas.openxmlformats.org/drawingml/2006/main">
              <a:ext uri="{FF2B5EF4-FFF2-40B4-BE49-F238E27FC236}">
                <a16:creationId xmlns:a16="http://schemas.microsoft.com/office/drawing/2014/main" id="{6D5EAD38-E571-4DEF-9C1F-AA2877CCE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425" y="22840950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06 결과 해석</a:t>
            </a:r>
          </a:p>
        </p:txBody>
      </p:sp>
      <p:sp>
        <p:nvSpPr>
          <p:cNvPr id="62" name="HyDE의 양의 관련성 차이는 다중비교 보정 결과와 함께 해석한다. CAD는 질의별 충실도 변동과 추가 실행 시간을 ">
            <a:extLst xmlns:a="http://schemas.openxmlformats.org/drawingml/2006/main">
              <a:ext uri="{FF2B5EF4-FFF2-40B4-BE49-F238E27FC236}">
                <a16:creationId xmlns:a16="http://schemas.microsoft.com/office/drawing/2014/main" id="{9247A825-E4F9-4C2F-9A8F-8F01E04D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3336250"/>
            <a:ext cx="97299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HyDE의 양의 관련성 차이는 다중비교 보정 결과와 함께 해석한다.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CAD는 질의별 충실도 변동과 추가 실행 시간을 함께 비교한다.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SCD의 효과는 생성 답변에서 한글이 차지하는 비중의 증가다.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시간의 C×S 상호작용은 SCD별 CAD 시간 증가가 다름을 뜻한다.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6E49CA8-D929-4E6D-B06C-E41762EB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4688800"/>
            <a:ext cx="972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07 결론">
            <a:extLst xmlns:a="http://schemas.openxmlformats.org/drawingml/2006/main">
              <a:ext uri="{FF2B5EF4-FFF2-40B4-BE49-F238E27FC236}">
                <a16:creationId xmlns:a16="http://schemas.microsoft.com/office/drawing/2014/main" id="{408F19DD-B794-46E2-AF97-2D134E6D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4425" y="24717375"/>
            <a:ext cx="95394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07 결론</a:t>
            </a:r>
          </a:p>
        </p:txBody>
      </p:sp>
      <p:sp>
        <p:nvSpPr>
          <p:cNvPr id="65" name="답변 품질은 평균 대응 차이와 보정 검정 결과로 판단한다. 한국어 사용 비중을 높이는 목적에는 SCD 결과를 참고한다">
            <a:extLst xmlns:a="http://schemas.openxmlformats.org/drawingml/2006/main">
              <a:ext uri="{FF2B5EF4-FFF2-40B4-BE49-F238E27FC236}">
                <a16:creationId xmlns:a16="http://schemas.microsoft.com/office/drawing/2014/main" id="{1D2A9F15-0BFE-43C2-A576-F3FE38B5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5288875"/>
            <a:ext cx="97299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답변 품질은 평균 대응 차이와 보정 검정 결과로 판단한다.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한국어 사용 비중을 높이는 목적에는 SCD 결과를 참고한다.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CAD 적용은 질의별 충실도와 추가 실행 시간을 함께 검토한다.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HyDE 적용은 번역·가상 문서 생성과 검색 결과를 함께 비교한다.</a:t>
            </a:r>
          </a:p>
          <a:p xmlns:a="http://schemas.openxmlformats.org/drawingml/2006/main">
            <a:pPr algn="l">
              <a:def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최종 조합은 목표 언어·품질·허용 시간을 기준으로 선택한다.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69AB139-A983-45B6-93C8-839DA3D8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051000"/>
            <a:ext cx="1997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9518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08 주요 참고문헌">
            <a:extLst xmlns:a="http://schemas.openxmlformats.org/drawingml/2006/main">
              <a:ext uri="{FF2B5EF4-FFF2-40B4-BE49-F238E27FC236}">
                <a16:creationId xmlns:a16="http://schemas.microsoft.com/office/drawing/2014/main" id="{0AF40077-AC3C-49F0-8CA8-FAEA5556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79575"/>
            <a:ext cx="1978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08 주요 참고문헌</a:t>
            </a:r>
          </a:p>
        </p:txBody>
      </p:sp>
      <p:sp>
        <p:nvSpPr>
          <p:cNvPr id="68" name="[1] Lewis et al. RAG. NeurIPS, 2020. [2] Gao et al. HyDE. ACL, 20">
            <a:extLst xmlns:a="http://schemas.openxmlformats.org/drawingml/2006/main">
              <a:ext uri="{FF2B5EF4-FFF2-40B4-BE49-F238E27FC236}">
                <a16:creationId xmlns:a16="http://schemas.microsoft.com/office/drawing/2014/main" id="{6B61529D-B497-4654-A433-88F7C724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660600"/>
            <a:ext cx="97299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[1] Lewis et al. RAG. NeurIPS, 2020.</a:t>
            </a:r>
          </a:p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[2] Gao et al. HyDE. ACL, 2023.</a:t>
            </a:r>
          </a:p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[3] Shi et al. Context-Aware Decoding. NAACL, 2024.</a:t>
            </a:r>
          </a:p>
        </p:txBody>
      </p:sp>
      <p:sp>
        <p:nvSpPr>
          <p:cNvPr id="69" name="[4] Li et al. Language Drift and SCD. AAAI, 2026. [5] Chen et al.">
            <a:extLst xmlns:a="http://schemas.openxmlformats.org/drawingml/2006/main">
              <a:ext uri="{FF2B5EF4-FFF2-40B4-BE49-F238E27FC236}">
                <a16:creationId xmlns:a16="http://schemas.microsoft.com/office/drawing/2014/main" id="{A5CAC36E-BA61-4F5E-9748-05603C97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7660600"/>
            <a:ext cx="97299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[4] Li et al. Language Drift and SCD. AAAI, 2026.</a:t>
            </a:r>
          </a:p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[5] Chen et al. M3-Embedding. ACL Findings, 2024.</a:t>
            </a:r>
          </a:p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[10] Es et al. RAGAs. EACL Demonstrations, 2024.</a:t>
            </a:r>
          </a:p>
        </p:txBody>
      </p:sp>
      <p:sp>
        <p:nvSpPr>
          <p:cNvPr id="70" name="구현 출처  [6] Robertson et al. Okapi at TREC-3. 1994. [7] Cormack et">
            <a:extLst xmlns:a="http://schemas.openxmlformats.org/drawingml/2006/main">
              <a:ext uri="{FF2B5EF4-FFF2-40B4-BE49-F238E27FC236}">
                <a16:creationId xmlns:a16="http://schemas.microsoft.com/office/drawing/2014/main" id="{8F9653C7-6949-43A3-955C-6EDE647B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670250"/>
            <a:ext cx="9729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구현 출처  [6] Robertson et al. Okapi at TREC-3. 1994.</a:t>
            </a:r>
          </a:p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[7] Cormack et al. Reciprocal Rank Fusion. SIGIR, 2009.</a:t>
            </a:r>
          </a:p>
        </p:txBody>
      </p:sp>
      <p:sp>
        <p:nvSpPr>
          <p:cNvPr id="71" name="[8] Nogueira &amp; Cho. Passage Re-ranking with BERT. 2019. [18] Shin">
            <a:extLst xmlns:a="http://schemas.openxmlformats.org/drawingml/2006/main">
              <a:ext uri="{FF2B5EF4-FFF2-40B4-BE49-F238E27FC236}">
                <a16:creationId xmlns:a16="http://schemas.microsoft.com/office/drawing/2014/main" id="{F89FF9B3-8F12-4D59-8F15-62E84481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9175" y="28670250"/>
            <a:ext cx="97299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[8] Nogueira &amp; Cho. Passage Re-ranking with BERT. 2019.</a:t>
            </a:r>
          </a:p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[18] Shin et al. Mi:dm 2.0. arXiv:2601.09066, 2026.</a:t>
            </a:r>
          </a:p>
        </p:txBody>
      </p:sp>
      <p:sp>
        <p:nvSpPr>
          <p:cNvPr id="72" name="전체 22편: 동봉 POSTER_REFERENCES_FULL.md · 통계·결측·민감도 분석: 동봉 상세표">
            <a:extLst xmlns:a="http://schemas.openxmlformats.org/drawingml/2006/main">
              <a:ext uri="{FF2B5EF4-FFF2-40B4-BE49-F238E27FC236}">
                <a16:creationId xmlns:a16="http://schemas.microsoft.com/office/drawing/2014/main" id="{E10EF06E-8B5A-40D3-93F4-6823C640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356050"/>
            <a:ext cx="1997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defRPr>
            </a:pPr>
            <a:r>
              <a:rPr sz="1600" b="0">
                <a:solidFill>
                  <a:srgbClr val="24324A"/>
                </a:solidFill>
                <a:latin typeface="Malgun Gothic"/>
                <a:ea typeface="Malgun Gothic"/>
                <a:cs typeface="Malgun Gothic"/>
              </a:rPr>
              <a:t>전체 22편: 동봉 POSTER_REFERENCES_FULL.md · 통계·결측·민감도 분석: 동봉 상세표</a:t>
            </a:r>
          </a:p>
        </p:txBody>
      </p:sp>
      <p:sp>
        <p:nvSpPr>
          <p:cNvPr id="73" name="영어 문서 4종 · 질의 60개 · 생성 모델 1종 · 질의별 반복측정">
            <a:extLst xmlns:a="http://schemas.openxmlformats.org/drawingml/2006/main">
              <a:ext uri="{FF2B5EF4-FFF2-40B4-BE49-F238E27FC236}">
                <a16:creationId xmlns:a16="http://schemas.microsoft.com/office/drawing/2014/main" id="{5C094301-77AF-47E5-8067-094AACC55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670375"/>
            <a:ext cx="19974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l">
              <a:def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pPr>
            <a:r>
              <a:rPr sz="140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rPr>
              <a:t>영어 문서 4종 · 질의 60개 · 생성 모델 1종 · 질의별 반복측정</a:t>
            </a:r>
          </a:p>
        </p:txBody>
      </p:sp>
      <p:sp>
        <p:nvSpPr>
          <p:cNvPr id="74" name="A1 594 × 841 mm">
            <a:extLst xmlns:a="http://schemas.openxmlformats.org/drawingml/2006/main">
              <a:ext uri="{FF2B5EF4-FFF2-40B4-BE49-F238E27FC236}">
                <a16:creationId xmlns:a16="http://schemas.microsoft.com/office/drawing/2014/main" id="{ABF2B35B-C050-405C-A66F-449D6B00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89450"/>
            <a:ext cx="1997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0">
                <a:solidFill>
                  <a:srgbClr val="695184"/>
                </a:solidFill>
                <a:latin typeface="Malgun Gothic"/>
                <a:ea typeface="Malgun Gothic"/>
                <a:cs typeface="Malgun Gothic"/>
              </a:rPr>
              <a:t>A1 594 × 841 mm</a:t>
            </a:r>
          </a:p>
        </p:txBody>
      </p:sp>
    </p:spTree>
    <p:extLst>
      <p:ext uri="{BB962C8B-B14F-4D97-AF65-F5344CB8AC3E}">
        <p14:creationId xmlns:p14="http://schemas.microsoft.com/office/powerpoint/2010/main" val="4316533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2026-10-16T17:42:03.7210000Z</dcterms:created>
  <dcterms:modified xsi:type="dcterms:W3CDTF">2026-10-16T17:42:03.7210000Z</dcterms:modified>
</coreProperties>
</file>