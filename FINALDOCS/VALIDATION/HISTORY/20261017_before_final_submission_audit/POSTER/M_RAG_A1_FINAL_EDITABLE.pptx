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1070a3c0e8496c" /><Relationship Type="http://schemas.openxmlformats.org/officeDocument/2006/relationships/extended-properties" Target="/docProps/app.xml" Id="R8323596dca034774" /><Relationship Type="http://schemas.openxmlformats.org/officeDocument/2006/relationships/officeDocument" Target="/ppt/presentation.xml" Id="Rf04213cb89dc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8195702ba64367"/>
  </p:sldMasterIdLst>
  <p:notesMasterIdLst>
    <p:notesMasterId xmlns:r="http://schemas.openxmlformats.org/officeDocument/2006/relationships" r:id="R8355700b404142f7"/>
  </p:notesMasterIdLst>
  <p:sldIdLst>
    <p:sldId xmlns:r="http://schemas.openxmlformats.org/officeDocument/2006/relationships" id="256" r:id="Rb4fbd5e9c87042fd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bb189f8114a9e" /><Relationship Type="http://schemas.openxmlformats.org/officeDocument/2006/relationships/slideMaster" Target="/ppt/slideMasters/slideMaster1.xml" Id="Rb58195702ba64367" /><Relationship Type="http://schemas.openxmlformats.org/officeDocument/2006/relationships/notesMaster" Target="/ppt/notesMasters/notesMaster1.xml" Id="R8355700b404142f7" /><Relationship Type="http://schemas.openxmlformats.org/officeDocument/2006/relationships/presProps" Target="/ppt/presProps.xml" Id="R97df32bfca0d48fa" /><Relationship Type="http://schemas.openxmlformats.org/officeDocument/2006/relationships/tableStyles" Target="/ppt/tableStyles.xml" Id="R4918932cc1b44a26" /><Relationship Type="http://schemas.openxmlformats.org/officeDocument/2006/relationships/slide" Target="/ppt/slides/slide1.xml" Id="Rb4fbd5e9c870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936adfb98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4d61e126a40be" /><Relationship Type="http://schemas.openxmlformats.org/officeDocument/2006/relationships/notesMaster" Target="/ppt/notesMasters/notesMaster1.xml" Id="Rc35c7aa9787f4d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 and full statistics: FINALDOCS/DATA/FACTORIAL_STATISTICS_60Q.json; FINALDOCS/MANUSCRIPT/GRADUATION_REPORT_TRANSFER_KO_60Q.md. The exploratory analysis uses query-level repeated measures and Holm-adjusted hypothesis families. Editable tables follow explicit data-type alignment. Reference [4] https://arxiv.org/abs/2511.09984; references follow manuscript numbering.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7e8bb001940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5b15f366843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1bab6d01641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af950c0da42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a4fbf862c40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73e715d98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91EE45-AEDF-480A-88C7-3C7272C2A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1437600"/>
            <a:ext cx="17107200" cy="43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CD1A07-9918-4FF9-99C6-7D12E38037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7600" y="16651800"/>
            <a:ext cx="14968800" cy="33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C45DD9-BA39-4048-B4CE-6764F84D2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2615000"/>
            <a:ext cx="17107200" cy="50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2FC633-F36A-4EEA-90D5-68F57241D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3B1D4C-AC93-4A3D-8A26-AFEE41E4C4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189783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40D7EE-AFD1-4E82-9163-A560D9952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D2F858-2D47-4E29-8E4E-26103C1AAD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1D93B1-80B0-49DF-9599-A0DB19857A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3602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44DFE3-DAF9-4DE6-9B54-B21F62016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350097-BA1C-4BAA-A102-E2B244F846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117f1e1b7b4578" /><Relationship Type="http://schemas.openxmlformats.org/officeDocument/2006/relationships/slideLayout" Target="/ppt/slideLayouts/slideLayout1.xml" Id="R46621acff3aa45c8" /><Relationship Type="http://schemas.openxmlformats.org/officeDocument/2006/relationships/slideLayout" Target="/ppt/slideLayouts/slideLayout2.xml" Id="Rd3103928456442b8" /><Relationship Type="http://schemas.openxmlformats.org/officeDocument/2006/relationships/slideLayout" Target="/ppt/slideLayouts/slideLayout3.xml" Id="R7f58072bf63f4eb2" /><Relationship Type="http://schemas.openxmlformats.org/officeDocument/2006/relationships/slideLayout" Target="/ppt/slideLayouts/slideLayout4.xml" Id="R812c19e0fc884bcb" /><Relationship Type="http://schemas.openxmlformats.org/officeDocument/2006/relationships/slideLayout" Target="/ppt/slideLayouts/slideLayout5.xml" Id="R3bb9fbb170bb4392" /><Relationship Type="http://schemas.openxmlformats.org/officeDocument/2006/relationships/slideLayout" Target="/ppt/slideLayouts/slideLayout6.xml" Id="R0a99c1cfc6ed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21acff3aa45c8"/>
    <p:sldLayoutId xmlns:r="http://schemas.openxmlformats.org/officeDocument/2006/relationships" id="2147483650" r:id="Rd3103928456442b8"/>
    <p:sldLayoutId xmlns:r="http://schemas.openxmlformats.org/officeDocument/2006/relationships" id="2147483651" r:id="R7f58072bf63f4eb2"/>
    <p:sldLayoutId xmlns:r="http://schemas.openxmlformats.org/officeDocument/2006/relationships" id="2147483652" r:id="R812c19e0fc884bcb"/>
    <p:sldLayoutId xmlns:r="http://schemas.openxmlformats.org/officeDocument/2006/relationships" id="2147483653" r:id="R3bb9fbb170bb4392"/>
    <p:sldLayoutId xmlns:r="http://schemas.openxmlformats.org/officeDocument/2006/relationships" id="2147483654" r:id="R0a99c1cfc6ed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6847eae9e4726" /><Relationship Type="http://schemas.openxmlformats.org/officeDocument/2006/relationships/notesSlide" Target="/ppt/notesSlides/notesSlide1.xml" Id="R2a295fddfea743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CFD0F9-6A59-4FB8-8ED9-13179886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84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한국어 질의로 영어 학술·기술 문서를 검색하는">
            <a:extLst xmlns:a="http://schemas.openxmlformats.org/drawingml/2006/main">
              <a:ext uri="{FF2B5EF4-FFF2-40B4-BE49-F238E27FC236}">
                <a16:creationId xmlns:a16="http://schemas.microsoft.com/office/drawing/2014/main" id="{414E6030-85A1-4EE5-83A0-EA678FCA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질의로 영어 학술·기술 문서를 검색하는</a:t>
            </a:r>
          </a:p>
        </p:txBody>
      </p:sp>
      <p:sp>
        <p:nvSpPr>
          <p:cNvPr id="3" name="RAG에서의 HyDE·CAD·SCD 조합 실험">
            <a:extLst xmlns:a="http://schemas.openxmlformats.org/drawingml/2006/main">
              <a:ext uri="{FF2B5EF4-FFF2-40B4-BE49-F238E27FC236}">
                <a16:creationId xmlns:a16="http://schemas.microsoft.com/office/drawing/2014/main" id="{96C305DE-F25A-43E5-8AA7-5D6CA2EB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RAG에서의 HyDE·CAD·SCD 조합 실험</a:t>
            </a:r>
          </a:p>
        </p:txBody>
      </p:sp>
      <p:sp>
        <p:nvSpPr>
          <p:cNvPr id="4" name="문종건 · 동국대학교 WISE캠퍼스 컴퓨터공학과 · 지도교수 김진석 · 2026.10.15">
            <a:extLst xmlns:a="http://schemas.openxmlformats.org/drawingml/2006/main">
              <a:ext uri="{FF2B5EF4-FFF2-40B4-BE49-F238E27FC236}">
                <a16:creationId xmlns:a16="http://schemas.microsoft.com/office/drawing/2014/main" id="{99569B2E-80F7-40EB-A2BB-48CEBAF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031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문종건 · 동국대학교 WISE캠퍼스 컴퓨터공학과 · 지도교수 김진석 · 2026.10.15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BF2B0-4536-4FD7-9A5E-F7DAEA3A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1 연구 배경과 목적">
            <a:extLst xmlns:a="http://schemas.openxmlformats.org/drawingml/2006/main">
              <a:ext uri="{FF2B5EF4-FFF2-40B4-BE49-F238E27FC236}">
                <a16:creationId xmlns:a16="http://schemas.microsoft.com/office/drawing/2014/main" id="{AC3BC1F2-5A93-46C5-A2FF-F825512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연구 배경과 목적</a:t>
            </a:r>
          </a:p>
        </p:txBody>
      </p:sp>
      <p:sp>
        <p:nvSpPr>
          <p:cNvPr id="7" name="검색 증강 생성(Retrieval-Augmented Generation, RAG)은 관련 문서 구간을 검색하고 그 텍">
            <a:extLst xmlns:a="http://schemas.openxmlformats.org/drawingml/2006/main">
              <a:ext uri="{FF2B5EF4-FFF2-40B4-BE49-F238E27FC236}">
                <a16:creationId xmlns:a16="http://schemas.microsoft.com/office/drawing/2014/main" id="{9A929349-2D11-4E58-B171-02764181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9729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증강 생성(Retrieval-Augmented Generation, RAG)은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 문서 구간을 검색하고 그 텍스트로 답변을 생성한다[1].</a:t>
            </a:r>
          </a:p>
        </p:txBody>
      </p:sp>
      <p:sp>
        <p:nvSpPr>
          <p:cNvPr id="8" name="HyDE(Hypothetical Document Embeddings): 가상 문서 검색[2] CAD(Context-A">
            <a:extLst xmlns:a="http://schemas.openxmlformats.org/drawingml/2006/main">
              <a:ext uri="{FF2B5EF4-FFF2-40B4-BE49-F238E27FC236}">
                <a16:creationId xmlns:a16="http://schemas.microsoft.com/office/drawing/2014/main" id="{7B2AF846-F4B6-46DC-A435-2771E683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97299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HyDE(Hypothetical Document Embeddings): 가상 문서 검색[2]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CAD(Context-Aware Decoding): 검색 근거의 영향 조정[3]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SCD(Soft Constrained Decoding): 출력 언어 제어[4]</a:t>
            </a:r>
          </a:p>
        </p:txBody>
      </p:sp>
      <p:sp>
        <p:nvSpPr>
          <p:cNvPr id="9" name="한국어 질문에 맞는 영어 근거를 찾고 한국어로 답변하는 과정에서는 검색 관련성과 근거 활용·출력 언어를 함께 평가할 ">
            <a:extLst xmlns:a="http://schemas.openxmlformats.org/drawingml/2006/main">
              <a:ext uri="{FF2B5EF4-FFF2-40B4-BE49-F238E27FC236}">
                <a16:creationId xmlns:a16="http://schemas.microsoft.com/office/drawing/2014/main" id="{5AA53F97-31E4-4F23-A372-1411F5A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9729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질문에 맞는 영어 근거를 찾고 한국어로 답변하는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과정에서는 검색 관련성과 근거 활용·출력 언어를 함께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평가할 필요가 있다. 본 연구는 같은 파이프라인에서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세 기법의 적용 여부와 조합에 따른 결과를 비교한다.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9A4DE-40FC-46B6-BD73-6BA342D7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28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 Paper-RAG 구조와 기법 적용 위치">
            <a:extLst xmlns:a="http://schemas.openxmlformats.org/drawingml/2006/main">
              <a:ext uri="{FF2B5EF4-FFF2-40B4-BE49-F238E27FC236}">
                <a16:creationId xmlns:a16="http://schemas.microsoft.com/office/drawing/2014/main" id="{8EFC967C-9332-43ED-9C7D-F928223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914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Paper-RAG 구조와 기법 적용 위치</a:t>
            </a:r>
          </a:p>
        </p:txBody>
      </p:sp>
      <p:sp>
        <p:nvSpPr>
          <p:cNvPr id="12" name="Paper-RAG는 본 연구의 고정 검색·생성 파이프라인이다.">
            <a:extLst xmlns:a="http://schemas.openxmlformats.org/drawingml/2006/main">
              <a:ext uri="{FF2B5EF4-FFF2-40B4-BE49-F238E27FC236}">
                <a16:creationId xmlns:a16="http://schemas.microsoft.com/office/drawing/2014/main" id="{230E6C4D-C7F1-4F53-B47F-77EE654C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72425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Paper-RAG는 본 연구의 고정 검색·생성 파이프라인이다.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8C655-605A-418C-96EC-E19917C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4" name="한국어 질의 HyDE OFF: 원질의 HyDE ON: 영어 번역·가상 문서">
            <a:extLst xmlns:a="http://schemas.openxmlformats.org/drawingml/2006/main">
              <a:ext uri="{FF2B5EF4-FFF2-40B4-BE49-F238E27FC236}">
                <a16:creationId xmlns:a16="http://schemas.microsoft.com/office/drawing/2014/main" id="{AFE4F61E-41E3-408A-AB8C-614B5B43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OFF: 원질의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ON: 영어 번역·가상 문서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A3CC5-9865-43A6-8D6A-1D34CFC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16" name="BM25 희소 검색[6] 한국어 원질의 사용">
            <a:extLst xmlns:a="http://schemas.openxmlformats.org/drawingml/2006/main">
              <a:ext uri="{FF2B5EF4-FFF2-40B4-BE49-F238E27FC236}">
                <a16:creationId xmlns:a16="http://schemas.microsoft.com/office/drawing/2014/main" id="{720E7D7B-8A6D-4714-8D55-7E990D8A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BM25 희소 검색[6]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원질의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D37E8-E90C-4ED4-BBFF-28C96FE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63150"/>
            <a:ext cx="465543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8" name="BGE-M3 밀집 검색[5]">
            <a:extLst xmlns:a="http://schemas.openxmlformats.org/drawingml/2006/main">
              <a:ext uri="{FF2B5EF4-FFF2-40B4-BE49-F238E27FC236}">
                <a16:creationId xmlns:a16="http://schemas.microsoft.com/office/drawing/2014/main" id="{EF8E0E64-9451-4905-9C8E-7980447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77450"/>
            <a:ext cx="45030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BGE-M3 밀집 검색[5]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A6468-7B39-4348-BE2C-91E8B8D4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9963150"/>
            <a:ext cx="46554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0" name="가중 RRF[7] 0.6 / 0.4, k=60">
            <a:extLst xmlns:a="http://schemas.openxmlformats.org/drawingml/2006/main">
              <a:ext uri="{FF2B5EF4-FFF2-40B4-BE49-F238E27FC236}">
                <a16:creationId xmlns:a16="http://schemas.microsoft.com/office/drawing/2014/main" id="{71F74FE8-7D44-4B69-9DB8-991105B6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10077450"/>
            <a:ext cx="45030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가중 RRF[7]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0.6 / 0.4, k=60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A7326-1670-409B-BDEC-8A19812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46844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1D29E-9C19-4E42-98FA-E0F0949E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88" y="10115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D7584-7D06-4D7C-A98F-CC35AD3D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21381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C25D6-C7CC-44C4-9F1A-61F5C143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10900"/>
            <a:ext cx="9729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5" name="원질의 기반 CrossEncoder 재정렬[8] 상위 5개 구간 선택·문맥 길이 관리">
            <a:extLst xmlns:a="http://schemas.openxmlformats.org/drawingml/2006/main">
              <a:ext uri="{FF2B5EF4-FFF2-40B4-BE49-F238E27FC236}">
                <a16:creationId xmlns:a16="http://schemas.microsoft.com/office/drawing/2014/main" id="{8A6ED402-ADE3-4E8D-98EB-389D0582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125200"/>
            <a:ext cx="9577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원질의 기반 CrossEncoder 재정렬[8]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상위 5개 구간 선택·문맥 길이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934DE-3E6B-4F63-9A47-52D0F78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34850"/>
            <a:ext cx="97299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16846F"/>
            </a:solidFill>
            <a:prstDash val="solid"/>
          </a:ln>
        </p:spPr>
      </p:sp>
      <p:sp>
        <p:nvSpPr>
          <p:cNvPr id="27" name="Mi:dm 2.0 Base Instruct[18] CAD 로짓 결합 후 SCD 언어별 조정, 최종 답변 생성">
            <a:extLst xmlns:a="http://schemas.openxmlformats.org/drawingml/2006/main">
              <a:ext uri="{FF2B5EF4-FFF2-40B4-BE49-F238E27FC236}">
                <a16:creationId xmlns:a16="http://schemas.microsoft.com/office/drawing/2014/main" id="{3BFFBBA9-1563-4914-8152-37EF5D72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249150"/>
            <a:ext cx="95775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Mi:dm 2.0 Base Instruct[18]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로짓 결합 후 SCD 언어별 조정, 최종 답변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A8F4E-FFD1-46AD-BF44-1C4DE2D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0772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12CEA-F558-4C19-A845-67A96B69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18872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A44F59-6A52-4CC5-897F-E9285556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03 3요인 완전요인 실험 설계">
            <a:extLst xmlns:a="http://schemas.openxmlformats.org/drawingml/2006/main">
              <a:ext uri="{FF2B5EF4-FFF2-40B4-BE49-F238E27FC236}">
                <a16:creationId xmlns:a16="http://schemas.microsoft.com/office/drawing/2014/main" id="{B606FEA3-E2C9-4F85-8128-A061054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683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3요인 완전요인 실험 설계</a:t>
            </a:r>
          </a:p>
        </p:txBody>
      </p:sp>
      <p:sp>
        <p:nvSpPr>
          <p:cNvPr id="32" name="H=HyDE, C=CAD, S=SCD   0=미적용, 1=적용">
            <a:extLst xmlns:a="http://schemas.openxmlformats.org/drawingml/2006/main">
              <a:ext uri="{FF2B5EF4-FFF2-40B4-BE49-F238E27FC236}">
                <a16:creationId xmlns:a16="http://schemas.microsoft.com/office/drawing/2014/main" id="{5AF07CB1-4768-4AEF-A4CE-D6396453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H=HyDE, C=CAD, S=SCD   0=미적용, 1=적용</a:t>
            </a:r>
          </a:p>
        </p:txBody>
      </p:sp>
      <p:graphicFrame>
        <p:nvGraphicFrame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121E0-5678-43DC-BD76-5AFD380A4A77}"/>
              </a:ext>
            </a:extLst>
          </p:cNvPr>
          <p:cNvGraphicFramePr/>
          <p:nvPr/>
        </p:nvGraphicFramePr>
        <p:xfrm>
          <a:off xmlns:a="http://schemas.openxmlformats.org/drawingml/2006/main" x="704850" y="14258925"/>
          <a:ext xmlns:a="http://schemas.openxmlformats.org/drawingml/2006/main" cx="9729975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5789"/>
                <a:gridCol w="1751396"/>
                <a:gridCol w="1751396"/>
                <a:gridCol w="1751396"/>
              </a:tblGrid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34" name="영어 문서 4종 × 15개 질의 × 8조건 = 480개 생성 기록">
            <a:extLst xmlns:a="http://schemas.openxmlformats.org/drawingml/2006/main">
              <a:ext uri="{FF2B5EF4-FFF2-40B4-BE49-F238E27FC236}">
                <a16:creationId xmlns:a16="http://schemas.microsoft.com/office/drawing/2014/main" id="{3303E800-AAF7-499C-98E4-208F4980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영어 문서 4종 × 15개 질의 × 8조건 = 480개 생성 기록</a:t>
            </a:r>
          </a:p>
        </p:txBody>
      </p:sp>
      <p:sp>
        <p:nvSpPr>
          <p:cNvPr id="35" name="생성 512토큰, CAD α=0.5, SCD α=1.1·β=0.9·Tstart=5">
            <a:extLst xmlns:a="http://schemas.openxmlformats.org/drawingml/2006/main">
              <a:ext uri="{FF2B5EF4-FFF2-40B4-BE49-F238E27FC236}">
                <a16:creationId xmlns:a16="http://schemas.microsoft.com/office/drawing/2014/main" id="{E26896D2-20F6-46D7-B9F8-4880AA0B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451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512토큰, CAD α=0.5, SCD α=1.1·β=0.9·Tstart=5</a:t>
            </a:r>
          </a:p>
        </p:txBody>
      </p:sp>
      <p:sp>
        <p:nvSpPr>
          <p:cNvPr id="36" name="문서 요약을 15개 내용 단위로 나누어 질의를 작성하고, 총 60개 질의의 원문 페이지·정답 근거·답변 가능성을 확인">
            <a:extLst xmlns:a="http://schemas.openxmlformats.org/drawingml/2006/main">
              <a:ext uri="{FF2B5EF4-FFF2-40B4-BE49-F238E27FC236}">
                <a16:creationId xmlns:a16="http://schemas.microsoft.com/office/drawing/2014/main" id="{6D56583D-CDF0-4D4C-8AC1-127D020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0"/>
            <a:ext cx="9729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문서 요약을 15개 내용 단위로 나누어 질의를 작성하고,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총 60개 질의의 원문 페이지·정답 근거·답변 가능성을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72C5AB-29F5-4CEA-8A76-ABBC8FA4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04 평가 지표 및 실험·통계 방법">
            <a:extLst xmlns:a="http://schemas.openxmlformats.org/drawingml/2006/main">
              <a:ext uri="{FF2B5EF4-FFF2-40B4-BE49-F238E27FC236}">
                <a16:creationId xmlns:a16="http://schemas.microsoft.com/office/drawing/2014/main" id="{93562C60-058A-4342-8268-C54A1E3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738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평가 지표 및 실험·통계 방법</a:t>
            </a:r>
          </a:p>
        </p:txBody>
      </p:sp>
      <p:sp>
        <p:nvSpPr>
          <p:cNvPr id="39" name="근거 충실도: 답변 주장 중 검색 근거가 뒷받침하는 비율 답변 관련성: 답변에서 만든 질문과 원질문의 의미 유사도 문">
            <a:extLst xmlns:a="http://schemas.openxmlformats.org/drawingml/2006/main">
              <a:ext uri="{FF2B5EF4-FFF2-40B4-BE49-F238E27FC236}">
                <a16:creationId xmlns:a16="http://schemas.microsoft.com/office/drawing/2014/main" id="{D0E55636-1319-429C-8C8F-B79DF30B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0"/>
            <a:ext cx="9729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근거 충실도: 답변 주장 중 검색 근거가 뒷받침하는 비율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관련성: 답변에서 만든 질문과 원질문의 의미 유사도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정밀도: 참조 답변에 유용한 구간의 상위 배치 정도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재현율: 참조 답변 주장을 검색 문맥이 포괄하는 비율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비율: 한글 / (한글 + ASCII 영문자)</a:t>
            </a:r>
          </a:p>
        </p:txBody>
      </p:sp>
      <p:sp>
        <p:nvSpPr>
          <p:cNvPr id="40" name="품질 관측값은 0~1이며, 높은 값은 각 측정 특성이 큼을 뜻한다. 관련성 +0.080은 적용−미적용 평균 대응 점수">
            <a:extLst xmlns:a="http://schemas.openxmlformats.org/drawingml/2006/main">
              <a:ext uri="{FF2B5EF4-FFF2-40B4-BE49-F238E27FC236}">
                <a16:creationId xmlns:a16="http://schemas.microsoft.com/office/drawing/2014/main" id="{1B29D8C8-3291-4B86-B849-4D0D897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 관측값은 0~1이며, 높은 값은 각 측정 특성이 큼을 뜻한다.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관련성 +0.080은 적용−미적용 평균 대응 점수 차이다.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 0.700은 70.0%, 차이 +0.218은 +21.8%p다.</a:t>
            </a:r>
          </a:p>
        </p:txBody>
      </p:sp>
      <p:sp>
        <p:nvSpPr>
          <p:cNvPr id="41" name="평가 예시  ext_raptor_011, H0C0S0">
            <a:extLst xmlns:a="http://schemas.openxmlformats.org/drawingml/2006/main">
              <a:ext uri="{FF2B5EF4-FFF2-40B4-BE49-F238E27FC236}">
                <a16:creationId xmlns:a16="http://schemas.microsoft.com/office/drawing/2014/main" id="{A8568CF7-B47D-4687-BEA6-2A27D6E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55150"/>
            <a:ext cx="9729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 예시  ext_raptor_011, H0C0S0</a:t>
            </a:r>
          </a:p>
        </p:txBody>
      </p:sp>
      <p:sp>
        <p:nvSpPr>
          <p:cNvPr id="42" name="질문: Cinderella 사례의 정성 분석에서 RAPTOR의 tree-based retrieval이 DPR보다 주제">
            <a:extLst xmlns:a="http://schemas.openxmlformats.org/drawingml/2006/main">
              <a:ext uri="{FF2B5EF4-FFF2-40B4-BE49-F238E27FC236}">
                <a16:creationId xmlns:a16="http://schemas.microsoft.com/office/drawing/2014/main" id="{4A8E0F01-D313-4A5C-A6A1-6870A595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질문: Cinderella 사례의 정성 분석에서 RAPTOR의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tree-based retrieval이 DPR보다 주제형·멀티홉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질문에 유리했던 이유는 무엇입니까?</a:t>
            </a:r>
          </a:p>
        </p:txBody>
      </p:sp>
      <p:sp>
        <p:nvSpPr>
          <p:cNvPr id="43" name="근거 발췌: “RAPTOR selects nodes from different layers” 답변 발췌: “질문의 요">
            <a:extLst xmlns:a="http://schemas.openxmlformats.org/drawingml/2006/main">
              <a:ext uri="{FF2B5EF4-FFF2-40B4-BE49-F238E27FC236}">
                <a16:creationId xmlns:a16="http://schemas.microsoft.com/office/drawing/2014/main" id="{E7371E4D-A2D7-41CF-B322-C6F67FE1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근거 발췌: “RAPTOR selects nodes from different layers”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발췌: “질문의 요구사항에 따라 서로 다른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층위(layer)에서 노드를 선택할 수 있습니다.”</a:t>
            </a:r>
          </a:p>
        </p:txBody>
      </p:sp>
      <p:sp>
        <p:nvSpPr>
          <p:cNvPr id="44" name="충실도 1.000: 평가자가 추출한 주장을 검색 문맥이 지지 관련성 0.937: 답변 기반 질문과 원질문의 평균 의미">
            <a:extLst xmlns:a="http://schemas.openxmlformats.org/drawingml/2006/main">
              <a:ext uri="{FF2B5EF4-FFF2-40B4-BE49-F238E27FC236}">
                <a16:creationId xmlns:a16="http://schemas.microsoft.com/office/drawing/2014/main" id="{0E44ED3F-B60F-4539-8872-68A249E1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1.000: 평가자가 추출한 주장을 검색 문맥이 지지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관련성 0.937: 답변 기반 질문과 원질문의 평균 의미 유사도</a:t>
            </a:r>
          </a:p>
        </p:txBody>
      </p:sp>
      <p:sp>
        <p:nvSpPr>
          <p:cNvPr id="45" name="평가: RAGAS 0.2.15[10], gpt-4o, BGE-M3 임베딩 S0: 영어 문맥 / S1: 한국어 번역 평">
            <a:extLst xmlns:a="http://schemas.openxmlformats.org/drawingml/2006/main">
              <a:ext uri="{FF2B5EF4-FFF2-40B4-BE49-F238E27FC236}">
                <a16:creationId xmlns:a16="http://schemas.microsoft.com/office/drawing/2014/main" id="{383B2AFB-0588-4D96-B282-2CFA2236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평가: RAGAS 0.2.15[10], gpt-4o, BGE-M3 임베딩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 문맥 / S1: 한국어 번역 평가 문맥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생성에는 영어 문맥 사용, 저장 답변은 그대로 평가</a:t>
            </a:r>
          </a:p>
        </p:txBody>
      </p:sp>
      <p:sp>
        <p:nvSpPr>
          <p:cNvPr id="46" name="3요인 반복측정 분산분석(ANOVA)·대응 t-검정, Holm·α=0.05 질의 60개, 품질 S별 H×C / 문자 ">
            <a:extLst xmlns:a="http://schemas.openxmlformats.org/drawingml/2006/main">
              <a:ext uri="{FF2B5EF4-FFF2-40B4-BE49-F238E27FC236}">
                <a16:creationId xmlns:a16="http://schemas.microsoft.com/office/drawing/2014/main" id="{7FC14F4B-CC3F-4027-9F13-E2BDF2A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3요인 반복측정 분산분석(ANOVA)·대응 t-검정, Holm·α=0.05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질의 60개, 품질 S별 H×C / 문자 비율·시간 H×C×S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120·240쌍은 질의별 평균 차이 60개로 검정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C8C176-4CCA-41F3-A201-F320E83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05 조합별 결과와 통계 검정">
            <a:extLst xmlns:a="http://schemas.openxmlformats.org/drawingml/2006/main">
              <a:ext uri="{FF2B5EF4-FFF2-40B4-BE49-F238E27FC236}">
                <a16:creationId xmlns:a16="http://schemas.microsoft.com/office/drawing/2014/main" id="{2AA2D5B0-1C99-408F-8933-6E71054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조합별 결과와 통계 검정</a:t>
            </a:r>
          </a:p>
        </p:txBody>
      </p:sp>
      <p:sp>
        <p:nvSpPr>
          <p:cNvPr id="49" name="HyDE·CAD·SCD 8조합의 품질·한국어 비율·시간 평균(SD)">
            <a:extLst xmlns:a="http://schemas.openxmlformats.org/drawingml/2006/main">
              <a:ext uri="{FF2B5EF4-FFF2-40B4-BE49-F238E27FC236}">
                <a16:creationId xmlns:a16="http://schemas.microsoft.com/office/drawing/2014/main" id="{ACF56130-E376-4F8B-8215-D52EAFE6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4095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HyDE·CAD·SCD 8조합의 품질·한국어 비율·시간 평균(SD)</a:t>
            </a:r>
          </a:p>
        </p:txBody>
      </p:sp>
      <p:graphicFrame>
        <p:nvGraphicFrame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C5C0EA-2652-44CB-B4B4-A33DBCA33A85}"/>
              </a:ext>
            </a:extLst>
          </p:cNvPr>
          <p:cNvGraphicFramePr/>
          <p:nvPr/>
        </p:nvGraphicFramePr>
        <p:xfrm>
          <a:off xmlns:a="http://schemas.openxmlformats.org/drawingml/2006/main" x="10949175" y="4610100"/>
          <a:ext xmlns:a="http://schemas.openxmlformats.org/drawingml/2006/main" cx="9729975" cy="617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6796"/>
                <a:gridCol w="1362197"/>
                <a:gridCol w="1362197"/>
                <a:gridCol w="1362197"/>
                <a:gridCol w="1362197"/>
                <a:gridCol w="1362197"/>
                <a:gridCol w="1362197"/>
              </a:tblGrid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충실도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0.791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0.494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20.792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(23.404)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63.867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(25.312)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0.556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23.440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(4.707)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0.705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0.503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73.532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(21.584)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0.787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0.699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18.898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(5.085)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0.850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55.159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(26.465)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0.822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24.892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(5.196)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64.125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(21.675)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EB5C39-5AE7-4E22-B0C3-ACFDAC2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8024813"/>
            <a:ext cx="9729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0: 영어 평가 문맥 / S1: 한국어 번역 평가 문맥 충실도 H0C1S0 n=58, H0C0S1 n=57, 나머지">
            <a:extLst xmlns:a="http://schemas.openxmlformats.org/drawingml/2006/main">
              <a:ext uri="{FF2B5EF4-FFF2-40B4-BE49-F238E27FC236}">
                <a16:creationId xmlns:a16="http://schemas.microsoft.com/office/drawing/2014/main" id="{C51A5B8D-32CE-4FD0-8442-B6A9D7F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0963275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 평가 문맥 / S1: 한국어 번역 평가 문맥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H0C1S0 n=58, H0C0S1 n=57, 나머지 n=60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비율·시간(초)은 생성 기록에서 직접 계산</a:t>
            </a:r>
          </a:p>
        </p:txBody>
      </p:sp>
      <p:sp>
        <p:nvSpPr>
          <p:cNvPr id="53" name="3요인 반복측정 ANOVA  ·  각 효과 df=(1,59)">
            <a:extLst xmlns:a="http://schemas.openxmlformats.org/drawingml/2006/main">
              <a:ext uri="{FF2B5EF4-FFF2-40B4-BE49-F238E27FC236}">
                <a16:creationId xmlns:a16="http://schemas.microsoft.com/office/drawing/2014/main" id="{F286C0D7-7932-46EC-86F4-DDFBFA7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21158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3요인 반복측정 ANOVA  ·  각 효과 df=(1,59)</a:t>
            </a:r>
          </a:p>
        </p:txBody>
      </p:sp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EB41FC-FB60-4D81-9CE9-B108CD7402D9}"/>
              </a:ext>
            </a:extLst>
          </p:cNvPr>
          <p:cNvGraphicFramePr/>
          <p:nvPr/>
        </p:nvGraphicFramePr>
        <p:xfrm>
          <a:off xmlns:a="http://schemas.openxmlformats.org/drawingml/2006/main" x="10949175" y="12601575"/>
          <a:ext xmlns:a="http://schemas.openxmlformats.org/drawingml/2006/main" cx="9729975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8695"/>
                <a:gridCol w="2140595"/>
                <a:gridCol w="1751396"/>
                <a:gridCol w="2140595"/>
                <a:gridCol w="1848695"/>
              </a:tblGrid>
              <a:tr h="6096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16.362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423.765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341.302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0.066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4.417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1.035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문자 비율·시간은 각각 7검정에 Holm 보정. RAGAS H×C 검정은 평가 문맥 언어별로 수행했으며, 전체 24검">
            <a:extLst xmlns:a="http://schemas.openxmlformats.org/drawingml/2006/main">
              <a:ext uri="{FF2B5EF4-FFF2-40B4-BE49-F238E27FC236}">
                <a16:creationId xmlns:a16="http://schemas.microsoft.com/office/drawing/2014/main" id="{C10B7B79-3FF2-4E2B-80A6-BCC64290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6764000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문자 비율·시간은 각각 7검정에 Holm 보정.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RAGAS H×C 검정은 평가 문맥 언어별로 수행했으며,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24검정의 Holm 보정 p는 모두 0.05 이상이었다.</a:t>
            </a:r>
          </a:p>
        </p:txBody>
      </p:sp>
      <p:sp>
        <p:nvSpPr>
          <p:cNvPr id="56" name="기법별 대응 비교  ·  질의별 평균 차이, 양측 검정">
            <a:extLst xmlns:a="http://schemas.openxmlformats.org/drawingml/2006/main">
              <a:ext uri="{FF2B5EF4-FFF2-40B4-BE49-F238E27FC236}">
                <a16:creationId xmlns:a16="http://schemas.microsoft.com/office/drawing/2014/main" id="{4689A15E-6183-463B-A8CF-57B562BE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7811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기법별 대응 비교  ·  질의별 평균 차이, 양측 검정</a:t>
            </a:r>
          </a:p>
        </p:txBody>
      </p:sp>
      <p:graphicFrame>
        <p:nvGraphicFrame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CE8195-3933-4077-A4E0-B94F47BE84C7}"/>
              </a:ext>
            </a:extLst>
          </p:cNvPr>
          <p:cNvGraphicFramePr/>
          <p:nvPr/>
        </p:nvGraphicFramePr>
        <p:xfrm>
          <a:off xmlns:a="http://schemas.openxmlformats.org/drawingml/2006/main" x="10949175" y="18316575"/>
          <a:ext xmlns:a="http://schemas.openxmlformats.org/drawingml/2006/main" cx="9729975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2494"/>
                <a:gridCol w="2237894"/>
                <a:gridCol w="1945995"/>
                <a:gridCol w="1556796"/>
                <a:gridCol w="1556796"/>
              </a:tblGrid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(SD)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t(df)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관련성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0.080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충실도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SCD H0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0.218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13.951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HyDE: C0S0, CAD: H0S0, SCD: H0의 CAD 상태 평균 보정: HyDE·CAD 각 4지표, SCD">
            <a:extLst xmlns:a="http://schemas.openxmlformats.org/drawingml/2006/main">
              <a:ext uri="{FF2B5EF4-FFF2-40B4-BE49-F238E27FC236}">
                <a16:creationId xmlns:a16="http://schemas.microsoft.com/office/drawing/2014/main" id="{FE592256-9FEF-486E-8F6F-C721D67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1678900"/>
            <a:ext cx="9729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C0S0, CAD: H0S0, SCD: H0의 CAD 상태 평균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보정: HyDE·CAD 각 4지표, SCD 주·전체 비교 2검정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차이 +0.218은 한글 비중 +21.8%p에 해당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3FA76B-B508-4B0E-948A-B4E5AE4E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281237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06 결과 해석">
            <a:extLst xmlns:a="http://schemas.openxmlformats.org/drawingml/2006/main">
              <a:ext uri="{FF2B5EF4-FFF2-40B4-BE49-F238E27FC236}">
                <a16:creationId xmlns:a16="http://schemas.microsoft.com/office/drawing/2014/main" id="{EBA99112-248E-4BD5-BF3A-4E0C3FB2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284095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 결과 해석</a:t>
            </a:r>
          </a:p>
        </p:txBody>
      </p:sp>
      <p:sp>
        <p:nvSpPr>
          <p:cNvPr id="61" name="HyDE의 양의 관련성 차이는 다중비교 보정 결과와 함께 해석한다. CAD는 질의별 충실도 변동과 추가 실행 시간을 ">
            <a:extLst xmlns:a="http://schemas.openxmlformats.org/drawingml/2006/main">
              <a:ext uri="{FF2B5EF4-FFF2-40B4-BE49-F238E27FC236}">
                <a16:creationId xmlns:a16="http://schemas.microsoft.com/office/drawing/2014/main" id="{CA18B5E5-E0BA-49B3-81AA-C010BAE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3336250"/>
            <a:ext cx="9729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HyDE의 양의 관련성 차이는 다중비교 보정 결과와 함께 해석한다.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CAD는 질의별 충실도 변동과 추가 실행 시간을 함께 비교한다.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SCD의 효과는 생성 답변에서 한글이 차지하는 비중의 증가다.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시간의 C×S 상호작용은 SCD별 CAD 시간 증가가 다름을 뜻한다.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6884D4-63CA-443C-A900-861751A1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468880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07 결론">
            <a:extLst xmlns:a="http://schemas.openxmlformats.org/drawingml/2006/main">
              <a:ext uri="{FF2B5EF4-FFF2-40B4-BE49-F238E27FC236}">
                <a16:creationId xmlns:a16="http://schemas.microsoft.com/office/drawing/2014/main" id="{2D47D047-7B98-4B89-B0BE-4840EBB2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471737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 결론</a:t>
            </a:r>
          </a:p>
        </p:txBody>
      </p:sp>
      <p:sp>
        <p:nvSpPr>
          <p:cNvPr id="64" name="답변 품질은 평균 대응 차이와 보정 검정 결과로 판단한다. 한국어 사용 비중을 높이는 목적에는 SCD 결과를 참고한다">
            <a:extLst xmlns:a="http://schemas.openxmlformats.org/drawingml/2006/main">
              <a:ext uri="{FF2B5EF4-FFF2-40B4-BE49-F238E27FC236}">
                <a16:creationId xmlns:a16="http://schemas.microsoft.com/office/drawing/2014/main" id="{256E70C1-58A4-45EF-AD39-25ABE64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5288875"/>
            <a:ext cx="97299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품질은 평균 대응 차이와 보정 검정 결과로 판단한다.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사용 비중을 높이는 목적에는 SCD 결과를 참고한다.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적용은 질의별 충실도와 추가 실행 시간을 함께 검토한다.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적용은 번역·가상 문서 생성과 검색 결과를 함께 비교한다.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최종 조합은 목표 언어·품질·허용 시간을 기준으로 선택한다.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9F36F0-008A-486C-9464-90212E2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0"/>
            <a:ext cx="1997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08 주요 참고문헌">
            <a:extLst xmlns:a="http://schemas.openxmlformats.org/drawingml/2006/main">
              <a:ext uri="{FF2B5EF4-FFF2-40B4-BE49-F238E27FC236}">
                <a16:creationId xmlns:a16="http://schemas.microsoft.com/office/drawing/2014/main" id="{95B1E49D-E49A-4F7F-8889-8CFB7843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79575"/>
            <a:ext cx="1978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 주요 참고문헌</a:t>
            </a:r>
          </a:p>
        </p:txBody>
      </p:sp>
      <p:sp>
        <p:nvSpPr>
          <p:cNvPr id="67" name="[1] Lewis et al. RAG. NeurIPS, 2020. [2] Gao et al. HyDE. ACL, 20">
            <a:extLst xmlns:a="http://schemas.openxmlformats.org/drawingml/2006/main">
              <a:ext uri="{FF2B5EF4-FFF2-40B4-BE49-F238E27FC236}">
                <a16:creationId xmlns:a16="http://schemas.microsoft.com/office/drawing/2014/main" id="{5EDDFBC0-7294-47D3-B29B-78AC6D3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[1] Lewis et al. RAG. NeurIPS, 2020.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[2] Gao et al. HyDE. ACL, 2023.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[3] Shi et al. Context-Aware Decoding. NAACL, 2024.</a:t>
            </a:r>
          </a:p>
        </p:txBody>
      </p:sp>
      <p:sp>
        <p:nvSpPr>
          <p:cNvPr id="68" name="[4] Li et al. Language Drift and SCD. AAAI, 2026. [5] Chen et al.">
            <a:extLst xmlns:a="http://schemas.openxmlformats.org/drawingml/2006/main">
              <a:ext uri="{FF2B5EF4-FFF2-40B4-BE49-F238E27FC236}">
                <a16:creationId xmlns:a16="http://schemas.microsoft.com/office/drawing/2014/main" id="{7787E8CB-0758-47D2-97BE-4288DA5F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[4] Li et al. Language Drift and SCD. AAAI, 2026.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[5] Chen et al. M3-Embedding. ACL Findings, 2024.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[10] Es et al. RAGAs. EACL Demonstrations, 2024.</a:t>
            </a:r>
          </a:p>
        </p:txBody>
      </p:sp>
      <p:sp>
        <p:nvSpPr>
          <p:cNvPr id="69" name="전체 22편과 통계 상세표·결측·민감도 분석은 동봉 자료에 수록">
            <a:extLst xmlns:a="http://schemas.openxmlformats.org/drawingml/2006/main">
              <a:ext uri="{FF2B5EF4-FFF2-40B4-BE49-F238E27FC236}">
                <a16:creationId xmlns:a16="http://schemas.microsoft.com/office/drawing/2014/main" id="{F6B3B1A1-E625-4E2E-A892-C40874E0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08375"/>
            <a:ext cx="1997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22편과 통계 상세표·결측·민감도 분석은 동봉 자료에 수록</a:t>
            </a:r>
          </a:p>
        </p:txBody>
      </p:sp>
      <p:sp>
        <p:nvSpPr>
          <p:cNvPr id="70" name="영어 문서 4종 · 질의 60개 · 생성 모델 1종 · 질의별 반복측정">
            <a:extLst xmlns:a="http://schemas.openxmlformats.org/drawingml/2006/main">
              <a:ext uri="{FF2B5EF4-FFF2-40B4-BE49-F238E27FC236}">
                <a16:creationId xmlns:a16="http://schemas.microsoft.com/office/drawing/2014/main" id="{5FF644E9-4725-449D-BF43-1E2E2938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0"/>
            <a:ext cx="1997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영어 문서 4종 · 질의 60개 · 생성 모델 1종 · 질의별 반복측정</a:t>
            </a:r>
          </a:p>
        </p:txBody>
      </p:sp>
      <p:sp>
        <p:nvSpPr>
          <p:cNvPr id="71" name="A1 594 × 841 mm">
            <a:extLst xmlns:a="http://schemas.openxmlformats.org/drawingml/2006/main">
              <a:ext uri="{FF2B5EF4-FFF2-40B4-BE49-F238E27FC236}">
                <a16:creationId xmlns:a16="http://schemas.microsoft.com/office/drawing/2014/main" id="{1B5BD4AF-57A6-4905-BB0B-694E3C21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89450"/>
            <a:ext cx="1997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A1 594 × 841 mm</a:t>
            </a:r>
          </a:p>
        </p:txBody>
      </p:sp>
    </p:spTree>
    <p:extLst>
      <p:ext uri="{BB962C8B-B14F-4D97-AF65-F5344CB8AC3E}">
        <p14:creationId xmlns:p14="http://schemas.microsoft.com/office/powerpoint/2010/main" val="1438640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2026-10-15T21:37:10.3320000Z</dcterms:created>
  <dcterms:modified xsi:type="dcterms:W3CDTF">2026-10-15T21:37:10.3320000Z</dcterms:modified>
</coreProperties>
</file>