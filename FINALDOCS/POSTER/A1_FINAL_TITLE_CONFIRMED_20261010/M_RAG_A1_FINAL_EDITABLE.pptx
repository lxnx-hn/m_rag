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a7e80fabac84c24" /><Relationship Type="http://schemas.openxmlformats.org/officeDocument/2006/relationships/extended-properties" Target="/docProps/app.xml" Id="R852748b2a8654ee7" /><Relationship Type="http://schemas.openxmlformats.org/officeDocument/2006/relationships/officeDocument" Target="/ppt/presentation.xml" Id="R3d3346206eee477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d9eda4321294c62"/>
  </p:sldMasterIdLst>
  <p:notesMasterIdLst>
    <p:notesMasterId xmlns:r="http://schemas.openxmlformats.org/officeDocument/2006/relationships" r:id="R183c765c7d9c4233"/>
  </p:notesMasterIdLst>
  <p:sldIdLst>
    <p:sldId xmlns:r="http://schemas.openxmlformats.org/officeDocument/2006/relationships" id="256" r:id="R629085d5e3e0476a"/>
  </p:sldIdLst>
  <p:sldSz cx="21384000" cy="30276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f1f520245474cb3" /><Relationship Type="http://schemas.openxmlformats.org/officeDocument/2006/relationships/slideMaster" Target="/ppt/slideMasters/slideMaster1.xml" Id="R1d9eda4321294c62" /><Relationship Type="http://schemas.openxmlformats.org/officeDocument/2006/relationships/notesMaster" Target="/ppt/notesMasters/notesMaster1.xml" Id="R183c765c7d9c4233" /><Relationship Type="http://schemas.openxmlformats.org/officeDocument/2006/relationships/presProps" Target="/ppt/presProps.xml" Id="Rb812af62ecb64b1d" /><Relationship Type="http://schemas.openxmlformats.org/officeDocument/2006/relationships/tableStyles" Target="/ppt/tableStyles.xml" Id="Rd62f8d26b5b740c9" /><Relationship Type="http://schemas.openxmlformats.org/officeDocument/2006/relationships/slide" Target="/ppt/slides/slide1.xml" Id="R629085d5e3e0476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d60ddf83e0244b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a230dcb4a6a4aea" /><Relationship Type="http://schemas.openxmlformats.org/officeDocument/2006/relationships/notesMaster" Target="/ppt/notesMasters/notesMaster1.xml" Id="R13694cba013145f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Research sources and full statistics: FINALDOCS/DATA/FACTORIAL_STATISTICS_60Q.json; FINALDOCS/MANUSCRIPT/GRADUATION_REPORT_TRANSFER_KO_60Q.md. The exploratory analysis uses query-level repeated measures and Holm-adjusted hypothesis families. Editable tables follow explicit data-type alignment. Reference [4] https://ojs.aaai.org/index.php/AAAI/article/view/40417; [8] https://doi.org/10.1145/3331184.3331317 is conceptual ranking background, not the implemented CEDR architecture. [M1] https://huggingface.co/K-intelligence/Midm-2.0-Base-Instruct; [M2] https://huggingface.co/cross-encoder/ms-marco-MiniLM-L6-v2. The English case evidence is a contiguous saved context excerpt (PDF p.9), reference evidence is on PDF p.20. References follow manuscript numbering.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3a01f9aa6e44c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c7de6695f9401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878dbd61f1451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f631e7c3d6406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3be98ba426436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cd0d9753cb4b9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8C2D189-7F74-4993-8549-C9919680D2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38400" y="11437600"/>
            <a:ext cx="17107200" cy="437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5258C7D-128B-4FB5-9036-1B1FA2C5D61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207600" y="16651800"/>
            <a:ext cx="14968800" cy="33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664E239-E601-43E3-A7E1-4889C93DD8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38400" y="12615000"/>
            <a:ext cx="17107200" cy="504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D40143D-9B87-4255-9D7A-9C933C5826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50" y="2354800"/>
            <a:ext cx="18978300" cy="37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F3B3B9A-7488-49EE-AE4A-2B44892DA9B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50" y="8410000"/>
            <a:ext cx="189783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1pPr>
            <a:lvl2pPr marL="9355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2pPr>
            <a:lvl3pPr marL="14701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3pPr>
            <a:lvl4pPr marL="20047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4pPr>
            <a:lvl5pPr marL="25393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5pPr>
            <a:lvl6pPr marL="30739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6pPr>
            <a:lvl7pPr marL="36085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7pPr>
            <a:lvl8pPr marL="41431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8pPr>
            <a:lvl9pPr marL="46777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4E8CCEA-31BC-4362-8B39-988B09536E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50" y="2354800"/>
            <a:ext cx="18978300" cy="37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6CE0F29-D3E0-4093-AAE3-33BF360204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50" y="8410000"/>
            <a:ext cx="88209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1pPr>
            <a:lvl2pPr marL="9355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2pPr>
            <a:lvl3pPr marL="14701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3pPr>
            <a:lvl4pPr marL="20047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4pPr>
            <a:lvl5pPr marL="25393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5pPr>
            <a:lvl6pPr marL="30739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6pPr>
            <a:lvl7pPr marL="36085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7pPr>
            <a:lvl8pPr marL="41431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8pPr>
            <a:lvl9pPr marL="46777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1BC5D0E-465F-4CE6-B2F6-C66255A1358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1360250" y="8410000"/>
            <a:ext cx="88209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1pPr>
            <a:lvl2pPr marL="9355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2pPr>
            <a:lvl3pPr marL="14701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3pPr>
            <a:lvl4pPr marL="20047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4pPr>
            <a:lvl5pPr marL="25393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5pPr>
            <a:lvl6pPr marL="30739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6pPr>
            <a:lvl7pPr marL="36085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7pPr>
            <a:lvl8pPr marL="41431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8pPr>
            <a:lvl9pPr marL="46777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972B973-4DFE-416E-A383-E21E24C4F1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50" y="2354800"/>
            <a:ext cx="18978300" cy="37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9FA1E36-CF00-45A7-9EE2-17BE27F488F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50" y="8410000"/>
            <a:ext cx="88209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1pPr>
            <a:lvl2pPr marL="9355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2pPr>
            <a:lvl3pPr marL="14701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3pPr>
            <a:lvl4pPr marL="20047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4pPr>
            <a:lvl5pPr marL="25393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5pPr>
            <a:lvl6pPr marL="30739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6pPr>
            <a:lvl7pPr marL="36085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7pPr>
            <a:lvl8pPr marL="41431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8pPr>
            <a:lvl9pPr marL="4677750" indent="-400950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f7361d08a324e62" /><Relationship Type="http://schemas.openxmlformats.org/officeDocument/2006/relationships/slideLayout" Target="/ppt/slideLayouts/slideLayout1.xml" Id="Rf857f396295c43c2" /><Relationship Type="http://schemas.openxmlformats.org/officeDocument/2006/relationships/slideLayout" Target="/ppt/slideLayouts/slideLayout2.xml" Id="Rc7972f5c0d854c31" /><Relationship Type="http://schemas.openxmlformats.org/officeDocument/2006/relationships/slideLayout" Target="/ppt/slideLayouts/slideLayout3.xml" Id="Rdfe4df60e88e4982" /><Relationship Type="http://schemas.openxmlformats.org/officeDocument/2006/relationships/slideLayout" Target="/ppt/slideLayouts/slideLayout4.xml" Id="R32f3c1265a244fe4" /><Relationship Type="http://schemas.openxmlformats.org/officeDocument/2006/relationships/slideLayout" Target="/ppt/slideLayouts/slideLayout5.xml" Id="R1b1196517acb4894" /><Relationship Type="http://schemas.openxmlformats.org/officeDocument/2006/relationships/slideLayout" Target="/ppt/slideLayouts/slideLayout6.xml" Id="R0993f68c06244e8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857f396295c43c2"/>
    <p:sldLayoutId xmlns:r="http://schemas.openxmlformats.org/officeDocument/2006/relationships" id="2147483650" r:id="Rc7972f5c0d854c31"/>
    <p:sldLayoutId xmlns:r="http://schemas.openxmlformats.org/officeDocument/2006/relationships" id="2147483651" r:id="Rdfe4df60e88e4982"/>
    <p:sldLayoutId xmlns:r="http://schemas.openxmlformats.org/officeDocument/2006/relationships" id="2147483652" r:id="R32f3c1265a244fe4"/>
    <p:sldLayoutId xmlns:r="http://schemas.openxmlformats.org/officeDocument/2006/relationships" id="2147483653" r:id="R1b1196517acb4894"/>
    <p:sldLayoutId xmlns:r="http://schemas.openxmlformats.org/officeDocument/2006/relationships" id="2147483654" r:id="R0993f68c06244e8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961650cb894da6" /><Relationship Type="http://schemas.openxmlformats.org/officeDocument/2006/relationships/notesSlide" Target="/ppt/notesSlides/notesSlide1.xml" Id="R86e3e3e17ba04dc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07F14FD-D820-4A32-B6F8-DA81B5E23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13840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한국어 질의로 영어 학술·기술 문서를 검색하는">
            <a:extLst xmlns:a="http://schemas.openxmlformats.org/drawingml/2006/main">
              <a:ext uri="{FF2B5EF4-FFF2-40B4-BE49-F238E27FC236}">
                <a16:creationId xmlns:a16="http://schemas.microsoft.com/office/drawing/2014/main" id="{20D8F3DB-04B5-49AD-92E5-BB7609AF5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20317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한국어 질의로 영어 학술·기술 문서를 검색하는</a:t>
            </a:r>
          </a:p>
        </p:txBody>
      </p:sp>
      <p:sp>
        <p:nvSpPr>
          <p:cNvPr id="3" name="RAG에서의 HyDE·CAD·SCD 조합 실험">
            <a:extLst xmlns:a="http://schemas.openxmlformats.org/drawingml/2006/main">
              <a:ext uri="{FF2B5EF4-FFF2-40B4-BE49-F238E27FC236}">
                <a16:creationId xmlns:a16="http://schemas.microsoft.com/office/drawing/2014/main" id="{7083EE00-123C-4EA6-959F-B4FBDE8FA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62075"/>
            <a:ext cx="20317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RAG에서의 HyDE·CAD·SCD 조합 실험</a:t>
            </a:r>
          </a:p>
        </p:txBody>
      </p:sp>
      <p:sp>
        <p:nvSpPr>
          <p:cNvPr id="4" name="문종건 · 동국대학교 WISE캠퍼스 컴퓨터공학과 · 지도교수 김진석 · 2026.10.15">
            <a:extLst xmlns:a="http://schemas.openxmlformats.org/drawingml/2006/main">
              <a:ext uri="{FF2B5EF4-FFF2-40B4-BE49-F238E27FC236}">
                <a16:creationId xmlns:a16="http://schemas.microsoft.com/office/drawing/2014/main" id="{DB4F0942-9BA0-4154-8754-85691FA8E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86025"/>
            <a:ext cx="2031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문종건 · 동국대학교 WISE캠퍼스 컴퓨터공학과 · 지도교수 김진석 · 2026.10.15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BEE7C2-81E1-458E-BA69-A6A743423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7662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01 연구 배경과 목적">
            <a:extLst xmlns:a="http://schemas.openxmlformats.org/drawingml/2006/main">
              <a:ext uri="{FF2B5EF4-FFF2-40B4-BE49-F238E27FC236}">
                <a16:creationId xmlns:a16="http://schemas.microsoft.com/office/drawing/2014/main" id="{45E9146F-86D4-47FE-A6C7-F8E25AA60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0520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01 연구 배경과 목적</a:t>
            </a:r>
          </a:p>
        </p:txBody>
      </p:sp>
      <p:sp>
        <p:nvSpPr>
          <p:cNvPr id="7" name="검색 증강 생성(Retrieval-Augmented Generation, RAG)은 관련 문서 구간을 검색하고 그 텍">
            <a:extLst xmlns:a="http://schemas.openxmlformats.org/drawingml/2006/main">
              <a:ext uri="{FF2B5EF4-FFF2-40B4-BE49-F238E27FC236}">
                <a16:creationId xmlns:a16="http://schemas.microsoft.com/office/drawing/2014/main" id="{07AF80D9-A184-4AFC-92E9-410FC034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95750"/>
            <a:ext cx="97299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검색 증강 생성(Retrieval-Augmented Generation, RAG)은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관련 문서 구간을 검색하고 그 텍스트로 답변을 생성한다[1].</a:t>
            </a:r>
          </a:p>
        </p:txBody>
      </p:sp>
      <p:sp>
        <p:nvSpPr>
          <p:cNvPr id="8" name="HyDE: 가상 문서 임베딩(Hypothetical Document Embeddings) 가상 문서 검색 입력 구성[">
            <a:extLst xmlns:a="http://schemas.openxmlformats.org/drawingml/2006/main">
              <a:ext uri="{FF2B5EF4-FFF2-40B4-BE49-F238E27FC236}">
                <a16:creationId xmlns:a16="http://schemas.microsoft.com/office/drawing/2014/main" id="{BA0DDB7B-38EF-4C53-8B35-4597DAA72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05350"/>
            <a:ext cx="972997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HyDE: 가상 문서 임베딩(Hypothetical Document Embeddings)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가상 문서 검색 입력 구성[2]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CAD: 문맥 인식 디코딩(Context-Aware Decoding)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검색 근거의 영향 조정[3]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SCD: 소프트 제약 디코딩(Soft Constrained Decoding)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출력 언어 제어[4]</a:t>
            </a:r>
          </a:p>
        </p:txBody>
      </p:sp>
      <p:sp>
        <p:nvSpPr>
          <p:cNvPr id="9" name="HyDE는 한국어 등 다국어 검색에서 평가되었다[2]. 본 연구는 한국어 질의–영어 근거의 표현·출력 언어 문제를 동">
            <a:extLst xmlns:a="http://schemas.openxmlformats.org/drawingml/2006/main">
              <a:ext uri="{FF2B5EF4-FFF2-40B4-BE49-F238E27FC236}">
                <a16:creationId xmlns:a16="http://schemas.microsoft.com/office/drawing/2014/main" id="{368ECF16-7A80-4F5D-8924-03128D4B6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9729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HyDE는 한국어 등 다국어 검색에서 평가되었다[2].</a:t>
            </a:r>
          </a:p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본 연구는 한국어 질의–영어 근거의 표현·출력 언어 문제를</a:t>
            </a:r>
          </a:p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동일 파이프라인에서 세 기법의 개별·조합 효과로 비교한다.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816FCC-E820-408B-B85F-75E0A8E0F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36282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02 Paper-RAG 구조와 기법 적용 위치">
            <a:extLst xmlns:a="http://schemas.openxmlformats.org/drawingml/2006/main">
              <a:ext uri="{FF2B5EF4-FFF2-40B4-BE49-F238E27FC236}">
                <a16:creationId xmlns:a16="http://schemas.microsoft.com/office/drawing/2014/main" id="{ABA491DE-CB5C-4A36-8F7E-0D6058C6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39140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02 Paper-RAG 구조와 기법 적용 위치</a:t>
            </a:r>
          </a:p>
        </p:txBody>
      </p:sp>
      <p:sp>
        <p:nvSpPr>
          <p:cNvPr id="12" name="Paper-RAG는 본 연구의 고정 검색·생성 파이프라인이다.">
            <a:extLst xmlns:a="http://schemas.openxmlformats.org/drawingml/2006/main">
              <a:ext uri="{FF2B5EF4-FFF2-40B4-BE49-F238E27FC236}">
                <a16:creationId xmlns:a16="http://schemas.microsoft.com/office/drawing/2014/main" id="{171987F4-43DE-4CA8-95DC-56A870D73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72425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Paper-RAG는 본 연구의 고정 검색·생성 파이프라인이다.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6388B6-9D9A-4493-BD65-8BF7C53B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515350"/>
            <a:ext cx="4655438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2F6DF6"/>
            </a:solidFill>
            <a:prstDash val="solid"/>
          </a:ln>
        </p:spPr>
      </p:sp>
      <p:sp>
        <p:nvSpPr>
          <p:cNvPr id="14" name="한국어 질의 HyDE OFF: 원질의 HyDE ON: 영어 번역·가상 문서">
            <a:extLst xmlns:a="http://schemas.openxmlformats.org/drawingml/2006/main">
              <a:ext uri="{FF2B5EF4-FFF2-40B4-BE49-F238E27FC236}">
                <a16:creationId xmlns:a16="http://schemas.microsoft.com/office/drawing/2014/main" id="{010504EF-242A-472A-AB90-567F4F6F2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629650"/>
            <a:ext cx="4503038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질의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 OFF: 원질의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 ON: 영어 번역·가상 문서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B6A6DD-5D7B-4624-B5D9-9814D3FDF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9388" y="8515350"/>
            <a:ext cx="4655438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695184"/>
            </a:solidFill>
            <a:prstDash val="solid"/>
          </a:ln>
        </p:spPr>
      </p:sp>
      <p:sp>
        <p:nvSpPr>
          <p:cNvPr id="16" name="BM25 희소 검색[6] 한국어 원질의 사용">
            <a:extLst xmlns:a="http://schemas.openxmlformats.org/drawingml/2006/main">
              <a:ext uri="{FF2B5EF4-FFF2-40B4-BE49-F238E27FC236}">
                <a16:creationId xmlns:a16="http://schemas.microsoft.com/office/drawing/2014/main" id="{ABBF49ED-CC33-4BF0-93EB-8C2A749C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5588" y="8629650"/>
            <a:ext cx="4503038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BM25 희소 검색[6]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원질의 사용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662856-405F-4C79-AB51-BDE3444C7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63150"/>
            <a:ext cx="465543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2F6DF6"/>
            </a:solidFill>
            <a:prstDash val="solid"/>
          </a:ln>
        </p:spPr>
      </p:sp>
      <p:sp>
        <p:nvSpPr>
          <p:cNvPr id="18" name="BGE-M3 밀집 검색[5]">
            <a:extLst xmlns:a="http://schemas.openxmlformats.org/drawingml/2006/main">
              <a:ext uri="{FF2B5EF4-FFF2-40B4-BE49-F238E27FC236}">
                <a16:creationId xmlns:a16="http://schemas.microsoft.com/office/drawing/2014/main" id="{090FAF09-340A-4C07-BB4A-1F3E51851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0077450"/>
            <a:ext cx="450303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BGE-M3 밀집 검색[5]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72F661-9B82-4B60-9557-46582FF74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9388" y="9963150"/>
            <a:ext cx="4655438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695184"/>
            </a:solidFill>
            <a:prstDash val="solid"/>
          </a:ln>
        </p:spPr>
      </p:sp>
      <p:sp>
        <p:nvSpPr>
          <p:cNvPr id="20" name="가중 RRF[7] 0.6 / 0.4, k=60">
            <a:extLst xmlns:a="http://schemas.openxmlformats.org/drawingml/2006/main">
              <a:ext uri="{FF2B5EF4-FFF2-40B4-BE49-F238E27FC236}">
                <a16:creationId xmlns:a16="http://schemas.microsoft.com/office/drawing/2014/main" id="{424BE6AF-0C1B-422C-AB8F-8A55C4999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5588" y="10077450"/>
            <a:ext cx="4503038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가중 RRF[7]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0.6 / 0.4, k=60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3A4057-0FCA-4D44-8226-15A94E1E4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946844" y="9696450"/>
            <a:ext cx="1714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0C8D40-5ACD-4ED8-AA51-D7DB4C793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6488" y="10115550"/>
            <a:ext cx="2667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0C67CE-FD28-49D8-B3AB-212E79663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021381" y="9696450"/>
            <a:ext cx="1714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39FDC4-49A8-4CA2-86C8-87BF00790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10900"/>
            <a:ext cx="972997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695184"/>
            </a:solidFill>
            <a:prstDash val="solid"/>
          </a:ln>
        </p:spPr>
      </p:sp>
      <p:sp>
        <p:nvSpPr>
          <p:cNvPr id="25" name="원질의·구간 쌍 CrossEncoder 재정렬[8][M2] 상위 5개 구간 선택·문맥 길이 관리">
            <a:extLst xmlns:a="http://schemas.openxmlformats.org/drawingml/2006/main">
              <a:ext uri="{FF2B5EF4-FFF2-40B4-BE49-F238E27FC236}">
                <a16:creationId xmlns:a16="http://schemas.microsoft.com/office/drawing/2014/main" id="{1B13E56A-471A-4ECA-901B-39F9B367F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125200"/>
            <a:ext cx="95775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원질의·구간 쌍 CrossEncoder 재정렬[8][M2]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상위 5개 구간 선택·문맥 길이 관리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8F5B70-120D-43B0-9037-555C0C128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134850"/>
            <a:ext cx="972997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16846F"/>
            </a:solidFill>
            <a:prstDash val="solid"/>
          </a:ln>
        </p:spPr>
      </p:sp>
      <p:sp>
        <p:nvSpPr>
          <p:cNvPr id="27" name="Mi:dm 2.0 Base Instruct[M1] CAD 로짓 결합 후 SCD 언어별 조정, 최종 답변 생성">
            <a:extLst xmlns:a="http://schemas.openxmlformats.org/drawingml/2006/main">
              <a:ext uri="{FF2B5EF4-FFF2-40B4-BE49-F238E27FC236}">
                <a16:creationId xmlns:a16="http://schemas.microsoft.com/office/drawing/2014/main" id="{068F3D05-F039-4813-B53D-A0EEBD92A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249150"/>
            <a:ext cx="957757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Mi:dm 2.0 Base Instruct[M1]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 로짓 결합 후 SCD 언어별 조정, 최종 답변 생성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46EBC49-52FF-4767-8D8B-0B1D3E759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484113" y="10772775"/>
            <a:ext cx="1714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1EA1D3-7005-48E9-86A8-71B377B1C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484113" y="11887200"/>
            <a:ext cx="1714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8F461A-7AF8-41AD-BE4F-52D92103D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239750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03 3요인 완전요인 실험 설계">
            <a:extLst xmlns:a="http://schemas.openxmlformats.org/drawingml/2006/main">
              <a:ext uri="{FF2B5EF4-FFF2-40B4-BE49-F238E27FC236}">
                <a16:creationId xmlns:a16="http://schemas.microsoft.com/office/drawing/2014/main" id="{06A8580A-BE3F-4FF1-A6B8-D43FFF35A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3268325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03 3요인 완전요인 실험 설계</a:t>
            </a:r>
          </a:p>
        </p:txBody>
      </p:sp>
      <p:sp>
        <p:nvSpPr>
          <p:cNvPr id="32" name="H=HyDE, C=CAD, S=SCD   0=미적용, 1=적용">
            <a:extLst xmlns:a="http://schemas.openxmlformats.org/drawingml/2006/main">
              <a:ext uri="{FF2B5EF4-FFF2-40B4-BE49-F238E27FC236}">
                <a16:creationId xmlns:a16="http://schemas.microsoft.com/office/drawing/2014/main" id="{6E658457-7906-4B22-A95B-B56CDF2A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0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H=HyDE, C=CAD, S=SCD   0=미적용, 1=적용</a:t>
            </a:r>
          </a:p>
        </p:txBody>
      </p:sp>
      <p:graphicFrame>
        <p:nvGraphicFrame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B14E32A-5FB3-419C-8228-36C76F28DDC8}"/>
              </a:ext>
            </a:extLst>
          </p:cNvPr>
          <p:cNvGraphicFramePr/>
          <p:nvPr/>
        </p:nvGraphicFramePr>
        <p:xfrm>
          <a:off xmlns:a="http://schemas.openxmlformats.org/drawingml/2006/main" x="704850" y="14258925"/>
          <a:ext xmlns:a="http://schemas.openxmlformats.org/drawingml/2006/main" cx="9729975" cy="3086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75789"/>
                <a:gridCol w="1751396"/>
                <a:gridCol w="1751396"/>
                <a:gridCol w="1751396"/>
              </a:tblGrid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조건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</a:tbl>
          </a:graphicData>
        </a:graphic>
      </p:graphicFrame>
      <p:sp>
        <p:nvSpPr>
          <p:cNvPr id="34" name="같은 질의 60개 × 8조건 반복측정 = 480개 생성 기록">
            <a:extLst xmlns:a="http://schemas.openxmlformats.org/drawingml/2006/main">
              <a:ext uri="{FF2B5EF4-FFF2-40B4-BE49-F238E27FC236}">
                <a16:creationId xmlns:a16="http://schemas.microsoft.com/office/drawing/2014/main" id="{C13B4DE2-291F-4C28-806E-AD2A80E1C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526000"/>
            <a:ext cx="9729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같은 질의 60개 × 8조건 반복측정 = 480개 생성 기록</a:t>
            </a:r>
          </a:p>
        </p:txBody>
      </p:sp>
      <p:sp>
        <p:nvSpPr>
          <p:cNvPr id="35" name="생성 512토큰, CAD α=0.5, SCD α=1.1·β=0.9·Tstart=5">
            <a:extLst xmlns:a="http://schemas.openxmlformats.org/drawingml/2006/main">
              <a:ext uri="{FF2B5EF4-FFF2-40B4-BE49-F238E27FC236}">
                <a16:creationId xmlns:a16="http://schemas.microsoft.com/office/drawing/2014/main" id="{2B114CEE-7C1B-4DC7-9A97-47683210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945100"/>
            <a:ext cx="9729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생성 512토큰, CAD α=0.5, SCD α=1.1·β=0.9·Tstart=5</a:t>
            </a:r>
          </a:p>
        </p:txBody>
      </p:sp>
      <p:sp>
        <p:nvSpPr>
          <p:cNvPr id="36" name="문서 요약을 15개 내용 단위로 나누어 질의를 작성하고, 총 60개 질의의 원문 페이지·정답 근거·답변 가능성을 확인">
            <a:extLst xmlns:a="http://schemas.openxmlformats.org/drawingml/2006/main">
              <a:ext uri="{FF2B5EF4-FFF2-40B4-BE49-F238E27FC236}">
                <a16:creationId xmlns:a16="http://schemas.microsoft.com/office/drawing/2014/main" id="{1DB54CE9-20A9-49EC-8861-A0764339B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383250"/>
            <a:ext cx="97299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문서 요약을 15개 내용 단위로 나누어 질의를 작성하고,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총 60개 질의의 원문 페이지·정답 근거·답변 가능성을 확인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62927B6-D60F-4201-B1B1-A68BB0300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145250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04 평가 지표 및 실험·통계 방법">
            <a:extLst xmlns:a="http://schemas.openxmlformats.org/drawingml/2006/main">
              <a:ext uri="{FF2B5EF4-FFF2-40B4-BE49-F238E27FC236}">
                <a16:creationId xmlns:a16="http://schemas.microsoft.com/office/drawing/2014/main" id="{A9489E70-B301-48F2-B35A-F97337A79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173825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04 평가 지표 및 실험·통계 방법</a:t>
            </a:r>
          </a:p>
        </p:txBody>
      </p:sp>
      <p:sp>
        <p:nvSpPr>
          <p:cNvPr id="39" name="근거 충실도: 높을수록 검색 근거가 지지하는 답변 주장 비율이 크다. 답변 관련성: 높을수록 답변 기반 질문과 원질문">
            <a:extLst xmlns:a="http://schemas.openxmlformats.org/drawingml/2006/main">
              <a:ext uri="{FF2B5EF4-FFF2-40B4-BE49-F238E27FC236}">
                <a16:creationId xmlns:a16="http://schemas.microsoft.com/office/drawing/2014/main" id="{8B9D0C8B-DE50-4B90-A878-60AFEB0DD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716750"/>
            <a:ext cx="97299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근거 충실도: 높을수록 검색 근거가 지지하는 답변 주장 비율이 크다.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답변 관련성: 높을수록 답변 기반 질문과 원질문의 의미가 가깝다.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문맥 정밀도: 높을수록 참조 답변에 유용한 구간이 상위에 놓인다.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문맥 재현율: 높을수록 검색 근거가 포괄하는 참조 답변 비중이 크다.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비율: 한글 / (한글 + ASCII 영문자), 높을수록 한글 비중이 크다.</a:t>
            </a:r>
          </a:p>
        </p:txBody>
      </p:sp>
      <p:sp>
        <p:nvSpPr>
          <p:cNvPr id="40" name="품질 관측값은 0~1이다. 관련성 +0.080은 ON−OFF 평균 차이 0.080점이다. SD는 질의별 분포의 표본표">
            <a:extLst xmlns:a="http://schemas.openxmlformats.org/drawingml/2006/main">
              <a:ext uri="{FF2B5EF4-FFF2-40B4-BE49-F238E27FC236}">
                <a16:creationId xmlns:a16="http://schemas.microsoft.com/office/drawing/2014/main" id="{5C49F3F4-C621-4158-AA78-3690915A5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193125"/>
            <a:ext cx="9729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품질 관측값은 0~1이다. 관련성 +0.080은 ON−OFF 평균 차이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0.080점이다. SD는 질의별 분포의 표본표준편차다.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비율 0.700은 70.0%, 차이 +0.218은 +21.8%p다.</a:t>
            </a:r>
          </a:p>
        </p:txBody>
      </p:sp>
      <p:sp>
        <p:nvSpPr>
          <p:cNvPr id="41" name="평가 예시  ext_raptor_011, H0C0S0">
            <a:extLst xmlns:a="http://schemas.openxmlformats.org/drawingml/2006/main">
              <a:ext uri="{FF2B5EF4-FFF2-40B4-BE49-F238E27FC236}">
                <a16:creationId xmlns:a16="http://schemas.microsoft.com/office/drawing/2014/main" id="{B0B826B3-3EF0-469E-B156-76B43250C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098000"/>
            <a:ext cx="9729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평가 예시  ext_raptor_011, H0C0S0</a:t>
            </a:r>
          </a:p>
        </p:txBody>
      </p:sp>
      <p:sp>
        <p:nvSpPr>
          <p:cNvPr id="42" name="질문: Cinderella 사례의 정성 분석에서 RAPTOR의 tree-based retrieval이 DPR보다 주제">
            <a:extLst xmlns:a="http://schemas.openxmlformats.org/drawingml/2006/main">
              <a:ext uri="{FF2B5EF4-FFF2-40B4-BE49-F238E27FC236}">
                <a16:creationId xmlns:a16="http://schemas.microsoft.com/office/drawing/2014/main" id="{87904639-62A9-4614-B066-40665DEA3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0280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질문: Cinderella 사례의 정성 분석에서 RAPTOR의 tree-based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retrieval이 DPR보다 주제형·멀티홉 질문에 유리했던 이유는 무엇입니까?</a:t>
            </a:r>
          </a:p>
        </p:txBody>
      </p:sp>
      <p:sp>
        <p:nvSpPr>
          <p:cNvPr id="43" name="검색 근거(PDF p.9): “By providing both the original text and higher-l">
            <a:extLst xmlns:a="http://schemas.openxmlformats.org/drawingml/2006/main">
              <a:ext uri="{FF2B5EF4-FFF2-40B4-BE49-F238E27FC236}">
                <a16:creationId xmlns:a16="http://schemas.microsoft.com/office/drawing/2014/main" id="{3B679EB7-B7DC-4A60-A8B9-BA2E9FE0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993350"/>
            <a:ext cx="9729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검색 근거(PDF p.9): “By providing both the original text and higher-level summaries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for retrieval, RAPTOR can effectively handle a wider range of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questions, from higher-order thematic queries to detail-oriented questions.”</a:t>
            </a:r>
          </a:p>
        </p:txBody>
      </p:sp>
      <p:sp>
        <p:nvSpPr>
          <p:cNvPr id="44" name="참조 답변 요지(PDF p.20): RAPTOR는 이야기의 주요 부분을, DPR은 이야기의 좁은 일부를 자세히 검색한">
            <a:extLst xmlns:a="http://schemas.openxmlformats.org/drawingml/2006/main">
              <a:ext uri="{FF2B5EF4-FFF2-40B4-BE49-F238E27FC236}">
                <a16:creationId xmlns:a16="http://schemas.microsoft.com/office/drawing/2014/main" id="{DE0059C3-9038-4D15-AD7D-772E14CF5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879175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참조 답변 요지(PDF p.20): RAPTOR는 이야기의 주요 부분을,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DPR은 이야기의 좁은 일부를 자세히 검색한다.</a:t>
            </a:r>
          </a:p>
        </p:txBody>
      </p:sp>
      <p:sp>
        <p:nvSpPr>
          <p:cNvPr id="45" name="생성 답변 발췌: “질문의 요구사항에 따라 서로 다른 층위(layer)에서 노드를 선택할 수 있습니다.”">
            <a:extLst xmlns:a="http://schemas.openxmlformats.org/drawingml/2006/main">
              <a:ext uri="{FF2B5EF4-FFF2-40B4-BE49-F238E27FC236}">
                <a16:creationId xmlns:a16="http://schemas.microsoft.com/office/drawing/2014/main" id="{9D73BECE-FD4F-491D-8ED6-DB58D4325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469725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생성 답변 발췌: “질문의 요구사항에 따라 서로 다른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층위(layer)에서 노드를 선택할 수 있습니다.”</a:t>
            </a:r>
          </a:p>
        </p:txBody>
      </p:sp>
      <p:sp>
        <p:nvSpPr>
          <p:cNvPr id="46" name="충실도 1.000: 추출된 답변 주장을 검색 문맥이 모두 지지 관련성 0.937: 답변 기반 질문과 원질문의 평균 의">
            <a:extLst xmlns:a="http://schemas.openxmlformats.org/drawingml/2006/main">
              <a:ext uri="{FF2B5EF4-FFF2-40B4-BE49-F238E27FC236}">
                <a16:creationId xmlns:a16="http://schemas.microsoft.com/office/drawing/2014/main" id="{10339883-484F-49D8-A7C8-F8777F63B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06980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충실도 1.000: 추출된 답변 주장을 검색 문맥이 모두 지지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관련성 0.937: 답변 기반 질문과 원질문의 평균 의미 유사도</a:t>
            </a:r>
          </a:p>
        </p:txBody>
      </p:sp>
      <p:sp>
        <p:nvSpPr>
          <p:cNvPr id="47" name="평가: RAGAS 0.2.15[10]·gpt-4o·BGE-M3, 저장 답변 평가 S0 영어 / S1 한국어 번역 평가">
            <a:extLst xmlns:a="http://schemas.openxmlformats.org/drawingml/2006/main">
              <a:ext uri="{FF2B5EF4-FFF2-40B4-BE49-F238E27FC236}">
                <a16:creationId xmlns:a16="http://schemas.microsoft.com/office/drawing/2014/main" id="{4C2F2814-28BF-4FAD-8E2F-938D04745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669875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평가: RAGAS 0.2.15[10]·gpt-4o·BGE-M3, 저장 답변 평가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S0 영어 / S1 한국어 번역 평가 문맥, 모든 생성 문맥은 영어</a:t>
            </a:r>
          </a:p>
        </p:txBody>
      </p:sp>
      <p:sp>
        <p:nvSpPr>
          <p:cNvPr id="48" name="반복측정 분산분석(ANOVA)·대응 t-검정·Holm, α=0.05 품질 S별 H×C / 문자·시간 H×C×S, SC">
            <a:extLst xmlns:a="http://schemas.openxmlformats.org/drawingml/2006/main">
              <a:ext uri="{FF2B5EF4-FFF2-40B4-BE49-F238E27FC236}">
                <a16:creationId xmlns:a16="http://schemas.microsoft.com/office/drawing/2014/main" id="{734BF438-2E7D-4C31-86A6-7FCDA4E89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28900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반복측정 분산분석(ANOVA)·대응 t-검정·Holm, α=0.05</a:t>
            </a:r>
          </a:p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품질 S별 H×C / 문자·시간 H×C×S, SCD 120·240쌍→질의60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4F4DA52-820D-49E7-B186-4E0A7462F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347662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05 조합별 결과와 통계 검정">
            <a:extLst xmlns:a="http://schemas.openxmlformats.org/drawingml/2006/main">
              <a:ext uri="{FF2B5EF4-FFF2-40B4-BE49-F238E27FC236}">
                <a16:creationId xmlns:a16="http://schemas.microsoft.com/office/drawing/2014/main" id="{C76AF8FD-FE50-4762-BE8A-5D7CBBD1C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4425" y="350520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05 조합별 결과와 통계 검정</a:t>
            </a:r>
          </a:p>
        </p:txBody>
      </p:sp>
      <p:sp>
        <p:nvSpPr>
          <p:cNvPr id="51" name="HyDE·CAD·SCD 8조합의 품질·한국어 비율·시간 평균(SD)">
            <a:extLst xmlns:a="http://schemas.openxmlformats.org/drawingml/2006/main">
              <a:ext uri="{FF2B5EF4-FFF2-40B4-BE49-F238E27FC236}">
                <a16:creationId xmlns:a16="http://schemas.microsoft.com/office/drawing/2014/main" id="{CB9973BD-C0E3-46E0-BB5C-726B7151E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4095750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HyDE·CAD·SCD 8조합의 품질·한국어 비율·시간 평균(SD)</a:t>
            </a:r>
          </a:p>
        </p:txBody>
      </p:sp>
      <p:graphicFrame>
        <p:nvGraphicFrame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6132889-9852-4B1F-BAD5-9F3C9281BBC8}"/>
              </a:ext>
            </a:extLst>
          </p:cNvPr>
          <p:cNvGraphicFramePr/>
          <p:nvPr/>
        </p:nvGraphicFramePr>
        <p:xfrm>
          <a:off xmlns:a="http://schemas.openxmlformats.org/drawingml/2006/main" x="10949175" y="4610100"/>
          <a:ext xmlns:a="http://schemas.openxmlformats.org/drawingml/2006/main" cx="9729975" cy="6172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56796"/>
                <a:gridCol w="1362197"/>
                <a:gridCol w="1362197"/>
                <a:gridCol w="1362197"/>
                <a:gridCol w="1362197"/>
                <a:gridCol w="1362197"/>
                <a:gridCol w="1362197"/>
              </a:tblGrid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조건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근거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충실도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답변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관련성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정밀도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재현율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한국어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비율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실행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시간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0.791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0.683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(0.282)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0.749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0.933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0.494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20.792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(23.404)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0.839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0.675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0.740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0.917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0.488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(0.245)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63.867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(25.312)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0.834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(0.186)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0.763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0.714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(0.296)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0.933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0.556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(0.213)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23.440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(4.707)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0.860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(0.181)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0.705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(0.248)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0.736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0.900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0.503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(0.229)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73.532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(21.584)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0.787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(0.254)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0.637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(0.296)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0.763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0.900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0.699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(0.329)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18.898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(5.085)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0.777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0.600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(0.321)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0.752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0.850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(0.360)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0.719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(0.218)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55.159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(26.465)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0.822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(0.218)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0.710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0.743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(0.281)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0.900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0.807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24.892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(5.196)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0.831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0.667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(0.286)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0.754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(0.267)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0.917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0.731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64.125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(21.675)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</a:tbl>
          </a:graphicData>
        </a:graphic>
      </p:graphicFrame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52C554D-C602-410A-8371-34F0B5FB4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8024813"/>
            <a:ext cx="9729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S0: 영어 평가 문맥 / S1: 한국어 번역 평가 문맥 충실도 H0C1S0 n=58, H0C0S1 n=57, 나머지">
            <a:extLst xmlns:a="http://schemas.openxmlformats.org/drawingml/2006/main">
              <a:ext uri="{FF2B5EF4-FFF2-40B4-BE49-F238E27FC236}">
                <a16:creationId xmlns:a16="http://schemas.microsoft.com/office/drawing/2014/main" id="{7BE12E8B-7593-4B72-B74F-B80C1C612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0963275"/>
            <a:ext cx="97299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S0: 영어 평가 문맥 / S1: 한국어 번역 평가 문맥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충실도 H0C1S0 n=58, H0C0S1 n=57, 나머지 n=60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비율·시간(초)은 생성 기록에서 직접 계산</a:t>
            </a:r>
          </a:p>
        </p:txBody>
      </p:sp>
      <p:sp>
        <p:nvSpPr>
          <p:cNvPr id="55" name="3요인 반복측정 ANOVA  ·  각 효과 df=(1,59)">
            <a:extLst xmlns:a="http://schemas.openxmlformats.org/drawingml/2006/main">
              <a:ext uri="{FF2B5EF4-FFF2-40B4-BE49-F238E27FC236}">
                <a16:creationId xmlns:a16="http://schemas.microsoft.com/office/drawing/2014/main" id="{5EC029FB-D198-4410-BF48-B4883A84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2115800"/>
            <a:ext cx="9729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3요인 반복측정 ANOVA  ·  각 효과 df=(1,59)</a:t>
            </a:r>
          </a:p>
        </p:txBody>
      </p:sp>
      <p:graphicFrame>
        <p:nvGraphicFrame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45E0A38-A25B-45CF-A80B-F846EB3C0717}"/>
              </a:ext>
            </a:extLst>
          </p:cNvPr>
          <p:cNvGraphicFramePr/>
          <p:nvPr/>
        </p:nvGraphicFramePr>
        <p:xfrm>
          <a:off xmlns:a="http://schemas.openxmlformats.org/drawingml/2006/main" x="10949175" y="12601575"/>
          <a:ext xmlns:a="http://schemas.openxmlformats.org/drawingml/2006/main" cx="9729975" cy="40100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48695"/>
                <a:gridCol w="2140595"/>
                <a:gridCol w="1751396"/>
                <a:gridCol w="2140595"/>
                <a:gridCol w="1848695"/>
              </a:tblGrid>
              <a:tr h="6096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요인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한국어 비율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보정 p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실행 시간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보정 p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2.924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0.370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16.362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3.365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0.358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423.765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341.302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6.097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0.066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H×C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4.417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0.239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2.262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0.414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H×S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0.771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0.940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0.976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C×S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0.006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0.940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12.080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0.005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H×C×S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1.035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0.940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0.487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0.976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문자 비율·시간은 각각 7검정에 Holm 보정. RAGAS H×C 검정은 평가 문맥 언어별로 수행했으며, 전체 24검">
            <a:extLst xmlns:a="http://schemas.openxmlformats.org/drawingml/2006/main">
              <a:ext uri="{FF2B5EF4-FFF2-40B4-BE49-F238E27FC236}">
                <a16:creationId xmlns:a16="http://schemas.microsoft.com/office/drawing/2014/main" id="{87B3D930-A71A-4ECE-A779-BD6852246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6764000"/>
            <a:ext cx="97299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문자 비율·시간은 각각 7검정에 Holm 보정.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RAGAS H×C 검정은 평가 문맥 언어별로 수행했으며,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전체 24검정의 Holm 보정 p는 모두 0.05 이상이었다.</a:t>
            </a:r>
          </a:p>
        </p:txBody>
      </p:sp>
      <p:sp>
        <p:nvSpPr>
          <p:cNvPr id="58" name="기법별 대응 비교  ·  질의별 평균 차이, 양측 검정">
            <a:extLst xmlns:a="http://schemas.openxmlformats.org/drawingml/2006/main">
              <a:ext uri="{FF2B5EF4-FFF2-40B4-BE49-F238E27FC236}">
                <a16:creationId xmlns:a16="http://schemas.microsoft.com/office/drawing/2014/main" id="{A6092A1F-E72C-4692-AE2C-D75D0A41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7811750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기법별 대응 비교  ·  질의별 평균 차이, 양측 검정</a:t>
            </a:r>
          </a:p>
        </p:txBody>
      </p:sp>
      <p:graphicFrame>
        <p:nvGraphicFrame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CCF2F32-0EA6-429C-A8DC-8844FCB11730}"/>
              </a:ext>
            </a:extLst>
          </p:cNvPr>
          <p:cNvGraphicFramePr/>
          <p:nvPr/>
        </p:nvGraphicFramePr>
        <p:xfrm>
          <a:off xmlns:a="http://schemas.openxmlformats.org/drawingml/2006/main" x="10949175" y="18316575"/>
          <a:ext xmlns:a="http://schemas.openxmlformats.org/drawingml/2006/main" cx="9729975" cy="3200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32494"/>
                <a:gridCol w="2237894"/>
                <a:gridCol w="1945995"/>
                <a:gridCol w="1556796"/>
                <a:gridCol w="1556796"/>
              </a:tblGrid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비교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차이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(SD)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t(df)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보정 전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보정 후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HyDE</a:t>
                      </a:r>
                    </a:p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답변 관련성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0.080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2.236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0.029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0.117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CAD</a:t>
                      </a:r>
                    </a:p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근거 충실도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0.029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0.862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(57)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0.393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1.000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SCD H0</a:t>
                      </a:r>
                    </a:p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한국어 비율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0.218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(0.121)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13.951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0" name="HyDE: C0S0, CAD: H0S0, SCD: H0의 CAD 상태 평균 보정: HyDE·CAD 각 4지표, SCD">
            <a:extLst xmlns:a="http://schemas.openxmlformats.org/drawingml/2006/main">
              <a:ext uri="{FF2B5EF4-FFF2-40B4-BE49-F238E27FC236}">
                <a16:creationId xmlns:a16="http://schemas.microsoft.com/office/drawing/2014/main" id="{C735DB22-B016-4190-B8C8-4B18C5728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1564600"/>
            <a:ext cx="972997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HyDE: C0S0, CAD: H0S0, SCD: H0의 CAD 상태 평균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보정: HyDE·CAD 각 4지표, SCD 주·전체 비교 2검정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SCD 차이 +0.218은 한글 비중 +21.8%p에 해당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평균표 SD는 점수의 산포, 대응표 SD는 ON−OFF 차이의 산포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6ED8F9F-DEAE-422A-AB18-47EFDC8F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281237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06 결과 해석">
            <a:extLst xmlns:a="http://schemas.openxmlformats.org/drawingml/2006/main">
              <a:ext uri="{FF2B5EF4-FFF2-40B4-BE49-F238E27FC236}">
                <a16:creationId xmlns:a16="http://schemas.microsoft.com/office/drawing/2014/main" id="{9A3ACB9E-52AB-41C7-93FE-D17725FD7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4425" y="2284095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06 결과 해석</a:t>
            </a:r>
          </a:p>
        </p:txBody>
      </p:sp>
      <p:sp>
        <p:nvSpPr>
          <p:cNvPr id="63" name="HyDE의 양의 관련성 차이는 다중비교 보정 결과와 함께 해석한다. CAD는 질의별 충실도 변동과 추가 실행 시간을 ">
            <a:extLst xmlns:a="http://schemas.openxmlformats.org/drawingml/2006/main">
              <a:ext uri="{FF2B5EF4-FFF2-40B4-BE49-F238E27FC236}">
                <a16:creationId xmlns:a16="http://schemas.microsoft.com/office/drawing/2014/main" id="{3064354D-CF8D-4207-8EC6-6DB2D62CB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3336250"/>
            <a:ext cx="972997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HyDE의 양의 관련성 차이는 다중비교 보정 결과와 함께 해석한다.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CAD는 질의별 충실도 변동과 추가 실행 시간을 함께 비교한다.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SCD의 효과는 생성 답변에서 한글이 차지하는 비중의 증가다.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시간의 C×S 상호작용은 SCD별 CAD 시간 증가가 다름을 뜻한다.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35E4EE7-3A51-44EC-843E-3029AFF73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4688800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07 결론">
            <a:extLst xmlns:a="http://schemas.openxmlformats.org/drawingml/2006/main">
              <a:ext uri="{FF2B5EF4-FFF2-40B4-BE49-F238E27FC236}">
                <a16:creationId xmlns:a16="http://schemas.microsoft.com/office/drawing/2014/main" id="{3E89197A-0FFF-4F28-8AB4-FD0E50C31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4425" y="24717375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07 결론</a:t>
            </a:r>
          </a:p>
        </p:txBody>
      </p:sp>
      <p:sp>
        <p:nvSpPr>
          <p:cNvPr id="66" name="답변 품질은 평균 대응 차이와 보정 검정 결과로 판단한다. 한국어 사용 비중을 높이는 목적에는 SCD 결과를 참고한다">
            <a:extLst xmlns:a="http://schemas.openxmlformats.org/drawingml/2006/main">
              <a:ext uri="{FF2B5EF4-FFF2-40B4-BE49-F238E27FC236}">
                <a16:creationId xmlns:a16="http://schemas.microsoft.com/office/drawing/2014/main" id="{AE010BAB-C317-447B-A51E-97D1FA975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5288875"/>
            <a:ext cx="972997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답변 품질은 평균 대응 차이와 보정 검정 결과로 판단한다.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사용 비중을 높이는 목적에는 SCD 결과를 참고한다.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 적용은 질의별 충실도와 추가 실행 시간을 함께 검토한다.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 적용은 번역·가상 문서 생성과 검색 결과를 함께 비교한다.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최종 조합은 목표 언어·품질·허용 시간을 기준으로 선택한다.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A928F77-F2EF-42C7-8912-E723DC9F8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051000"/>
            <a:ext cx="1997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08 주요 참고문헌">
            <a:extLst xmlns:a="http://schemas.openxmlformats.org/drawingml/2006/main">
              <a:ext uri="{FF2B5EF4-FFF2-40B4-BE49-F238E27FC236}">
                <a16:creationId xmlns:a16="http://schemas.microsoft.com/office/drawing/2014/main" id="{397120A7-6652-4A46-B1DB-C62B41768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079575"/>
            <a:ext cx="19783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08 주요 참고문헌</a:t>
            </a:r>
          </a:p>
        </p:txBody>
      </p:sp>
      <p:sp>
        <p:nvSpPr>
          <p:cNvPr id="69" name="[1] Lewis et al. RAG. NeurIPS, 2020. [2] Gao et al. HyDE. ACL, 20">
            <a:extLst xmlns:a="http://schemas.openxmlformats.org/drawingml/2006/main">
              <a:ext uri="{FF2B5EF4-FFF2-40B4-BE49-F238E27FC236}">
                <a16:creationId xmlns:a16="http://schemas.microsoft.com/office/drawing/2014/main" id="{63179EAE-09ED-447D-A0C7-72C8A711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660600"/>
            <a:ext cx="972997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[1] Lewis et al. RAG. NeurIPS, 2020.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[2] Gao et al. HyDE. ACL, 2023.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[3] Shi et al. Context-Aware Decoding. NAACL, 2024.</a:t>
            </a:r>
          </a:p>
        </p:txBody>
      </p:sp>
      <p:sp>
        <p:nvSpPr>
          <p:cNvPr id="70" name="[4] Li et al. Language Drift and SCD. AAAI, 2026. [5] Chen et al.">
            <a:extLst xmlns:a="http://schemas.openxmlformats.org/drawingml/2006/main">
              <a:ext uri="{FF2B5EF4-FFF2-40B4-BE49-F238E27FC236}">
                <a16:creationId xmlns:a16="http://schemas.microsoft.com/office/drawing/2014/main" id="{E5E7E863-54BB-4C29-BCFA-80F5EE009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7660600"/>
            <a:ext cx="972997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[4] Li et al. Language Drift and SCD. AAAI, 2026.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[5] Chen et al. M3-Embedding. ACL Findings, 2024.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[10] Es et al. RAGAs. EACL Demonstrations, 2024.</a:t>
            </a:r>
          </a:p>
        </p:txBody>
      </p:sp>
      <p:sp>
        <p:nvSpPr>
          <p:cNvPr id="71" name="[6] Robertson et al. Okapi at TREC-3. NIST, 1995. [7] Cormack et ">
            <a:extLst xmlns:a="http://schemas.openxmlformats.org/drawingml/2006/main">
              <a:ext uri="{FF2B5EF4-FFF2-40B4-BE49-F238E27FC236}">
                <a16:creationId xmlns:a16="http://schemas.microsoft.com/office/drawing/2014/main" id="{22D781C6-63DB-4A76-836E-7616E1BB7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67025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[6] Robertson et al. Okapi at TREC-3. NIST, 1995.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[7] Cormack et al. Reciprocal Rank Fusion. SIGIR, 2009.</a:t>
            </a:r>
          </a:p>
        </p:txBody>
      </p:sp>
      <p:sp>
        <p:nvSpPr>
          <p:cNvPr id="72" name="[8] MacAvaney et al. CEDR. SIGIR, 2019. 공식 모델  [M1] KT Mi:dm 2.0 ">
            <a:extLst xmlns:a="http://schemas.openxmlformats.org/drawingml/2006/main">
              <a:ext uri="{FF2B5EF4-FFF2-40B4-BE49-F238E27FC236}">
                <a16:creationId xmlns:a16="http://schemas.microsoft.com/office/drawing/2014/main" id="{23856CA5-4F76-4A97-BCC1-7FFD4E9DF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867025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[8] MacAvaney et al. CEDR. SIGIR, 2019.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공식 모델  [M1] KT Mi:dm 2.0 / [M2] MiniLM CrossEncoder</a:t>
            </a:r>
          </a:p>
        </p:txBody>
      </p:sp>
      <p:sp>
        <p:nvSpPr>
          <p:cNvPr id="73" name="학술 22편·모델·자료 출처: 동봉 POSTER_REFERENCES_FULL.md · 통계·결측·민감도 분석: 동봉 ">
            <a:extLst xmlns:a="http://schemas.openxmlformats.org/drawingml/2006/main">
              <a:ext uri="{FF2B5EF4-FFF2-40B4-BE49-F238E27FC236}">
                <a16:creationId xmlns:a16="http://schemas.microsoft.com/office/drawing/2014/main" id="{A5E2237D-D31E-44E0-8008-6AA4979CD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356050"/>
            <a:ext cx="19974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학술 22편·모델·자료 출처: 동봉 POSTER_REFERENCES_FULL.md · 통계·결측·민감도 분석: 동봉 상세표</a:t>
            </a:r>
          </a:p>
        </p:txBody>
      </p:sp>
      <p:sp>
        <p:nvSpPr>
          <p:cNvPr id="74" name="영어 문서 4종 · 질의 60개 · 생성 모델 1종 · 질의별 반복측정">
            <a:extLst xmlns:a="http://schemas.openxmlformats.org/drawingml/2006/main">
              <a:ext uri="{FF2B5EF4-FFF2-40B4-BE49-F238E27FC236}">
                <a16:creationId xmlns:a16="http://schemas.microsoft.com/office/drawing/2014/main" id="{14C402B1-41B4-4B19-BCF5-8CC97C5F7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670375"/>
            <a:ext cx="19974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rPr>
              <a:t>영어 문서 4종 · 질의 60개 · 생성 모델 1종 · 질의별 반복측정</a:t>
            </a:r>
          </a:p>
        </p:txBody>
      </p:sp>
      <p:sp>
        <p:nvSpPr>
          <p:cNvPr id="75" name="A1 594 × 841 mm">
            <a:extLst xmlns:a="http://schemas.openxmlformats.org/drawingml/2006/main">
              <a:ext uri="{FF2B5EF4-FFF2-40B4-BE49-F238E27FC236}">
                <a16:creationId xmlns:a16="http://schemas.microsoft.com/office/drawing/2014/main" id="{054E15FE-62B2-4307-9CD2-8E5084005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889450"/>
            <a:ext cx="19974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rPr>
              <a:t>A1 594 × 841 mm</a:t>
            </a:r>
          </a:p>
        </p:txBody>
      </p:sp>
    </p:spTree>
    <p:extLst>
      <p:ext uri="{BB962C8B-B14F-4D97-AF65-F5344CB8AC3E}">
        <p14:creationId xmlns:p14="http://schemas.microsoft.com/office/powerpoint/2010/main" val="10125996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2026-10-16T20:07:14.0950000Z</dcterms:created>
  <dcterms:modified xsi:type="dcterms:W3CDTF">2026-10-16T20:07:14.0950000Z</dcterms:modified>
</coreProperties>
</file>