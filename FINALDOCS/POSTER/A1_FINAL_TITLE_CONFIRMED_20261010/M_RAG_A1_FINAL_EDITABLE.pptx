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af147b56124975" /><Relationship Type="http://schemas.openxmlformats.org/officeDocument/2006/relationships/extended-properties" Target="/docProps/app.xml" Id="Ra9196e1cb1284e7b" /><Relationship Type="http://schemas.openxmlformats.org/officeDocument/2006/relationships/officeDocument" Target="/ppt/presentation.xml" Id="Rb3c0f613153148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6e19347b8354970"/>
  </p:sldMasterIdLst>
  <p:notesMasterIdLst>
    <p:notesMasterId xmlns:r="http://schemas.openxmlformats.org/officeDocument/2006/relationships" r:id="R5759b30b39154fce"/>
  </p:notesMasterIdLst>
  <p:sldIdLst>
    <p:sldId xmlns:r="http://schemas.openxmlformats.org/officeDocument/2006/relationships" id="256" r:id="R02a32982260041c1"/>
  </p:sldIdLst>
  <p:sldSz cx="21384000" cy="30276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47756346aa64011" /><Relationship Type="http://schemas.openxmlformats.org/officeDocument/2006/relationships/slideMaster" Target="/ppt/slideMasters/slideMaster1.xml" Id="Rb6e19347b8354970" /><Relationship Type="http://schemas.openxmlformats.org/officeDocument/2006/relationships/notesMaster" Target="/ppt/notesMasters/notesMaster1.xml" Id="R5759b30b39154fce" /><Relationship Type="http://schemas.openxmlformats.org/officeDocument/2006/relationships/presProps" Target="/ppt/presProps.xml" Id="Rd262ebb809584ef0" /><Relationship Type="http://schemas.openxmlformats.org/officeDocument/2006/relationships/tableStyles" Target="/ppt/tableStyles.xml" Id="R81dcf792526f48a5" /><Relationship Type="http://schemas.openxmlformats.org/officeDocument/2006/relationships/slide" Target="/ppt/slides/slide1.xml" Id="R02a32982260041c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392c37dbf0c4ae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760e689a36461e" /><Relationship Type="http://schemas.openxmlformats.org/officeDocument/2006/relationships/notesMaster" Target="/ppt/notesMasters/notesMaster1.xml" Id="Ra0645176e58a41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Research sources and full statistics: FINALDOCS/DATA/FACTORIAL_STATISTICS_60Q.json; FINALDOCS/MANUSCRIPT/GRADUATION_REPORT_TRANSFER_KO_60Q.md. Existing retained records only. Holm families declared at revision time. Native editable diagrams and tables. No confidence-interval charts or cube. Reference [4] https://arxiv.org/abs/2511.09984; references follow manuscript numbering.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53cca038c4492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cb5f5d13af4a4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84b6cbc7e245b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f9fbd4797147a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4d2d6181574f0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79e1304aa346d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FE3A825-BF6F-49AF-ACDF-F7898CE873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400" y="11437600"/>
            <a:ext cx="17107200" cy="437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FC19271-8FF3-4763-B9E8-4D7C9E4AD0D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207600" y="16651800"/>
            <a:ext cx="14968800" cy="33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0DC9239-C8A9-4A85-8C4A-AF4B2D5932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400" y="12615000"/>
            <a:ext cx="17107200" cy="504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2448AB4-140B-479B-9C4D-4FEFB8B852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AB5F2BB-3B52-463F-9B6D-B0D5AED22C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189783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1pPr>
            <a:lvl2pPr marL="9355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2pPr>
            <a:lvl3pPr marL="14701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3pPr>
            <a:lvl4pPr marL="20047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4pPr>
            <a:lvl5pPr marL="25393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5pPr>
            <a:lvl6pPr marL="30739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6pPr>
            <a:lvl7pPr marL="36085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7pPr>
            <a:lvl8pPr marL="41431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8pPr>
            <a:lvl9pPr marL="46777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87C62FE-9FDE-490F-98A5-717D2CA415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8AEFD8A-0BE2-4655-94E2-3C32698AF26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1pPr>
            <a:lvl2pPr marL="9355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2pPr>
            <a:lvl3pPr marL="14701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3pPr>
            <a:lvl4pPr marL="20047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4pPr>
            <a:lvl5pPr marL="25393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5pPr>
            <a:lvl6pPr marL="30739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6pPr>
            <a:lvl7pPr marL="36085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7pPr>
            <a:lvl8pPr marL="41431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8pPr>
            <a:lvl9pPr marL="46777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1DFA414-EEDE-42A2-BD14-72A993FEA2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3602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1pPr>
            <a:lvl2pPr marL="9355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2pPr>
            <a:lvl3pPr marL="14701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3pPr>
            <a:lvl4pPr marL="20047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4pPr>
            <a:lvl5pPr marL="25393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5pPr>
            <a:lvl6pPr marL="30739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6pPr>
            <a:lvl7pPr marL="36085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7pPr>
            <a:lvl8pPr marL="41431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8pPr>
            <a:lvl9pPr marL="46777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08A9EFD-E1B8-4B54-A788-88DB96D681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0F7B7FF-25A5-42DC-9077-E58858C18D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1pPr>
            <a:lvl2pPr marL="9355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2pPr>
            <a:lvl3pPr marL="14701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3pPr>
            <a:lvl4pPr marL="20047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4pPr>
            <a:lvl5pPr marL="25393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5pPr>
            <a:lvl6pPr marL="30739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6pPr>
            <a:lvl7pPr marL="36085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7pPr>
            <a:lvl8pPr marL="41431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8pPr>
            <a:lvl9pPr marL="46777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15ff3f3e6484c8c" /><Relationship Type="http://schemas.openxmlformats.org/officeDocument/2006/relationships/slideLayout" Target="/ppt/slideLayouts/slideLayout1.xml" Id="Re58fd566ece84e1c" /><Relationship Type="http://schemas.openxmlformats.org/officeDocument/2006/relationships/slideLayout" Target="/ppt/slideLayouts/slideLayout2.xml" Id="R2dc1470f541a4cf4" /><Relationship Type="http://schemas.openxmlformats.org/officeDocument/2006/relationships/slideLayout" Target="/ppt/slideLayouts/slideLayout3.xml" Id="Rf0e42d1068644cef" /><Relationship Type="http://schemas.openxmlformats.org/officeDocument/2006/relationships/slideLayout" Target="/ppt/slideLayouts/slideLayout4.xml" Id="Ra6ffd3d64356416a" /><Relationship Type="http://schemas.openxmlformats.org/officeDocument/2006/relationships/slideLayout" Target="/ppt/slideLayouts/slideLayout5.xml" Id="R447f418f2f3a4ee3" /><Relationship Type="http://schemas.openxmlformats.org/officeDocument/2006/relationships/slideLayout" Target="/ppt/slideLayouts/slideLayout6.xml" Id="R15137b3534ff476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8fd566ece84e1c"/>
    <p:sldLayoutId xmlns:r="http://schemas.openxmlformats.org/officeDocument/2006/relationships" id="2147483650" r:id="R2dc1470f541a4cf4"/>
    <p:sldLayoutId xmlns:r="http://schemas.openxmlformats.org/officeDocument/2006/relationships" id="2147483651" r:id="Rf0e42d1068644cef"/>
    <p:sldLayoutId xmlns:r="http://schemas.openxmlformats.org/officeDocument/2006/relationships" id="2147483652" r:id="Ra6ffd3d64356416a"/>
    <p:sldLayoutId xmlns:r="http://schemas.openxmlformats.org/officeDocument/2006/relationships" id="2147483653" r:id="R447f418f2f3a4ee3"/>
    <p:sldLayoutId xmlns:r="http://schemas.openxmlformats.org/officeDocument/2006/relationships" id="2147483654" r:id="R15137b3534ff476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4762f662ef4bdc" /><Relationship Type="http://schemas.openxmlformats.org/officeDocument/2006/relationships/notesSlide" Target="/ppt/notesSlides/notesSlide1.xml" Id="R81065d53e50146f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C2ED282-F120-41FC-BCF6-C4E9EB5A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3840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한국어 질의로 영어 학술·기술 문서를 검색하는">
            <a:extLst xmlns:a="http://schemas.openxmlformats.org/drawingml/2006/main">
              <a:ext uri="{FF2B5EF4-FFF2-40B4-BE49-F238E27FC236}">
                <a16:creationId xmlns:a16="http://schemas.microsoft.com/office/drawing/2014/main" id="{7C4DFB6C-958D-451D-972E-9FE81F632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20317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한국어 질의로 영어 학술·기술 문서를 검색하는</a:t>
            </a:r>
          </a:p>
        </p:txBody>
      </p:sp>
      <p:sp>
        <p:nvSpPr>
          <p:cNvPr id="3" name="RAG에서의 HyDE·CAD·SCD 조합 실험">
            <a:extLst xmlns:a="http://schemas.openxmlformats.org/drawingml/2006/main">
              <a:ext uri="{FF2B5EF4-FFF2-40B4-BE49-F238E27FC236}">
                <a16:creationId xmlns:a16="http://schemas.microsoft.com/office/drawing/2014/main" id="{98605256-6ED2-4646-AB9C-B0B77D0B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20317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RAG에서의 HyDE·CAD·SCD 조합 실험</a:t>
            </a:r>
          </a:p>
        </p:txBody>
      </p:sp>
      <p:sp>
        <p:nvSpPr>
          <p:cNvPr id="4" name="문종건 · 동국대학교 WISE캠퍼스 컴퓨터공학과 · 지도교수 김진석 · 2026.10.15">
            <a:extLst xmlns:a="http://schemas.openxmlformats.org/drawingml/2006/main">
              <a:ext uri="{FF2B5EF4-FFF2-40B4-BE49-F238E27FC236}">
                <a16:creationId xmlns:a16="http://schemas.microsoft.com/office/drawing/2014/main" id="{8121F4B6-01DB-4BED-A833-FAFB43BB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86025"/>
            <a:ext cx="2031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문종건 · 동국대학교 WISE캠퍼스 컴퓨터공학과 · 지도교수 김진석 · 2026.10.15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71D863-6D29-4FF3-9D7F-4B21C25D9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7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01 연구 배경과 목적">
            <a:extLst xmlns:a="http://schemas.openxmlformats.org/drawingml/2006/main">
              <a:ext uri="{FF2B5EF4-FFF2-40B4-BE49-F238E27FC236}">
                <a16:creationId xmlns:a16="http://schemas.microsoft.com/office/drawing/2014/main" id="{D0B477FC-83D2-4F14-8B7C-A46F2BE3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01 연구 배경과 목적</a:t>
            </a:r>
          </a:p>
        </p:txBody>
      </p:sp>
      <p:sp>
        <p:nvSpPr>
          <p:cNvPr id="7" name="RAG는 질문과 관련된 문서 구간을 검색하고, 그 텍스트를 생성 모델에 제공해 답변을 만든다[1].">
            <a:extLst xmlns:a="http://schemas.openxmlformats.org/drawingml/2006/main">
              <a:ext uri="{FF2B5EF4-FFF2-40B4-BE49-F238E27FC236}">
                <a16:creationId xmlns:a16="http://schemas.microsoft.com/office/drawing/2014/main" id="{120A4F1F-32C1-4ACA-BC00-FE21F566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97299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RAG는 질문과 관련된 문서 구간을 검색하고,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그 텍스트를 생성 모델에 제공해 답변을 만든다[1].</a:t>
            </a:r>
          </a:p>
        </p:txBody>
      </p:sp>
      <p:sp>
        <p:nvSpPr>
          <p:cNvPr id="8" name="HyDE: Hypothetical Document Embeddings[2] CAD: Context-Aware Deco">
            <a:extLst xmlns:a="http://schemas.openxmlformats.org/drawingml/2006/main">
              <a:ext uri="{FF2B5EF4-FFF2-40B4-BE49-F238E27FC236}">
                <a16:creationId xmlns:a16="http://schemas.microsoft.com/office/drawing/2014/main" id="{E44A3529-7AD0-4D40-9ACB-D05B44548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05375"/>
            <a:ext cx="97299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Hypothetical Document Embeddings[2]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CAD: Context-Aware Decoding[3]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SCD: Soft Constrained Decoding[4]</a:t>
            </a:r>
          </a:p>
        </p:txBody>
      </p:sp>
      <p:sp>
        <p:nvSpPr>
          <p:cNvPr id="9" name="한국어 질문으로 영어 문서를 이용할 때 검색 근거, 답변의 근거 충실도와 출력 언어를 함께 살펴본다. 동일 파이프라인">
            <a:extLst xmlns:a="http://schemas.openxmlformats.org/drawingml/2006/main">
              <a:ext uri="{FF2B5EF4-FFF2-40B4-BE49-F238E27FC236}">
                <a16:creationId xmlns:a16="http://schemas.microsoft.com/office/drawing/2014/main" id="{E69F7A23-42E7-49A7-A5D9-07745373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38850"/>
            <a:ext cx="97299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질문으로 영어 문서를 이용할 때 검색 근거,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답변의 근거 충실도와 출력 언어를 함께 살펴본다.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동일 파이프라인에서 세 기법의 8개 조합을 비교한다.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81FF77-E18E-4F0D-A1DB-C2654B8D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3628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02 Paper-RAG 구조와 기법 적용 위치">
            <a:extLst xmlns:a="http://schemas.openxmlformats.org/drawingml/2006/main">
              <a:ext uri="{FF2B5EF4-FFF2-40B4-BE49-F238E27FC236}">
                <a16:creationId xmlns:a16="http://schemas.microsoft.com/office/drawing/2014/main" id="{CDA6676A-2EA7-4C79-8D3D-C614CB40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3914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02 Paper-RAG 구조와 기법 적용 위치</a:t>
            </a:r>
          </a:p>
        </p:txBody>
      </p:sp>
      <p:sp>
        <p:nvSpPr>
          <p:cNvPr id="12" name="Paper-RAG는 본 연구의 고정 검색·생성 파이프라인이다.">
            <a:extLst xmlns:a="http://schemas.openxmlformats.org/drawingml/2006/main">
              <a:ext uri="{FF2B5EF4-FFF2-40B4-BE49-F238E27FC236}">
                <a16:creationId xmlns:a16="http://schemas.microsoft.com/office/drawing/2014/main" id="{AC425FBD-3671-4218-B02C-2D2CAFF0A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72425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Paper-RAG는 본 연구의 고정 검색·생성 파이프라인이다.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2880B9-3B47-4F15-873F-FE8853FA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515350"/>
            <a:ext cx="4655438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2F6DF6"/>
            </a:solidFill>
            <a:prstDash val="solid"/>
          </a:ln>
        </p:spPr>
      </p:sp>
      <p:sp>
        <p:nvSpPr>
          <p:cNvPr id="14" name="한국어 질의 HyDE OFF: 원질의 HyDE ON: 영어 번역·가상 문서">
            <a:extLst xmlns:a="http://schemas.openxmlformats.org/drawingml/2006/main">
              <a:ext uri="{FF2B5EF4-FFF2-40B4-BE49-F238E27FC236}">
                <a16:creationId xmlns:a16="http://schemas.microsoft.com/office/drawing/2014/main" id="{FBFBDFA2-D9EF-4C28-B748-1630F09C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629650"/>
            <a:ext cx="45030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질의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OFF: 원질의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ON: 영어 번역·가상 문서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BC3303-7DD3-4F47-8573-4262DD9DD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388" y="8515350"/>
            <a:ext cx="4655438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16" name="BM25 희소 검색[6] 한국어 원질의 사용">
            <a:extLst xmlns:a="http://schemas.openxmlformats.org/drawingml/2006/main">
              <a:ext uri="{FF2B5EF4-FFF2-40B4-BE49-F238E27FC236}">
                <a16:creationId xmlns:a16="http://schemas.microsoft.com/office/drawing/2014/main" id="{23524070-1BB5-44DC-84DA-63DC193C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88" y="8629650"/>
            <a:ext cx="45030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BM25 희소 검색[6]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원질의 사용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92E1CA-0C5D-42D0-963B-D524065BB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63150"/>
            <a:ext cx="465543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2F6DF6"/>
            </a:solidFill>
            <a:prstDash val="solid"/>
          </a:ln>
        </p:spPr>
      </p:sp>
      <p:sp>
        <p:nvSpPr>
          <p:cNvPr id="18" name="BGE-M3 밀집 검색[5]">
            <a:extLst xmlns:a="http://schemas.openxmlformats.org/drawingml/2006/main">
              <a:ext uri="{FF2B5EF4-FFF2-40B4-BE49-F238E27FC236}">
                <a16:creationId xmlns:a16="http://schemas.microsoft.com/office/drawing/2014/main" id="{C0BE9C95-EE4F-44D9-ABF6-DE356F0BC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077450"/>
            <a:ext cx="450303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BGE-M3 밀집 검색[5]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047C55-3E17-404C-9444-0E6E2A04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388" y="9963150"/>
            <a:ext cx="4655438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20" name="가중 RRF[7] 0.6 / 0.4, k=60">
            <a:extLst xmlns:a="http://schemas.openxmlformats.org/drawingml/2006/main">
              <a:ext uri="{FF2B5EF4-FFF2-40B4-BE49-F238E27FC236}">
                <a16:creationId xmlns:a16="http://schemas.microsoft.com/office/drawing/2014/main" id="{B743A9A4-4770-4AF9-91FF-3FFCC007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88" y="10077450"/>
            <a:ext cx="45030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가중 RRF[7]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0.6 / 0.4, k=60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DF294C-ED85-4940-B70C-9C32FAE15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946844" y="9696450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BA48DA-6FEE-40FA-A722-4D0FE6D4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6488" y="1011555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3FD28B-D439-42C8-B831-F233A9B9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021381" y="9696450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C9E954-8788-46B5-9873-BFB535EC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10900"/>
            <a:ext cx="97299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25" name="원질의 기반 CrossEncoder 재정렬[8] 상위 5개 구간 선택·문맥 길이 관리">
            <a:extLst xmlns:a="http://schemas.openxmlformats.org/drawingml/2006/main">
              <a:ext uri="{FF2B5EF4-FFF2-40B4-BE49-F238E27FC236}">
                <a16:creationId xmlns:a16="http://schemas.microsoft.com/office/drawing/2014/main" id="{FF43DD35-4048-4D54-B01E-A3776B15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125200"/>
            <a:ext cx="95775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원질의 기반 CrossEncoder 재정렬[8]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상위 5개 구간 선택·문맥 길이 관리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BE50A8-7EB2-4D83-AC17-2505AC74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134850"/>
            <a:ext cx="97299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16846F"/>
            </a:solidFill>
            <a:prstDash val="solid"/>
          </a:ln>
        </p:spPr>
      </p:sp>
      <p:sp>
        <p:nvSpPr>
          <p:cNvPr id="27" name="Mi:dm 2.0 Base Instruct[18] CAD 로짓 결합 후 SCD 언어별 조정, 최종 답변 생성">
            <a:extLst xmlns:a="http://schemas.openxmlformats.org/drawingml/2006/main">
              <a:ext uri="{FF2B5EF4-FFF2-40B4-BE49-F238E27FC236}">
                <a16:creationId xmlns:a16="http://schemas.microsoft.com/office/drawing/2014/main" id="{87EDA566-3877-4BB8-B771-498124868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249150"/>
            <a:ext cx="95775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Mi:dm 2.0 Base Instruct[18]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 로짓 결합 후 SCD 언어별 조정, 최종 답변 생성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CE2156-0D94-4A90-8945-63D647F5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84113" y="10772775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E01F6A-4A32-413B-9521-7918DB4C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84113" y="11887200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7D9FD6-FDBB-406A-925B-E58724AE1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2397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03 3요인 완전요인 실험 설계">
            <a:extLst xmlns:a="http://schemas.openxmlformats.org/drawingml/2006/main">
              <a:ext uri="{FF2B5EF4-FFF2-40B4-BE49-F238E27FC236}">
                <a16:creationId xmlns:a16="http://schemas.microsoft.com/office/drawing/2014/main" id="{2E9FFF74-D01F-477B-A0AE-DDF129C7D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2683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03 3요인 완전요인 실험 설계</a:t>
            </a:r>
          </a:p>
        </p:txBody>
      </p:sp>
      <p:sp>
        <p:nvSpPr>
          <p:cNvPr id="32" name="H=HyDE, C=CAD, S=SCD   0=미적용, 1=적용">
            <a:extLst xmlns:a="http://schemas.openxmlformats.org/drawingml/2006/main">
              <a:ext uri="{FF2B5EF4-FFF2-40B4-BE49-F238E27FC236}">
                <a16:creationId xmlns:a16="http://schemas.microsoft.com/office/drawing/2014/main" id="{34C524BD-CC4F-49EA-8EA5-DEA4BDC0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H=HyDE, C=CAD, S=SCD   0=미적용, 1=적용</a:t>
            </a:r>
          </a:p>
        </p:txBody>
      </p:sp>
      <p:graphicFrame>
        <p:nvGraphicFrame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1F3B7E-7A3D-4239-AF37-EC0FEA24504C}"/>
              </a:ext>
            </a:extLst>
          </p:cNvPr>
          <p:cNvGraphicFramePr/>
          <p:nvPr/>
        </p:nvGraphicFramePr>
        <p:xfrm>
          <a:off xmlns:a="http://schemas.openxmlformats.org/drawingml/2006/main" x="704850" y="14258925"/>
          <a:ext xmlns:a="http://schemas.openxmlformats.org/drawingml/2006/main" cx="9729975" cy="3086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5789"/>
                <a:gridCol w="1751396"/>
                <a:gridCol w="1751396"/>
                <a:gridCol w="1751396"/>
              </a:tblGrid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</a:tbl>
          </a:graphicData>
        </a:graphic>
      </p:graphicFrame>
      <p:sp>
        <p:nvSpPr>
          <p:cNvPr id="34" name="영어 문서 4종 × 15개 질의 × 8조건 = 480개 생성 기록">
            <a:extLst xmlns:a="http://schemas.openxmlformats.org/drawingml/2006/main">
              <a:ext uri="{FF2B5EF4-FFF2-40B4-BE49-F238E27FC236}">
                <a16:creationId xmlns:a16="http://schemas.microsoft.com/office/drawing/2014/main" id="{8ABD1371-57F2-4F0E-9515-12DDA86C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영어 문서 4종 × 15개 질의 × 8조건 = 480개 생성 기록</a:t>
            </a:r>
          </a:p>
        </p:txBody>
      </p:sp>
      <p:sp>
        <p:nvSpPr>
          <p:cNvPr id="35" name="생성 512토큰, CAD α=0.5, SCD α=1.1·β=0.9·Tstart=5">
            <a:extLst xmlns:a="http://schemas.openxmlformats.org/drawingml/2006/main">
              <a:ext uri="{FF2B5EF4-FFF2-40B4-BE49-F238E27FC236}">
                <a16:creationId xmlns:a16="http://schemas.microsoft.com/office/drawing/2014/main" id="{DBDC9228-3F26-49C9-B3E2-9ACDABA4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451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생성 512토큰, CAD α=0.5, SCD α=1.1·β=0.9·Tstart=5</a:t>
            </a:r>
          </a:p>
        </p:txBody>
      </p:sp>
      <p:sp>
        <p:nvSpPr>
          <p:cNvPr id="36" name="문서 요약을 15개 내용 단위로 나누어 질의를 작성하고, 총 60개 질의의 원문 페이지·정답 근거·답변 가능성을 확인">
            <a:extLst xmlns:a="http://schemas.openxmlformats.org/drawingml/2006/main">
              <a:ext uri="{FF2B5EF4-FFF2-40B4-BE49-F238E27FC236}">
                <a16:creationId xmlns:a16="http://schemas.microsoft.com/office/drawing/2014/main" id="{CD5B8F85-5A9F-4789-A3D3-96A2F05C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383250"/>
            <a:ext cx="97299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문서 요약을 15개 내용 단위로 나누어 질의를 작성하고,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총 60개 질의의 원문 페이지·정답 근거·답변 가능성을 확인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6463A9F-CD10-4165-9E08-F07C3B0E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1452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04 평가 지표 및 실험·통계 방법">
            <a:extLst xmlns:a="http://schemas.openxmlformats.org/drawingml/2006/main">
              <a:ext uri="{FF2B5EF4-FFF2-40B4-BE49-F238E27FC236}">
                <a16:creationId xmlns:a16="http://schemas.microsoft.com/office/drawing/2014/main" id="{870D92DD-FCF0-497E-995C-F7B732F9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1738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04 평가 지표 및 실험·통계 방법</a:t>
            </a:r>
          </a:p>
        </p:txBody>
      </p:sp>
      <p:sp>
        <p:nvSpPr>
          <p:cNvPr id="39" name="근거 충실도: 답변 주장 중 검색 근거가 뒷받침하는 비율 답변 관련성: 답변에서 만든 질문과 원질문의 의미 유사도 문">
            <a:extLst xmlns:a="http://schemas.openxmlformats.org/drawingml/2006/main">
              <a:ext uri="{FF2B5EF4-FFF2-40B4-BE49-F238E27FC236}">
                <a16:creationId xmlns:a16="http://schemas.microsoft.com/office/drawing/2014/main" id="{5AACAF04-929D-417B-811C-3FC11AD3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726275"/>
            <a:ext cx="972997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근거 충실도: 답변 주장 중 검색 근거가 뒷받침하는 비율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답변 관련성: 답변에서 만든 질문과 원질문의 의미 유사도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문맥 정밀도: 참조 답변에 유용한 구간의 상위 배치 정도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문맥 재현율: 참조 답변 주장을 검색 문맥이 포괄하는 비율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비율: 한글 / (한글 + ASCII 영문자)</a:t>
            </a:r>
          </a:p>
        </p:txBody>
      </p:sp>
      <p:sp>
        <p:nvSpPr>
          <p:cNvPr id="40" name="품질 지표는 높을수록 해당 평가 항목의 점수가 높다. 한국어 비율 0.700은 계산 대상 문자 중 한글이 70.0%다">
            <a:extLst xmlns:a="http://schemas.openxmlformats.org/drawingml/2006/main">
              <a:ext uri="{FF2B5EF4-FFF2-40B4-BE49-F238E27FC236}">
                <a16:creationId xmlns:a16="http://schemas.microsoft.com/office/drawing/2014/main" id="{9F6F5B5D-90A2-46A2-9E8B-953C7D10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74100"/>
            <a:ext cx="97299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 지표는 높을수록 해당 평가 항목의 점수가 높다.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 0.700은 계산 대상 문자 중 한글이 70.0%다.</a:t>
            </a:r>
          </a:p>
        </p:txBody>
      </p:sp>
      <p:sp>
        <p:nvSpPr>
          <p:cNvPr id="41" name="평가 예시  ext_raptor_011, H0C0S0">
            <a:extLst xmlns:a="http://schemas.openxmlformats.org/drawingml/2006/main">
              <a:ext uri="{FF2B5EF4-FFF2-40B4-BE49-F238E27FC236}">
                <a16:creationId xmlns:a16="http://schemas.microsoft.com/office/drawing/2014/main" id="{C214F9D5-C9F1-4726-8E58-7129DA8B1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136100"/>
            <a:ext cx="97299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 예시  ext_raptor_011, H0C0S0</a:t>
            </a:r>
          </a:p>
        </p:txBody>
      </p:sp>
      <p:sp>
        <p:nvSpPr>
          <p:cNvPr id="42" name="질문: Cinderella 사례의 정성 분석에서 RAPTOR의 tree-based retrieval이 DPR보다 주제">
            <a:extLst xmlns:a="http://schemas.openxmlformats.org/drawingml/2006/main">
              <a:ext uri="{FF2B5EF4-FFF2-40B4-BE49-F238E27FC236}">
                <a16:creationId xmlns:a16="http://schemas.microsoft.com/office/drawing/2014/main" id="{FCD1C6FC-64B9-4F50-BF51-2F678A6B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526625"/>
            <a:ext cx="9729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질문: Cinderella 사례의 정성 분석에서 RAPTOR의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tree-based retrieval이 DPR보다 주제형·멀티홉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질문에 유리했던 이유는 무엇입니까?</a:t>
            </a:r>
          </a:p>
        </p:txBody>
      </p:sp>
      <p:sp>
        <p:nvSpPr>
          <p:cNvPr id="43" name="검색 근거(발췌): “within higher-layer summaries” 참조답변(발췌): “The text re">
            <a:extLst xmlns:a="http://schemas.openxmlformats.org/drawingml/2006/main">
              <a:ext uri="{FF2B5EF4-FFF2-40B4-BE49-F238E27FC236}">
                <a16:creationId xmlns:a16="http://schemas.microsoft.com/office/drawing/2014/main" id="{08711F5A-89B8-432E-9E4C-8D6D72EF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517225"/>
            <a:ext cx="972997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근거(발췌): “within higher-layer summaries”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참조답변(발췌): “The text retrieved by RAPTOR”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생성 답변(발췌): “RAPTOR는 계층적 구조를 통해”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평가: 충실도 1.000, 관련성 0.937</a:t>
            </a:r>
          </a:p>
        </p:txBody>
      </p:sp>
      <p:sp>
        <p:nvSpPr>
          <p:cNvPr id="44" name="평가: RAGAS 0.2.15[10], gpt-4o, BGE-M3 임베딩 S0: 영어 문맥 / S1: 한국어 번역 평">
            <a:extLst xmlns:a="http://schemas.openxmlformats.org/drawingml/2006/main">
              <a:ext uri="{FF2B5EF4-FFF2-40B4-BE49-F238E27FC236}">
                <a16:creationId xmlns:a16="http://schemas.microsoft.com/office/drawing/2014/main" id="{6A543F83-BE8E-48E4-A422-BEB5E8BE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831675"/>
            <a:ext cx="97299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평가: RAGAS 0.2.15[10], gpt-4o, BGE-M3 임베딩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S0: 영어 문맥 / S1: 한국어 번역 평가 문맥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생성에는 영어 문맥 사용, 저장 답변은 그대로 평가</a:t>
            </a:r>
          </a:p>
        </p:txBody>
      </p:sp>
      <p:sp>
        <p:nvSpPr>
          <p:cNvPr id="45" name="질의 60개 반복측정, 양측 α=0.05와 Holm 보정 품질: S0·S1별 H×C / 문자 비율·시간: H×C×S ">
            <a:extLst xmlns:a="http://schemas.openxmlformats.org/drawingml/2006/main">
              <a:ext uri="{FF2B5EF4-FFF2-40B4-BE49-F238E27FC236}">
                <a16:creationId xmlns:a16="http://schemas.microsoft.com/office/drawing/2014/main" id="{2E0962B1-7677-4BBC-A751-07244323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822275"/>
            <a:ext cx="9729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질의 60개 반복측정, 양측 α=0.05와 Holm 보정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품질: S0·S1별 H×C / 문자 비율·시간: H×C×S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 120·240쌍은 질의별 평균 차이 60개로 검정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5740A54-FC67-4064-B93A-1FDCAED5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347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05 조합별 결과와 통계 검정">
            <a:extLst xmlns:a="http://schemas.openxmlformats.org/drawingml/2006/main">
              <a:ext uri="{FF2B5EF4-FFF2-40B4-BE49-F238E27FC236}">
                <a16:creationId xmlns:a16="http://schemas.microsoft.com/office/drawing/2014/main" id="{E92846A7-2771-46E6-AB33-C13BAB85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350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05 조합별 결과와 통계 검정</a:t>
            </a:r>
          </a:p>
        </p:txBody>
      </p:sp>
      <p:sp>
        <p:nvSpPr>
          <p:cNvPr id="48" name="8조건 평균(SD)  ·  시간 단위: 초">
            <a:extLst xmlns:a="http://schemas.openxmlformats.org/drawingml/2006/main">
              <a:ext uri="{FF2B5EF4-FFF2-40B4-BE49-F238E27FC236}">
                <a16:creationId xmlns:a16="http://schemas.microsoft.com/office/drawing/2014/main" id="{05EA8B5D-47F9-4A84-9E68-A2A1E9932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40957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8조건 평균(SD)  ·  시간 단위: 초</a:t>
            </a:r>
          </a:p>
        </p:txBody>
      </p:sp>
      <p:graphicFrame>
        <p:nvGraphicFrame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C39739E-DBAB-49BE-8896-35CFEB8B86C8}"/>
              </a:ext>
            </a:extLst>
          </p:cNvPr>
          <p:cNvGraphicFramePr/>
          <p:nvPr/>
        </p:nvGraphicFramePr>
        <p:xfrm>
          <a:off xmlns:a="http://schemas.openxmlformats.org/drawingml/2006/main" x="10949175" y="4610100"/>
          <a:ext xmlns:a="http://schemas.openxmlformats.org/drawingml/2006/main" cx="9729975" cy="617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56796"/>
                <a:gridCol w="1362197"/>
                <a:gridCol w="1362197"/>
                <a:gridCol w="1362197"/>
                <a:gridCol w="1362197"/>
                <a:gridCol w="1362197"/>
                <a:gridCol w="1362197"/>
              </a:tblGrid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충실도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관련성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정밀도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재현율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비율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0.791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0.683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0.749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0.933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0.494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20.792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(23.404)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0.787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0.637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0.763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0.699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(0.329)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18.898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(5.085)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0.839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0.675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0.740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0.917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0.488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(0.245)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63.867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(25.312)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0.777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0.600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(0.321)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0.752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0.850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(0.360)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0.719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55.159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(26.465)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0.834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(0.186)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0.763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0.714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0.933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0.556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23.440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(4.707)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0.822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0.710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0.743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0.807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24.892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(5.196)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0.860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(0.181)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0.705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(0.248)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0.736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0.503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(0.229)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73.532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(21.584)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0.831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0.667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0.754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0.917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0.731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64.125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(21.675)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</a:tbl>
          </a:graphicData>
        </a:graphic>
      </p:graphicFrame>
      <p:sp>
        <p:nvSpPr>
          <p:cNvPr id="50" name="S0: 영어 평가 문맥 / S1: 한국어 번역 평가 문맥 충실도 H0C1S0 n=58, H0C0S1 n=57, 나머지">
            <a:extLst xmlns:a="http://schemas.openxmlformats.org/drawingml/2006/main">
              <a:ext uri="{FF2B5EF4-FFF2-40B4-BE49-F238E27FC236}">
                <a16:creationId xmlns:a16="http://schemas.microsoft.com/office/drawing/2014/main" id="{90F47361-498C-4A6C-B013-BC1CA2DD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0963275"/>
            <a:ext cx="9729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S0: 영어 평가 문맥 / S1: 한국어 번역 평가 문맥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충실도 H0C1S0 n=58, H0C0S1 n=57, 나머지 n=60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비율과 시간은 생성 기록에서 직접 계산</a:t>
            </a:r>
          </a:p>
        </p:txBody>
      </p:sp>
      <p:sp>
        <p:nvSpPr>
          <p:cNvPr id="51" name="3요인 반복측정 ANOVA  ·  각 효과 df=(1,59)">
            <a:extLst xmlns:a="http://schemas.openxmlformats.org/drawingml/2006/main">
              <a:ext uri="{FF2B5EF4-FFF2-40B4-BE49-F238E27FC236}">
                <a16:creationId xmlns:a16="http://schemas.microsoft.com/office/drawing/2014/main" id="{83BB8F76-AA8F-42D8-B2B9-13C6CC65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21158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3요인 반복측정 ANOVA  ·  각 효과 df=(1,59)</a:t>
            </a:r>
          </a:p>
        </p:txBody>
      </p:sp>
      <p:graphicFrame>
        <p:nvGraphicFrame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43BD973-A8F2-4949-8BFA-9FECF1F89D13}"/>
              </a:ext>
            </a:extLst>
          </p:cNvPr>
          <p:cNvGraphicFramePr/>
          <p:nvPr/>
        </p:nvGraphicFramePr>
        <p:xfrm>
          <a:off xmlns:a="http://schemas.openxmlformats.org/drawingml/2006/main" x="10949175" y="12601575"/>
          <a:ext xmlns:a="http://schemas.openxmlformats.org/drawingml/2006/main" cx="9729975" cy="4010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48695"/>
                <a:gridCol w="2140595"/>
                <a:gridCol w="1751396"/>
                <a:gridCol w="2140595"/>
                <a:gridCol w="1848695"/>
              </a:tblGrid>
              <a:tr h="6096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요인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 비율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보정 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 시간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보정 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2.924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0.370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16.362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3.365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0.358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423.765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341.302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6.097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0.066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H×C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4.417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0.239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2.262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0.414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0.771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0.940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0.976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0.940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12.080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H×C×S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1.035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0.940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0.976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문자 비율·시간은 각각 7검정에 Holm 보정. RAGAS H×C 검정은 평가 문맥 언어별로 수행했으며, 전체 24검">
            <a:extLst xmlns:a="http://schemas.openxmlformats.org/drawingml/2006/main">
              <a:ext uri="{FF2B5EF4-FFF2-40B4-BE49-F238E27FC236}">
                <a16:creationId xmlns:a16="http://schemas.microsoft.com/office/drawing/2014/main" id="{C174F881-E4E6-457C-8F82-705414592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6764000"/>
            <a:ext cx="9729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문자 비율·시간은 각각 7검정에 Holm 보정.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RAGAS H×C 검정은 평가 문맥 언어별로 수행했으며,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전체 24검정의 Holm 보정 p는 모두 0.05 이상이었다.</a:t>
            </a:r>
          </a:p>
        </p:txBody>
      </p:sp>
      <p:sp>
        <p:nvSpPr>
          <p:cNvPr id="54" name="기법별 대응 비교  ·  질의별 평균 차이, 양측 검정">
            <a:extLst xmlns:a="http://schemas.openxmlformats.org/drawingml/2006/main">
              <a:ext uri="{FF2B5EF4-FFF2-40B4-BE49-F238E27FC236}">
                <a16:creationId xmlns:a16="http://schemas.microsoft.com/office/drawing/2014/main" id="{E1F10C66-E739-49DF-BEF6-FE12456A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78117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기법별 대응 비교  ·  질의별 평균 차이, 양측 검정</a:t>
            </a:r>
          </a:p>
        </p:txBody>
      </p:sp>
      <p:graphicFrame>
        <p:nvGraphicFrame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38A0D3C-B710-4187-8F4E-F5B3E7B318AF}"/>
              </a:ext>
            </a:extLst>
          </p:cNvPr>
          <p:cNvGraphicFramePr/>
          <p:nvPr/>
        </p:nvGraphicFramePr>
        <p:xfrm>
          <a:off xmlns:a="http://schemas.openxmlformats.org/drawingml/2006/main" x="10949175" y="18316575"/>
          <a:ext xmlns:a="http://schemas.openxmlformats.org/drawingml/2006/main" cx="9729975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32494"/>
                <a:gridCol w="2237894"/>
                <a:gridCol w="1945995"/>
                <a:gridCol w="1556796"/>
                <a:gridCol w="1556796"/>
              </a:tblGrid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비교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(SD)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t(df)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보정 전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보정 후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HyDE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 관련성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0.080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2.236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0.117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CAD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 충실도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0.029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0.862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0.393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1.000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SCD H0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 비율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0.218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(0.121)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13.951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HyDE: C0S0, CAD: H0S0, SCD: H0의 CAD 상태 평균 보정: HyDE·CAD 각 4지표, SCD">
            <a:extLst xmlns:a="http://schemas.openxmlformats.org/drawingml/2006/main">
              <a:ext uri="{FF2B5EF4-FFF2-40B4-BE49-F238E27FC236}">
                <a16:creationId xmlns:a16="http://schemas.microsoft.com/office/drawing/2014/main" id="{47A458AB-321E-41C9-97A7-D310CE51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1678900"/>
            <a:ext cx="97299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C0S0, CAD: H0S0, SCD: H0의 CAD 상태 평균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보정: HyDE·CAD 각 4지표, SCD 주·전체 비교 2검정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 차이 +0.218은 한글 비중 +21.8%p에 해당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BDAFB7E-4142-4AD9-A0D2-D8075ED73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281237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06 결과 해석">
            <a:extLst xmlns:a="http://schemas.openxmlformats.org/drawingml/2006/main">
              <a:ext uri="{FF2B5EF4-FFF2-40B4-BE49-F238E27FC236}">
                <a16:creationId xmlns:a16="http://schemas.microsoft.com/office/drawing/2014/main" id="{A0915C9A-CCAB-45C6-97C3-15F2B082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2284095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06 결과 해석</a:t>
            </a:r>
          </a:p>
        </p:txBody>
      </p:sp>
      <p:sp>
        <p:nvSpPr>
          <p:cNvPr id="59" name="HyDE 관련성은 양의 평균 차이, 보정 후 p=0.117. CAD 충실도는 질의별 증가와 감소가 함께 관찰됨. SC">
            <a:extLst xmlns:a="http://schemas.openxmlformats.org/drawingml/2006/main">
              <a:ext uri="{FF2B5EF4-FFF2-40B4-BE49-F238E27FC236}">
                <a16:creationId xmlns:a16="http://schemas.microsoft.com/office/drawing/2014/main" id="{F09B36BA-163C-4AFF-8FC9-C97742F5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3336250"/>
            <a:ext cx="972997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관련성은 양의 평균 차이, 보정 후 p=0.117.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 충실도는 질의별 증가와 감소가 함께 관찰됨.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 한글 비중은 주·전체 비교 모두 보정 p&lt;0.001.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ON: T=0.1, top_p=0.9, 검색 문맥 차이 포함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8E057C2-9478-4A8A-955E-8B1CBBA7D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468880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07 결론">
            <a:extLst xmlns:a="http://schemas.openxmlformats.org/drawingml/2006/main">
              <a:ext uri="{FF2B5EF4-FFF2-40B4-BE49-F238E27FC236}">
                <a16:creationId xmlns:a16="http://schemas.microsoft.com/office/drawing/2014/main" id="{81656940-B69C-43F2-8EB9-3913A797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2471737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07 결론</a:t>
            </a:r>
          </a:p>
        </p:txBody>
      </p:sp>
      <p:sp>
        <p:nvSpPr>
          <p:cNvPr id="62" name="세 기법의 작동 단계에 따라 품질·언어·비용을 구분했다. SCD는 한국어 문자 비율을 높였고, 실행 시간에서는 HyD">
            <a:extLst xmlns:a="http://schemas.openxmlformats.org/drawingml/2006/main">
              <a:ext uri="{FF2B5EF4-FFF2-40B4-BE49-F238E27FC236}">
                <a16:creationId xmlns:a16="http://schemas.microsoft.com/office/drawing/2014/main" id="{E2F1D751-EDAE-4A91-9EA4-1D4000CB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5288875"/>
            <a:ext cx="972997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세 기법의 작동 단계에 따라 품질·언어·비용을 구분했다.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SCD는 한국어 문자 비율을 높였고, 실행 시간에서는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HyDE·CAD 주효과와 CAD×SCD 상호작용을 확인했다.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적용 조건은 목표 언어, 품질 결과와 허용 시간으로 비교한다.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A264F1A-D0EB-4347-92B4-C70080C1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051000"/>
            <a:ext cx="1997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08 주요 참고문헌">
            <a:extLst xmlns:a="http://schemas.openxmlformats.org/drawingml/2006/main">
              <a:ext uri="{FF2B5EF4-FFF2-40B4-BE49-F238E27FC236}">
                <a16:creationId xmlns:a16="http://schemas.microsoft.com/office/drawing/2014/main" id="{3B431690-7240-47DC-8B88-70F601179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79575"/>
            <a:ext cx="19783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08 주요 참고문헌</a:t>
            </a:r>
          </a:p>
        </p:txBody>
      </p:sp>
      <p:sp>
        <p:nvSpPr>
          <p:cNvPr id="65" name="[1] Lewis et al. RAG. NeurIPS, 2020. [2] Gao et al. HyDE. ACL, 20">
            <a:extLst xmlns:a="http://schemas.openxmlformats.org/drawingml/2006/main">
              <a:ext uri="{FF2B5EF4-FFF2-40B4-BE49-F238E27FC236}">
                <a16:creationId xmlns:a16="http://schemas.microsoft.com/office/drawing/2014/main" id="{D90A6E35-5D8C-4370-9D84-F2298825C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60600"/>
            <a:ext cx="97299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[1] Lewis et al. RAG. NeurIPS, 2020.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[2] Gao et al. HyDE. ACL, 2023.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[3] Shi et al. Context-Aware Decoding. NAACL, 2024.</a:t>
            </a:r>
          </a:p>
        </p:txBody>
      </p:sp>
      <p:sp>
        <p:nvSpPr>
          <p:cNvPr id="66" name="[4] Li et al. Language Drift and SCD. AAAI, 2026. [5] Chen et al.">
            <a:extLst xmlns:a="http://schemas.openxmlformats.org/drawingml/2006/main">
              <a:ext uri="{FF2B5EF4-FFF2-40B4-BE49-F238E27FC236}">
                <a16:creationId xmlns:a16="http://schemas.microsoft.com/office/drawing/2014/main" id="{5B727E51-19D1-4AA4-8801-D16723CD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7660600"/>
            <a:ext cx="97299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[4] Li et al. Language Drift and SCD. AAAI, 2026.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[5] Chen et al. M3-Embedding. ACL Findings, 2024.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[10] Es et al. RAGAs. EACL Demonstrations, 2024.</a:t>
            </a:r>
          </a:p>
        </p:txBody>
      </p:sp>
      <p:sp>
        <p:nvSpPr>
          <p:cNvPr id="67" name="전체 22편과 통계 상세표·결측·민감도 분석은 동봉 자료에 수록">
            <a:extLst xmlns:a="http://schemas.openxmlformats.org/drawingml/2006/main">
              <a:ext uri="{FF2B5EF4-FFF2-40B4-BE49-F238E27FC236}">
                <a16:creationId xmlns:a16="http://schemas.microsoft.com/office/drawing/2014/main" id="{F7B9696B-B411-40BE-BCD7-6B46350C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908375"/>
            <a:ext cx="19974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전체 22편과 통계 상세표·결측·민감도 분석은 동봉 자료에 수록</a:t>
            </a:r>
          </a:p>
        </p:txBody>
      </p:sp>
      <p:sp>
        <p:nvSpPr>
          <p:cNvPr id="68" name="영어 문서 4종 · 질의 60개 · 생성 모델 1종 · 질의별 반복측정">
            <a:extLst xmlns:a="http://schemas.openxmlformats.org/drawingml/2006/main">
              <a:ext uri="{FF2B5EF4-FFF2-40B4-BE49-F238E27FC236}">
                <a16:creationId xmlns:a16="http://schemas.microsoft.com/office/drawing/2014/main" id="{76112FBE-EF47-4F08-891D-65A50C2D5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432250"/>
            <a:ext cx="19974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rPr>
              <a:t>영어 문서 4종 · 질의 60개 · 생성 모델 1종 · 질의별 반복측정</a:t>
            </a:r>
          </a:p>
        </p:txBody>
      </p:sp>
      <p:sp>
        <p:nvSpPr>
          <p:cNvPr id="69" name="A1 594 × 841 mm">
            <a:extLst xmlns:a="http://schemas.openxmlformats.org/drawingml/2006/main">
              <a:ext uri="{FF2B5EF4-FFF2-40B4-BE49-F238E27FC236}">
                <a16:creationId xmlns:a16="http://schemas.microsoft.com/office/drawing/2014/main" id="{23C17327-8E6D-4FEE-A794-D4711E1F3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889450"/>
            <a:ext cx="19974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rPr>
              <a:t>A1 594 × 841 mm</a:t>
            </a:r>
          </a:p>
        </p:txBody>
      </p:sp>
    </p:spTree>
    <p:extLst>
      <p:ext uri="{BB962C8B-B14F-4D97-AF65-F5344CB8AC3E}">
        <p14:creationId xmlns:p14="http://schemas.microsoft.com/office/powerpoint/2010/main" val="8844067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2026-10-15T12:06:27.3630000Z</dcterms:created>
  <dcterms:modified xsi:type="dcterms:W3CDTF">2026-10-15T12:06:27.3630000Z</dcterms:modified>
</coreProperties>
</file>