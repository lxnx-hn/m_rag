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54750fff24833" /><Relationship Type="http://schemas.openxmlformats.org/officeDocument/2006/relationships/extended-properties" Target="/docProps/app.xml" Id="R460aeb7e10bd4f67" /><Relationship Type="http://schemas.openxmlformats.org/officeDocument/2006/relationships/officeDocument" Target="/ppt/presentation.xml" Id="Rdb2cb75497cd49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cdf025835b4cc7"/>
  </p:sldMasterIdLst>
  <p:notesMasterIdLst>
    <p:notesMasterId xmlns:r="http://schemas.openxmlformats.org/officeDocument/2006/relationships" r:id="R1a10d38d154247d3"/>
  </p:notesMasterIdLst>
  <p:sldIdLst>
    <p:sldId xmlns:r="http://schemas.openxmlformats.org/officeDocument/2006/relationships" id="256" r:id="R311e838784fc4b00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9691e12ceb42a2" /><Relationship Type="http://schemas.openxmlformats.org/officeDocument/2006/relationships/slideMaster" Target="/ppt/slideMasters/slideMaster1.xml" Id="R25cdf025835b4cc7" /><Relationship Type="http://schemas.openxmlformats.org/officeDocument/2006/relationships/notesMaster" Target="/ppt/notesMasters/notesMaster1.xml" Id="R1a10d38d154247d3" /><Relationship Type="http://schemas.openxmlformats.org/officeDocument/2006/relationships/presProps" Target="/ppt/presProps.xml" Id="R01b103defe1b4a8b" /><Relationship Type="http://schemas.openxmlformats.org/officeDocument/2006/relationships/tableStyles" Target="/ppt/tableStyles.xml" Id="R1c72181842cc4e63" /><Relationship Type="http://schemas.openxmlformats.org/officeDocument/2006/relationships/slide" Target="/ppt/slides/slide1.xml" Id="R311e838784fc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403f2598840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510e44589a4551" /><Relationship Type="http://schemas.openxmlformats.org/officeDocument/2006/relationships/notesMaster" Target="/ppt/notesMasters/notesMaster1.xml" Id="R3320a1195be9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 and full statistics: FINALDOCS/DATA/FACTORIAL_STATISTICS_60Q.json; FINALDOCS/MANUSCRIPT/GRADUATION_REPORT_TRANSFER_KO_60Q.md. The exploratory analysis uses query-level repeated measures and Holm-adjusted hypothesis families. Editable tables follow explicit data-type alignment. Reference [4] https://arxiv.org/abs/2511.09984; references follow manuscript numbering.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61bb5d55445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5183e3d42841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3325655b346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6999423294b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2e0c7ed794f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7d2fe37eb41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F1CA28-601E-4D25-98C6-8FF66D38F9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1437600"/>
            <a:ext cx="17107200" cy="43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7DE18A-30B9-4804-8197-E472CDEA4A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600" y="16651800"/>
            <a:ext cx="14968800" cy="33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3753AE-4691-41CA-A1F5-E3AEEAB94F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2615000"/>
            <a:ext cx="17107200" cy="50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9D13B0-039E-4B8D-92D3-62731AAF7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0B5E39-825F-4FB8-85B8-CDF8E33E3E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189783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05C5A84-E02D-4899-B073-7349CA25A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6BC174-9CCD-4251-AE15-6AB6B7BB6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3EBC97-C82E-42F7-8F90-6BA5FE89BD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2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2EA17B-ACC9-4B1D-9FFA-AC1C094FF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449F82-FF4A-4DDA-8202-2A38B4F4FF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e1f2c9a8e41a1" /><Relationship Type="http://schemas.openxmlformats.org/officeDocument/2006/relationships/slideLayout" Target="/ppt/slideLayouts/slideLayout1.xml" Id="R4dda2c8629464ceb" /><Relationship Type="http://schemas.openxmlformats.org/officeDocument/2006/relationships/slideLayout" Target="/ppt/slideLayouts/slideLayout2.xml" Id="Rc74016f17898430f" /><Relationship Type="http://schemas.openxmlformats.org/officeDocument/2006/relationships/slideLayout" Target="/ppt/slideLayouts/slideLayout3.xml" Id="R59a69b171cb249d6" /><Relationship Type="http://schemas.openxmlformats.org/officeDocument/2006/relationships/slideLayout" Target="/ppt/slideLayouts/slideLayout4.xml" Id="R3b4877f22e024747" /><Relationship Type="http://schemas.openxmlformats.org/officeDocument/2006/relationships/slideLayout" Target="/ppt/slideLayouts/slideLayout5.xml" Id="Rb034b9c1f4d7491b" /><Relationship Type="http://schemas.openxmlformats.org/officeDocument/2006/relationships/slideLayout" Target="/ppt/slideLayouts/slideLayout6.xml" Id="R6cf200f90307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da2c8629464ceb"/>
    <p:sldLayoutId xmlns:r="http://schemas.openxmlformats.org/officeDocument/2006/relationships" id="2147483650" r:id="Rc74016f17898430f"/>
    <p:sldLayoutId xmlns:r="http://schemas.openxmlformats.org/officeDocument/2006/relationships" id="2147483651" r:id="R59a69b171cb249d6"/>
    <p:sldLayoutId xmlns:r="http://schemas.openxmlformats.org/officeDocument/2006/relationships" id="2147483652" r:id="R3b4877f22e024747"/>
    <p:sldLayoutId xmlns:r="http://schemas.openxmlformats.org/officeDocument/2006/relationships" id="2147483653" r:id="Rb034b9c1f4d7491b"/>
    <p:sldLayoutId xmlns:r="http://schemas.openxmlformats.org/officeDocument/2006/relationships" id="2147483654" r:id="R6cf200f90307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5d0e7212a4226" /><Relationship Type="http://schemas.openxmlformats.org/officeDocument/2006/relationships/notesSlide" Target="/ppt/notesSlides/notesSlide1.xml" Id="R4ecc3e6aa101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5823C3-23EA-486F-A14C-FF18F9FC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한국어 질의로 영어 학술·기술 문서를 검색하는">
            <a:extLst xmlns:a="http://schemas.openxmlformats.org/drawingml/2006/main">
              <a:ext uri="{FF2B5EF4-FFF2-40B4-BE49-F238E27FC236}">
                <a16:creationId xmlns:a16="http://schemas.microsoft.com/office/drawing/2014/main" id="{EC04968A-A661-41B5-97E0-DBC56404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질의로 영어 학술·기술 문서를 검색하는</a:t>
            </a:r>
          </a:p>
        </p:txBody>
      </p:sp>
      <p:sp>
        <p:nvSpPr>
          <p:cNvPr id="3" name="RAG에서의 HyDE·CAD·SCD 조합 실험">
            <a:extLst xmlns:a="http://schemas.openxmlformats.org/drawingml/2006/main">
              <a:ext uri="{FF2B5EF4-FFF2-40B4-BE49-F238E27FC236}">
                <a16:creationId xmlns:a16="http://schemas.microsoft.com/office/drawing/2014/main" id="{F446C877-BCE2-41A9-A986-BC8E96D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RAG에서의 HyDE·CAD·SCD 조합 실험</a:t>
            </a:r>
          </a:p>
        </p:txBody>
      </p:sp>
      <p:sp>
        <p:nvSpPr>
          <p:cNvPr id="4" name="문종건 · 동국대학교 WISE캠퍼스 컴퓨터공학과 · 지도교수 김진석 · 2026.10.15">
            <a:extLst xmlns:a="http://schemas.openxmlformats.org/drawingml/2006/main">
              <a:ext uri="{FF2B5EF4-FFF2-40B4-BE49-F238E27FC236}">
                <a16:creationId xmlns:a16="http://schemas.microsoft.com/office/drawing/2014/main" id="{4DCDC5CB-A832-4692-8720-66DA5325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031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문종건 · 동국대학교 WISE캠퍼스 컴퓨터공학과 · 지도교수 김진석 · 2026.10.15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C276D-D979-4B92-B732-77454A6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 연구 배경과 목적">
            <a:extLst xmlns:a="http://schemas.openxmlformats.org/drawingml/2006/main">
              <a:ext uri="{FF2B5EF4-FFF2-40B4-BE49-F238E27FC236}">
                <a16:creationId xmlns:a16="http://schemas.microsoft.com/office/drawing/2014/main" id="{3FB551B7-90E5-49FC-A63E-81C6C6F5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연구 배경과 목적</a:t>
            </a:r>
          </a:p>
        </p:txBody>
      </p:sp>
      <p:sp>
        <p:nvSpPr>
          <p:cNvPr id="7" name="RAG는 질문과 관련된 문서 구간을 검색하고, 그 텍스트를 생성 모델에 제공해 답변을 만든다[1].">
            <a:extLst xmlns:a="http://schemas.openxmlformats.org/drawingml/2006/main">
              <a:ext uri="{FF2B5EF4-FFF2-40B4-BE49-F238E27FC236}">
                <a16:creationId xmlns:a16="http://schemas.microsoft.com/office/drawing/2014/main" id="{517D2337-F1C6-4E16-9927-400AE51A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972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RAG는 질문과 관련된 문서 구간을 검색하고,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그 텍스트를 생성 모델에 제공해 답변을 만든다[1].</a:t>
            </a:r>
          </a:p>
        </p:txBody>
      </p:sp>
      <p:sp>
        <p:nvSpPr>
          <p:cNvPr id="8" name="HyDE: Hypothetical Document Embeddings[2] CAD: Context-Aware Deco">
            <a:extLst xmlns:a="http://schemas.openxmlformats.org/drawingml/2006/main">
              <a:ext uri="{FF2B5EF4-FFF2-40B4-BE49-F238E27FC236}">
                <a16:creationId xmlns:a16="http://schemas.microsoft.com/office/drawing/2014/main" id="{DECE8374-0FED-430E-95AB-2AD96C0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97299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Hypothetical Document Embeddings[2]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CAD: Context-Aware Decoding[3]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SCD: Soft Constrained Decoding[4]</a:t>
            </a:r>
          </a:p>
        </p:txBody>
      </p:sp>
      <p:sp>
        <p:nvSpPr>
          <p:cNvPr id="9" name="본 연구는 한국어 질의로 영어 문서를 검색하는 RAG에서 검색 결과, 답변의 근거 충실도 및 출력 언어를 평가한다. ">
            <a:extLst xmlns:a="http://schemas.openxmlformats.org/drawingml/2006/main">
              <a:ext uri="{FF2B5EF4-FFF2-40B4-BE49-F238E27FC236}">
                <a16:creationId xmlns:a16="http://schemas.microsoft.com/office/drawing/2014/main" id="{60ECDB5A-7CE7-4515-BF78-448231C7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97299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본 연구는 한국어 질의로 영어 문서를 검색하는 RAG에서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결과, 답변의 근거 충실도 및 출력 언어를 평가한다.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같은 파이프라인에서 세 기법의 8개 조합을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F2623-5C6A-47A8-A02A-5852CA9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28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 Paper-RAG 구조와 기법 적용 위치">
            <a:extLst xmlns:a="http://schemas.openxmlformats.org/drawingml/2006/main">
              <a:ext uri="{FF2B5EF4-FFF2-40B4-BE49-F238E27FC236}">
                <a16:creationId xmlns:a16="http://schemas.microsoft.com/office/drawing/2014/main" id="{831A511A-EBAF-4552-8060-1250B889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Paper-RAG 구조와 기법 적용 위치</a:t>
            </a:r>
          </a:p>
        </p:txBody>
      </p:sp>
      <p:sp>
        <p:nvSpPr>
          <p:cNvPr id="12" name="Paper-RAG는 본 연구의 고정 검색·생성 파이프라인이다.">
            <a:extLst xmlns:a="http://schemas.openxmlformats.org/drawingml/2006/main">
              <a:ext uri="{FF2B5EF4-FFF2-40B4-BE49-F238E27FC236}">
                <a16:creationId xmlns:a16="http://schemas.microsoft.com/office/drawing/2014/main" id="{3E012770-4A2F-4642-A875-47E36DBF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72425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Paper-RAG는 본 연구의 고정 검색·생성 파이프라인이다.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824F8-68EE-479D-AFCE-1BD54F4C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4" name="한국어 질의 HyDE OFF: 원질의 HyDE ON: 영어 번역·가상 문서">
            <a:extLst xmlns:a="http://schemas.openxmlformats.org/drawingml/2006/main">
              <a:ext uri="{FF2B5EF4-FFF2-40B4-BE49-F238E27FC236}">
                <a16:creationId xmlns:a16="http://schemas.microsoft.com/office/drawing/2014/main" id="{C543CEB6-22AE-4AB7-8E39-E239E36A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OFF: 원질의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ON: 영어 번역·가상 문서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59CB5-7758-4951-A4CA-8D2264BB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16" name="BM25 희소 검색[6] 한국어 원질의 사용">
            <a:extLst xmlns:a="http://schemas.openxmlformats.org/drawingml/2006/main">
              <a:ext uri="{FF2B5EF4-FFF2-40B4-BE49-F238E27FC236}">
                <a16:creationId xmlns:a16="http://schemas.microsoft.com/office/drawing/2014/main" id="{A77C4F8B-7DA6-49F3-8FAC-00F5273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BM25 희소 검색[6]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원질의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DEDB0E-41D7-449B-83C9-78C45206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63150"/>
            <a:ext cx="465543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8" name="BGE-M3 밀집 검색[5]">
            <a:extLst xmlns:a="http://schemas.openxmlformats.org/drawingml/2006/main">
              <a:ext uri="{FF2B5EF4-FFF2-40B4-BE49-F238E27FC236}">
                <a16:creationId xmlns:a16="http://schemas.microsoft.com/office/drawing/2014/main" id="{5D1E9E6D-5626-4A39-97D8-29CF600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77450"/>
            <a:ext cx="45030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BGE-M3 밀집 검색[5]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6FDBD-685C-4542-928C-F6787244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9963150"/>
            <a:ext cx="46554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0" name="가중 RRF[7] 0.6 / 0.4, k=60">
            <a:extLst xmlns:a="http://schemas.openxmlformats.org/drawingml/2006/main">
              <a:ext uri="{FF2B5EF4-FFF2-40B4-BE49-F238E27FC236}">
                <a16:creationId xmlns:a16="http://schemas.microsoft.com/office/drawing/2014/main" id="{D0421307-ED85-4229-9A2D-3D7C4663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10077450"/>
            <a:ext cx="45030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가중 RRF[7]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0.6 / 0.4, k=60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15A48-CEDF-403D-B838-4D6EEE98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46844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872F7-8A69-483B-8C90-0E2720D8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88" y="10115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7BF00-3B43-4235-85DA-6EC1DA68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21381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CD39A-D53C-4D2B-89B2-53B8563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10900"/>
            <a:ext cx="9729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5" name="원질의 기반 CrossEncoder 재정렬[8] 상위 5개 구간 선택·문맥 길이 관리">
            <a:extLst xmlns:a="http://schemas.openxmlformats.org/drawingml/2006/main">
              <a:ext uri="{FF2B5EF4-FFF2-40B4-BE49-F238E27FC236}">
                <a16:creationId xmlns:a16="http://schemas.microsoft.com/office/drawing/2014/main" id="{20D7C720-0DBA-4A27-B83E-5DDC97C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125200"/>
            <a:ext cx="9577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원질의 기반 CrossEncoder 재정렬[8]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상위 5개 구간 선택·문맥 길이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0B20FC-CF7A-4558-8780-ABD3853C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34850"/>
            <a:ext cx="97299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16846F"/>
            </a:solidFill>
            <a:prstDash val="solid"/>
          </a:ln>
        </p:spPr>
      </p:sp>
      <p:sp>
        <p:nvSpPr>
          <p:cNvPr id="27" name="Mi:dm 2.0 Base Instruct[18] CAD 로짓 결합 후 SCD 언어별 조정, 최종 답변 생성">
            <a:extLst xmlns:a="http://schemas.openxmlformats.org/drawingml/2006/main">
              <a:ext uri="{FF2B5EF4-FFF2-40B4-BE49-F238E27FC236}">
                <a16:creationId xmlns:a16="http://schemas.microsoft.com/office/drawing/2014/main" id="{4DD244D3-FFEC-4C11-9459-61E9AA1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249150"/>
            <a:ext cx="95775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Mi:dm 2.0 Base Instruct[18]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로짓 결합 후 SCD 언어별 조정, 최종 답변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87C08F-CA51-4B67-84C1-DB65E881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0772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A7CDF-A363-4422-838B-76BBF79D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18872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4BD57-677B-4F56-BE98-11E7AA06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03 3요인 완전요인 실험 설계">
            <a:extLst xmlns:a="http://schemas.openxmlformats.org/drawingml/2006/main">
              <a:ext uri="{FF2B5EF4-FFF2-40B4-BE49-F238E27FC236}">
                <a16:creationId xmlns:a16="http://schemas.microsoft.com/office/drawing/2014/main" id="{F5ABF092-2403-4197-9FB5-53C7E386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683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3요인 완전요인 실험 설계</a:t>
            </a:r>
          </a:p>
        </p:txBody>
      </p:sp>
      <p:sp>
        <p:nvSpPr>
          <p:cNvPr id="32" name="H=HyDE, C=CAD, S=SCD   0=미적용, 1=적용">
            <a:extLst xmlns:a="http://schemas.openxmlformats.org/drawingml/2006/main">
              <a:ext uri="{FF2B5EF4-FFF2-40B4-BE49-F238E27FC236}">
                <a16:creationId xmlns:a16="http://schemas.microsoft.com/office/drawing/2014/main" id="{EE1A7A57-A219-4916-871B-09FCE10A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H=HyDE, C=CAD, S=SCD   0=미적용, 1=적용</a:t>
            </a:r>
          </a:p>
        </p:txBody>
      </p:sp>
      <p:graphicFrame>
        <p:nvGraphicFrame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5FDABF-B9E4-4A4C-B029-4FB99C8D78E7}"/>
              </a:ext>
            </a:extLst>
          </p:cNvPr>
          <p:cNvGraphicFramePr/>
          <p:nvPr/>
        </p:nvGraphicFramePr>
        <p:xfrm>
          <a:off xmlns:a="http://schemas.openxmlformats.org/drawingml/2006/main" x="704850" y="14258925"/>
          <a:ext xmlns:a="http://schemas.openxmlformats.org/drawingml/2006/main" cx="9729975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5789"/>
                <a:gridCol w="1751396"/>
                <a:gridCol w="1751396"/>
                <a:gridCol w="1751396"/>
              </a:tblGrid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34" name="영어 문서 4종 × 15개 질의 × 8조건 = 480개 생성 기록">
            <a:extLst xmlns:a="http://schemas.openxmlformats.org/drawingml/2006/main">
              <a:ext uri="{FF2B5EF4-FFF2-40B4-BE49-F238E27FC236}">
                <a16:creationId xmlns:a16="http://schemas.microsoft.com/office/drawing/2014/main" id="{ADA00431-1B67-4234-898E-B051A2C4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영어 문서 4종 × 15개 질의 × 8조건 = 480개 생성 기록</a:t>
            </a:r>
          </a:p>
        </p:txBody>
      </p:sp>
      <p:sp>
        <p:nvSpPr>
          <p:cNvPr id="35" name="생성 512토큰, CAD α=0.5, SCD α=1.1·β=0.9·Tstart=5">
            <a:extLst xmlns:a="http://schemas.openxmlformats.org/drawingml/2006/main">
              <a:ext uri="{FF2B5EF4-FFF2-40B4-BE49-F238E27FC236}">
                <a16:creationId xmlns:a16="http://schemas.microsoft.com/office/drawing/2014/main" id="{0E202563-AE2E-45D3-AB83-16530D35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451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512토큰, CAD α=0.5, SCD α=1.1·β=0.9·Tstart=5</a:t>
            </a:r>
          </a:p>
        </p:txBody>
      </p:sp>
      <p:sp>
        <p:nvSpPr>
          <p:cNvPr id="36" name="문서 요약을 15개 내용 단위로 나누어 질의를 작성하고, 총 60개 질의의 원문 페이지·정답 근거·답변 가능성을 확인">
            <a:extLst xmlns:a="http://schemas.openxmlformats.org/drawingml/2006/main">
              <a:ext uri="{FF2B5EF4-FFF2-40B4-BE49-F238E27FC236}">
                <a16:creationId xmlns:a16="http://schemas.microsoft.com/office/drawing/2014/main" id="{55883192-2574-4382-9758-16B8351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0"/>
            <a:ext cx="9729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문서 요약을 15개 내용 단위로 나누어 질의를 작성하고,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총 60개 질의의 원문 페이지·정답 근거·답변 가능성을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95D328-7D77-48BC-8842-1081E15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04 평가 지표 및 실험·통계 방법">
            <a:extLst xmlns:a="http://schemas.openxmlformats.org/drawingml/2006/main">
              <a:ext uri="{FF2B5EF4-FFF2-40B4-BE49-F238E27FC236}">
                <a16:creationId xmlns:a16="http://schemas.microsoft.com/office/drawing/2014/main" id="{E16B6B89-9A2F-4293-ABBD-414E900A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738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평가 지표 및 실험·통계 방법</a:t>
            </a:r>
          </a:p>
        </p:txBody>
      </p:sp>
      <p:sp>
        <p:nvSpPr>
          <p:cNvPr id="39" name="근거 충실도: 답변 주장 중 검색 근거가 뒷받침하는 비율 답변 관련성: 답변에서 만든 질문과 원질문의 의미 유사도 문">
            <a:extLst xmlns:a="http://schemas.openxmlformats.org/drawingml/2006/main">
              <a:ext uri="{FF2B5EF4-FFF2-40B4-BE49-F238E27FC236}">
                <a16:creationId xmlns:a16="http://schemas.microsoft.com/office/drawing/2014/main" id="{E56AA116-59F2-4752-AE9E-E61AB08C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26275"/>
            <a:ext cx="97299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충실도: 답변 주장 중 검색 근거가 뒷받침하는 비율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관련성: 답변에서 만든 질문과 원질문의 의미 유사도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정밀도: 참조 답변에 유용한 구간의 상위 배치 정도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재현율: 참조 답변 주장을 검색 문맥이 포괄하는 비율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비율: 한글 / (한글 + ASCII 영문자)</a:t>
            </a:r>
          </a:p>
        </p:txBody>
      </p:sp>
      <p:sp>
        <p:nvSpPr>
          <p:cNvPr id="40" name="높은 품질 점수는 근거 지지·질문 관련성·근거 활용을 뜻한다. 한국어 비율 0.700은 계산 대상 문자 중 한글이 7">
            <a:extLst xmlns:a="http://schemas.openxmlformats.org/drawingml/2006/main">
              <a:ext uri="{FF2B5EF4-FFF2-40B4-BE49-F238E27FC236}">
                <a16:creationId xmlns:a16="http://schemas.microsoft.com/office/drawing/2014/main" id="{2B4B41E3-B459-4201-BB43-4D4B257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74100"/>
            <a:ext cx="9729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높은 품질 점수는 근거 지지·질문 관련성·근거 활용을 뜻한다.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 0.700은 계산 대상 문자 중 한글이 70.0%다.</a:t>
            </a:r>
          </a:p>
        </p:txBody>
      </p:sp>
      <p:sp>
        <p:nvSpPr>
          <p:cNvPr id="41" name="평가 예시  ext_raptor_011, H0C0S0">
            <a:extLst xmlns:a="http://schemas.openxmlformats.org/drawingml/2006/main">
              <a:ext uri="{FF2B5EF4-FFF2-40B4-BE49-F238E27FC236}">
                <a16:creationId xmlns:a16="http://schemas.microsoft.com/office/drawing/2014/main" id="{03A6C5BF-682E-4460-BCA0-11AB3C4F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36100"/>
            <a:ext cx="972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 예시  ext_raptor_011, H0C0S0</a:t>
            </a:r>
          </a:p>
        </p:txBody>
      </p:sp>
      <p:sp>
        <p:nvSpPr>
          <p:cNvPr id="42" name="질문: Cinderella 사례의 정성 분석에서 RAPTOR의 tree-based retrieval이 DPR보다 주제">
            <a:extLst xmlns:a="http://schemas.openxmlformats.org/drawingml/2006/main">
              <a:ext uri="{FF2B5EF4-FFF2-40B4-BE49-F238E27FC236}">
                <a16:creationId xmlns:a16="http://schemas.microsoft.com/office/drawing/2014/main" id="{ECC50F9D-90B1-493C-A108-3B3EB1BE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2662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질문: Cinderella 사례의 정성 분석에서 RAPTOR의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tree-based retrieval이 DPR보다 주제형·멀티홉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질문에 유리했던 이유는 무엇입니까?</a:t>
            </a:r>
          </a:p>
        </p:txBody>
      </p:sp>
      <p:sp>
        <p:nvSpPr>
          <p:cNvPr id="43" name="검색 근거(발췌): “within higher-layer summaries” 참조답변(발췌): “The text re">
            <a:extLst xmlns:a="http://schemas.openxmlformats.org/drawingml/2006/main">
              <a:ext uri="{FF2B5EF4-FFF2-40B4-BE49-F238E27FC236}">
                <a16:creationId xmlns:a16="http://schemas.microsoft.com/office/drawing/2014/main" id="{B9EBDAD6-A1BC-4CCC-9D44-13092DB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17225"/>
            <a:ext cx="9729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근거(발췌): “within higher-layer summaries”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참조답변(발췌): “The text retrieved by RAPTOR”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답변(발췌): “RAPTOR는 계층적 구조를 통해”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평가: 충실도 1.000, 관련성 0.937</a:t>
            </a:r>
          </a:p>
        </p:txBody>
      </p:sp>
      <p:sp>
        <p:nvSpPr>
          <p:cNvPr id="44" name="평가: RAGAS 0.2.15[10], gpt-4o, BGE-M3 임베딩 S0: 영어 문맥 / S1: 한국어 번역 평">
            <a:extLst xmlns:a="http://schemas.openxmlformats.org/drawingml/2006/main">
              <a:ext uri="{FF2B5EF4-FFF2-40B4-BE49-F238E27FC236}">
                <a16:creationId xmlns:a16="http://schemas.microsoft.com/office/drawing/2014/main" id="{D915AAFD-DCF6-4FC6-964D-55EEADC1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31675"/>
            <a:ext cx="9729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평가: RAGAS 0.2.15[10], gpt-4o, BGE-M3 임베딩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생성에는 영어 문맥 사용, 저장 답변은 그대로 평가</a:t>
            </a:r>
          </a:p>
        </p:txBody>
      </p:sp>
      <p:sp>
        <p:nvSpPr>
          <p:cNvPr id="45" name="질의 60개 반복측정, 양측 α=0.05와 Holm 보정 품질: S0·S1별 H×C / 문자 비율·시간: H×C×S ">
            <a:extLst xmlns:a="http://schemas.openxmlformats.org/drawingml/2006/main">
              <a:ext uri="{FF2B5EF4-FFF2-40B4-BE49-F238E27FC236}">
                <a16:creationId xmlns:a16="http://schemas.microsoft.com/office/drawing/2014/main" id="{6BF1BC4B-B437-4A45-8C45-E8FC7F5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2227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질의 60개 반복측정, 양측 α=0.05와 Holm 보정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품질: S0·S1별 H×C / 문자 비율·시간: H×C×S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120·240쌍은 질의별 평균 차이 60개로 검정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FBF10B-3415-4B7C-AF38-DA36D758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05 조합별 결과와 통계 검정">
            <a:extLst xmlns:a="http://schemas.openxmlformats.org/drawingml/2006/main">
              <a:ext uri="{FF2B5EF4-FFF2-40B4-BE49-F238E27FC236}">
                <a16:creationId xmlns:a16="http://schemas.microsoft.com/office/drawing/2014/main" id="{31AAFAA6-6349-4EE3-A1BB-23B8359C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조합별 결과와 통계 검정</a:t>
            </a:r>
          </a:p>
        </p:txBody>
      </p:sp>
      <p:sp>
        <p:nvSpPr>
          <p:cNvPr id="48" name="8조건 평균(SD)  ·  시간 단위: 초">
            <a:extLst xmlns:a="http://schemas.openxmlformats.org/drawingml/2006/main">
              <a:ext uri="{FF2B5EF4-FFF2-40B4-BE49-F238E27FC236}">
                <a16:creationId xmlns:a16="http://schemas.microsoft.com/office/drawing/2014/main" id="{9452CE0E-B064-48C6-A3EF-67ED8AEE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4095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8조건 평균(SD)  ·  시간 단위: 초</a:t>
            </a:r>
          </a:p>
        </p:txBody>
      </p:sp>
      <p:graphicFrame>
        <p:nvGraphicFrame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91D218-7506-4DF4-802A-3B40A27C32E6}"/>
              </a:ext>
            </a:extLst>
          </p:cNvPr>
          <p:cNvGraphicFramePr/>
          <p:nvPr/>
        </p:nvGraphicFramePr>
        <p:xfrm>
          <a:off xmlns:a="http://schemas.openxmlformats.org/drawingml/2006/main" x="10949175" y="4610100"/>
          <a:ext xmlns:a="http://schemas.openxmlformats.org/drawingml/2006/main" cx="9729975" cy="617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6796"/>
                <a:gridCol w="1362197"/>
                <a:gridCol w="1362197"/>
                <a:gridCol w="1362197"/>
                <a:gridCol w="1362197"/>
                <a:gridCol w="1362197"/>
                <a:gridCol w="1362197"/>
              </a:tblGrid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충실도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0.791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0.494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20.792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(23.404)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0.699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18.898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(5.085)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(25.312)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0.850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55.159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(26.465)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23.440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(4.707)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0.822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24.892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(5.196)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73.532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(21.584)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64.125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(21.675)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50" name="S0: 영어 평가 문맥 / S1: 한국어 번역 평가 문맥 충실도 H0C1S0 n=58, H0C0S1 n=57, 나머지">
            <a:extLst xmlns:a="http://schemas.openxmlformats.org/drawingml/2006/main">
              <a:ext uri="{FF2B5EF4-FFF2-40B4-BE49-F238E27FC236}">
                <a16:creationId xmlns:a16="http://schemas.microsoft.com/office/drawing/2014/main" id="{0D3B1E56-A283-4827-8783-317A353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096327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평가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H0C1S0 n=58, H0C0S1 n=57, 나머지 n=60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비율과 시간은 생성 기록에서 직접 계산</a:t>
            </a:r>
          </a:p>
        </p:txBody>
      </p:sp>
      <p:sp>
        <p:nvSpPr>
          <p:cNvPr id="51" name="3요인 반복측정 ANOVA  ·  각 효과 df=(1,59)">
            <a:extLst xmlns:a="http://schemas.openxmlformats.org/drawingml/2006/main">
              <a:ext uri="{FF2B5EF4-FFF2-40B4-BE49-F238E27FC236}">
                <a16:creationId xmlns:a16="http://schemas.microsoft.com/office/drawing/2014/main" id="{B32BA9A8-429B-4407-9CF6-C975434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21158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3요인 반복측정 ANOVA  ·  각 효과 df=(1,59)</a:t>
            </a:r>
          </a:p>
        </p:txBody>
      </p:sp>
      <p:graphicFrame>
        <p:nvGraphicFrame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7C8353-A6EA-4A12-92C9-43506A6C81DC}"/>
              </a:ext>
            </a:extLst>
          </p:cNvPr>
          <p:cNvGraphicFramePr/>
          <p:nvPr/>
        </p:nvGraphicFramePr>
        <p:xfrm>
          <a:off xmlns:a="http://schemas.openxmlformats.org/drawingml/2006/main" x="10949175" y="12601575"/>
          <a:ext xmlns:a="http://schemas.openxmlformats.org/drawingml/2006/main" cx="9729975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8695"/>
                <a:gridCol w="2140595"/>
                <a:gridCol w="1751396"/>
                <a:gridCol w="2140595"/>
                <a:gridCol w="1848695"/>
              </a:tblGrid>
              <a:tr h="6096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16.362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423.765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341.302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문자 비율·시간은 각각 7검정에 Holm 보정. RAGAS H×C 검정은 평가 문맥 언어별로 수행했으며, 전체 24검">
            <a:extLst xmlns:a="http://schemas.openxmlformats.org/drawingml/2006/main">
              <a:ext uri="{FF2B5EF4-FFF2-40B4-BE49-F238E27FC236}">
                <a16:creationId xmlns:a16="http://schemas.microsoft.com/office/drawing/2014/main" id="{4C383798-9742-444E-B2C6-2EC178B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6764000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문자 비율·시간은 각각 7검정에 Holm 보정.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RAGAS H×C 검정은 평가 문맥 언어별로 수행했으며,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24검정의 Holm 보정 p는 모두 0.05 이상이었다.</a:t>
            </a:r>
          </a:p>
        </p:txBody>
      </p:sp>
      <p:sp>
        <p:nvSpPr>
          <p:cNvPr id="54" name="기법별 대응 비교  ·  질의별 평균 차이, 양측 검정">
            <a:extLst xmlns:a="http://schemas.openxmlformats.org/drawingml/2006/main">
              <a:ext uri="{FF2B5EF4-FFF2-40B4-BE49-F238E27FC236}">
                <a16:creationId xmlns:a16="http://schemas.microsoft.com/office/drawing/2014/main" id="{D62BA19D-8821-4DF2-A62A-A925B121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7811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기법별 대응 비교  ·  질의별 평균 차이, 양측 검정</a:t>
            </a:r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4D4D0D-B46E-44B9-AB8D-A00EA92BB506}"/>
              </a:ext>
            </a:extLst>
          </p:cNvPr>
          <p:cNvGraphicFramePr/>
          <p:nvPr/>
        </p:nvGraphicFramePr>
        <p:xfrm>
          <a:off xmlns:a="http://schemas.openxmlformats.org/drawingml/2006/main" x="10949175" y="18316575"/>
          <a:ext xmlns:a="http://schemas.openxmlformats.org/drawingml/2006/main" cx="9729975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2494"/>
                <a:gridCol w="2237894"/>
                <a:gridCol w="1945995"/>
                <a:gridCol w="1556796"/>
                <a:gridCol w="1556796"/>
              </a:tblGrid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(SD)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t(df)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관련성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0.080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충실도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SCD H0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13.951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HyDE: C0S0, CAD: H0S0, SCD: H0의 CAD 상태 평균 보정: HyDE·CAD 각 4지표, SCD">
            <a:extLst xmlns:a="http://schemas.openxmlformats.org/drawingml/2006/main">
              <a:ext uri="{FF2B5EF4-FFF2-40B4-BE49-F238E27FC236}">
                <a16:creationId xmlns:a16="http://schemas.microsoft.com/office/drawing/2014/main" id="{D2BF6CEB-1CA8-467F-BC20-5A13D7AE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1678900"/>
            <a:ext cx="9729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C0S0, CAD: H0S0, SCD: H0의 CAD 상태 평균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보정: HyDE·CAD 각 4지표, SCD 주·전체 비교 2검정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차이 +0.218은 한글 비중 +21.8%p에 해당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A781B1-22AE-4A8D-AF1F-6FDB4D1B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281237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06 결과 해석">
            <a:extLst xmlns:a="http://schemas.openxmlformats.org/drawingml/2006/main">
              <a:ext uri="{FF2B5EF4-FFF2-40B4-BE49-F238E27FC236}">
                <a16:creationId xmlns:a16="http://schemas.microsoft.com/office/drawing/2014/main" id="{50A3C81F-B2E6-468C-8A13-707E231B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284095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 결과 해석</a:t>
            </a:r>
          </a:p>
        </p:txBody>
      </p:sp>
      <p:sp>
        <p:nvSpPr>
          <p:cNvPr id="59" name="HyDE 관련성 차이는 +0.080점, Holm 보정 p=0.117이다. CAD 충실도 차이는 +0.029점(SD 0">
            <a:extLst xmlns:a="http://schemas.openxmlformats.org/drawingml/2006/main">
              <a:ext uri="{FF2B5EF4-FFF2-40B4-BE49-F238E27FC236}">
                <a16:creationId xmlns:a16="http://schemas.microsoft.com/office/drawing/2014/main" id="{0FABEBDA-F489-410E-A20A-D1448022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3336250"/>
            <a:ext cx="9729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관련성 차이는 +0.080점, Holm 보정 p=0.117이다.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충실도 차이는 +0.029점(SD 0.255), p=0.393이다.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문자 비율의 주·전체 비교는 모두 보정 p&lt;0.001이다.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비교에는 번역·가상 문서 샘플링의 차이가 포함된다.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955602-12DA-44DC-A84D-3186E769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468880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07 결론">
            <a:extLst xmlns:a="http://schemas.openxmlformats.org/drawingml/2006/main">
              <a:ext uri="{FF2B5EF4-FFF2-40B4-BE49-F238E27FC236}">
                <a16:creationId xmlns:a16="http://schemas.microsoft.com/office/drawing/2014/main" id="{F51BB986-9EB1-4E30-A92A-52FDA2D6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471737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 결론</a:t>
            </a:r>
          </a:p>
        </p:txBody>
      </p:sp>
      <p:sp>
        <p:nvSpPr>
          <p:cNvPr id="62" name="본 연구는 HyDE·CAD·SCD 조합별 답변 품질, 한국어 문자 비율 및 실행 시간을 평가하였다. SCD는 한국어 ">
            <a:extLst xmlns:a="http://schemas.openxmlformats.org/drawingml/2006/main">
              <a:ext uri="{FF2B5EF4-FFF2-40B4-BE49-F238E27FC236}">
                <a16:creationId xmlns:a16="http://schemas.microsoft.com/office/drawing/2014/main" id="{10BFA70D-3412-40BB-9DDD-7E9BCC2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5288875"/>
            <a:ext cx="97299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본 연구는 HyDE·CAD·SCD 조합별 답변 품질,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문자 비율 및 실행 시간을 평가하였다.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SCD는 한국어 문자 비율을 높였다(보정 p&lt;0.001).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실행 시간의 H·C 주효과와 C×S 상호작용도 유의하였다.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적용 조건은 목표 언어, 품질 결과와 허용 시간으로 비교한다.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D43F72-4EDF-43ED-9C58-F370A361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0"/>
            <a:ext cx="1997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08 주요 참고문헌">
            <a:extLst xmlns:a="http://schemas.openxmlformats.org/drawingml/2006/main">
              <a:ext uri="{FF2B5EF4-FFF2-40B4-BE49-F238E27FC236}">
                <a16:creationId xmlns:a16="http://schemas.microsoft.com/office/drawing/2014/main" id="{73AFB703-F9C2-47C5-8A45-A19A38D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79575"/>
            <a:ext cx="1978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 주요 참고문헌</a:t>
            </a:r>
          </a:p>
        </p:txBody>
      </p:sp>
      <p:sp>
        <p:nvSpPr>
          <p:cNvPr id="65" name="[1] Lewis et al. RAG. NeurIPS, 2020. [2] Gao et al. HyDE. ACL, 20">
            <a:extLst xmlns:a="http://schemas.openxmlformats.org/drawingml/2006/main">
              <a:ext uri="{FF2B5EF4-FFF2-40B4-BE49-F238E27FC236}">
                <a16:creationId xmlns:a16="http://schemas.microsoft.com/office/drawing/2014/main" id="{2B27162D-187F-4E38-AEB3-B3CE866B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[1] Lewis et al. RAG. NeurIPS, 2020.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[2] Gao et al. HyDE. ACL, 2023.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[3] Shi et al. Context-Aware Decoding. NAACL, 2024.</a:t>
            </a:r>
          </a:p>
        </p:txBody>
      </p:sp>
      <p:sp>
        <p:nvSpPr>
          <p:cNvPr id="66" name="[4] Li et al. Language Drift and SCD. AAAI, 2026. [5] Chen et al.">
            <a:extLst xmlns:a="http://schemas.openxmlformats.org/drawingml/2006/main">
              <a:ext uri="{FF2B5EF4-FFF2-40B4-BE49-F238E27FC236}">
                <a16:creationId xmlns:a16="http://schemas.microsoft.com/office/drawing/2014/main" id="{3DF0032D-802C-48C5-BA16-7DA4BC80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[4] Li et al. Language Drift and SCD. AAAI, 2026.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[5] Chen et al. M3-Embedding. ACL Findings, 2024.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[10] Es et al. RAGAs. EACL Demonstrations, 2024.</a:t>
            </a:r>
          </a:p>
        </p:txBody>
      </p:sp>
      <p:sp>
        <p:nvSpPr>
          <p:cNvPr id="67" name="전체 22편과 통계 상세표·결측·민감도 분석은 동봉 자료에 수록">
            <a:extLst xmlns:a="http://schemas.openxmlformats.org/drawingml/2006/main">
              <a:ext uri="{FF2B5EF4-FFF2-40B4-BE49-F238E27FC236}">
                <a16:creationId xmlns:a16="http://schemas.microsoft.com/office/drawing/2014/main" id="{B04FD7C5-9E6A-483A-BC80-6ED18BC1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08375"/>
            <a:ext cx="19974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22편과 통계 상세표·결측·민감도 분석은 동봉 자료에 수록</a:t>
            </a:r>
          </a:p>
        </p:txBody>
      </p:sp>
      <p:sp>
        <p:nvSpPr>
          <p:cNvPr id="68" name="영어 문서 4종 · 질의 60개 · 생성 모델 1종 · 질의별 반복측정">
            <a:extLst xmlns:a="http://schemas.openxmlformats.org/drawingml/2006/main">
              <a:ext uri="{FF2B5EF4-FFF2-40B4-BE49-F238E27FC236}">
                <a16:creationId xmlns:a16="http://schemas.microsoft.com/office/drawing/2014/main" id="{8CF0F5B7-1181-4D32-A78F-EE331557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0"/>
            <a:ext cx="1997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영어 문서 4종 · 질의 60개 · 생성 모델 1종 · 질의별 반복측정</a:t>
            </a:r>
          </a:p>
        </p:txBody>
      </p:sp>
      <p:sp>
        <p:nvSpPr>
          <p:cNvPr id="69" name="A1 594 × 841 mm">
            <a:extLst xmlns:a="http://schemas.openxmlformats.org/drawingml/2006/main">
              <a:ext uri="{FF2B5EF4-FFF2-40B4-BE49-F238E27FC236}">
                <a16:creationId xmlns:a16="http://schemas.microsoft.com/office/drawing/2014/main" id="{24D13A9D-62CE-4199-ABA1-F0203CA0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89450"/>
            <a:ext cx="1997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A1 594 × 841 mm</a:t>
            </a:r>
          </a:p>
        </p:txBody>
      </p:sp>
    </p:spTree>
    <p:extLst>
      <p:ext uri="{BB962C8B-B14F-4D97-AF65-F5344CB8AC3E}">
        <p14:creationId xmlns:p14="http://schemas.microsoft.com/office/powerpoint/2010/main" val="912304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2026-10-15T17:05:53.5510000Z</dcterms:created>
  <dcterms:modified xsi:type="dcterms:W3CDTF">2026-10-15T17:05:53.5510000Z</dcterms:modified>
</coreProperties>
</file>