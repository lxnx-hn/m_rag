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826f4da6614b82" /><Relationship Type="http://schemas.openxmlformats.org/officeDocument/2006/relationships/extended-properties" Target="/docProps/app.xml" Id="Rb4e9828fb36745e0" /><Relationship Type="http://schemas.openxmlformats.org/officeDocument/2006/relationships/officeDocument" Target="/ppt/presentation.xml" Id="R8de77e2a4f1846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790c17bbde4fee"/>
  </p:sldMasterIdLst>
  <p:notesMasterIdLst>
    <p:notesMasterId xmlns:r="http://schemas.openxmlformats.org/officeDocument/2006/relationships" r:id="Ra1264d69542145d4"/>
  </p:notesMasterIdLst>
  <p:sldIdLst>
    <p:sldId xmlns:r="http://schemas.openxmlformats.org/officeDocument/2006/relationships" id="256" r:id="R4fe1c5f87aeb4c1a"/>
  </p:sldIdLst>
  <p:sldSz cx="21383625" cy="30275213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3c4b42b00b42d7" /><Relationship Type="http://schemas.openxmlformats.org/officeDocument/2006/relationships/slideMaster" Target="/ppt/slideMasters/slideMaster1.xml" Id="R3e790c17bbde4fee" /><Relationship Type="http://schemas.openxmlformats.org/officeDocument/2006/relationships/notesMaster" Target="/ppt/notesMasters/notesMaster1.xml" Id="Ra1264d69542145d4" /><Relationship Type="http://schemas.openxmlformats.org/officeDocument/2006/relationships/presProps" Target="/ppt/presProps.xml" Id="R9e830d30910c4e42" /><Relationship Type="http://schemas.openxmlformats.org/officeDocument/2006/relationships/tableStyles" Target="/ppt/tableStyles.xml" Id="Rcfb983b6b8d04106" /><Relationship Type="http://schemas.openxmlformats.org/officeDocument/2006/relationships/slide" Target="/ppt/slides/slide1.xml" Id="R4fe1c5f87aeb4c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dc7ce8c54447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b2e551fae44839" /><Relationship Type="http://schemas.openxmlformats.org/officeDocument/2006/relationships/notesMaster" Target="/ppt/notesMasters/notesMaster1.xml" Id="Ra784c23e49d543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Canonical 60-query graduation thesis: https://github.com/LxNx-Hn/M_RAG/blob/726266cdf2baed0735f6b762dbf475cc0943580e/FINALDOCS/MANUSCRIPT/GRADUATION_REPORT_TRANSFER_KO_60Q.md</a:t>
            </a:r>
          </a:p>
          <a:p xmlns:a="http://schemas.openxmlformats.org/drawingml/2006/main">
            <a:r>
              <a:t>Tables 5-3, 5-4, 5-6 and 4-3; source CSV assets/primary_effects.csv. HyDE +0.0805 n60; CAD faithfulness +0.0288 n58; SCD +0.2182 n120 and +0.2289 n240. Scatter series encode confidence interval endpoints, separate estimate points, and a zero reference; y values are display positions only. Cases E03-E06. SCD H1 case is in the 240 total, outside the H0 120 primary subset. Full 22 references. Author metadata and purple layout from the user instructions dated 2026-10-15. Official school slide size: 21383625 × 30275213 EMU. Existing B1 files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a13d006934a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1564e156d4a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214c83fff443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1af594ea614b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62d0bccb8446e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1185dbb8041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258B7C-1AF6-42B8-B5B9-BB057D0156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8363" y="11437303"/>
            <a:ext cx="17106900" cy="4373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3A9B4C7-B1B2-47A2-9C03-4A8F918A15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207544" y="16651367"/>
            <a:ext cx="14968538" cy="3363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B6B7B9-1842-4D24-AA44-BE0A55ED8F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8363" y="12614672"/>
            <a:ext cx="17106900" cy="5045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36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19D477-FD3A-4694-B18B-4B693C5474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29" y="2354739"/>
            <a:ext cx="18977967" cy="3700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5B1380-962E-4365-9FFF-F54C7B94F3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29" y="8409781"/>
            <a:ext cx="18977967" cy="18837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43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34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24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15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05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896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487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077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668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86C1EC-FA99-4A53-A5F6-9AD22A35AA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29" y="2354739"/>
            <a:ext cx="18977967" cy="3700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CDFA81-A760-4829-8867-D3FA97028E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29" y="8409781"/>
            <a:ext cx="8820745" cy="18837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43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34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24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15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05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896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487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077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668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45A3929-D9E0-4806-BEF0-8AF09B6C92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360051" y="8409781"/>
            <a:ext cx="8820745" cy="18837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43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34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24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15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05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896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487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077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668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C0FE14-7E49-449C-8C82-F51A397ACB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29" y="2354739"/>
            <a:ext cx="18977967" cy="3700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A189F1-E9EC-4816-9C3D-15F553E187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29" y="8409781"/>
            <a:ext cx="8820745" cy="18837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43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34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24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15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05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896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487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077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668" indent="-400943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763de22c344f77" /><Relationship Type="http://schemas.openxmlformats.org/officeDocument/2006/relationships/slideLayout" Target="/ppt/slideLayouts/slideLayout1.xml" Id="Ra2c69ae5cada44b9" /><Relationship Type="http://schemas.openxmlformats.org/officeDocument/2006/relationships/slideLayout" Target="/ppt/slideLayouts/slideLayout2.xml" Id="R484e1dbe25714042" /><Relationship Type="http://schemas.openxmlformats.org/officeDocument/2006/relationships/slideLayout" Target="/ppt/slideLayouts/slideLayout3.xml" Id="R427500c44dbf496d" /><Relationship Type="http://schemas.openxmlformats.org/officeDocument/2006/relationships/slideLayout" Target="/ppt/slideLayouts/slideLayout4.xml" Id="R377660b1cb3a48b7" /><Relationship Type="http://schemas.openxmlformats.org/officeDocument/2006/relationships/slideLayout" Target="/ppt/slideLayouts/slideLayout5.xml" Id="R0e3b7eca6b3f444a" /><Relationship Type="http://schemas.openxmlformats.org/officeDocument/2006/relationships/slideLayout" Target="/ppt/slideLayouts/slideLayout6.xml" Id="R4aef40579d5244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c69ae5cada44b9"/>
    <p:sldLayoutId xmlns:r="http://schemas.openxmlformats.org/officeDocument/2006/relationships" id="2147483650" r:id="R484e1dbe25714042"/>
    <p:sldLayoutId xmlns:r="http://schemas.openxmlformats.org/officeDocument/2006/relationships" id="2147483651" r:id="R427500c44dbf496d"/>
    <p:sldLayoutId xmlns:r="http://schemas.openxmlformats.org/officeDocument/2006/relationships" id="2147483652" r:id="R377660b1cb3a48b7"/>
    <p:sldLayoutId xmlns:r="http://schemas.openxmlformats.org/officeDocument/2006/relationships" id="2147483653" r:id="R0e3b7eca6b3f444a"/>
    <p:sldLayoutId xmlns:r="http://schemas.openxmlformats.org/officeDocument/2006/relationships" id="2147483654" r:id="R4aef40579d5244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0883b8eb944221" /><Relationship Type="http://schemas.openxmlformats.org/officeDocument/2006/relationships/chart" Target="/ppt/slides/charts/chart1.xml" Id="Rd5277c59aefd41b5" /><Relationship Type="http://schemas.openxmlformats.org/officeDocument/2006/relationships/chart" Target="/ppt/slides/charts/chart2.xml" Id="R0e3cef9460e74a4a" /><Relationship Type="http://schemas.openxmlformats.org/officeDocument/2006/relationships/notesSlide" Target="/ppt/notesSlides/notesSlide1.xml" Id="Rc9f51b8d69ef4dd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263445"/>
                </a:solidFill>
                <a:latin typeface="Malgun Gothic"/>
                <a:ea typeface="Malgun Gothic"/>
                <a:cs typeface="Malgun Gothic"/>
              </a:rPr>
              <a:t>HyDE와 CAD 적용 전후 답변 품질 비교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1">
              <a:solidFill>
                <a:srgbClr val="263445"/>
              </a:solidFill>
              <a:latin typeface="Malgun Gothic"/>
              <a:ea typeface="Malgun Gothic"/>
              <a:cs typeface="Malgun Gothic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0 기준선</c:v>
          </c:tx>
          <c:spPr>
            <a:ln xmlns:a="http://schemas.openxmlformats.org/drawingml/2006/main" w="9525">
              <a:solidFill>
                <a:srgbClr val="596579"/>
              </a:solidFill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Data'!$B$2:$B$3</c:f>
              <c:numCache>
                <c:formatCode>General</c:formatCode>
                <c:ptCount val="2"/>
                <c:pt idx="0">
                  <c:v>0.35</c:v>
                </c:pt>
                <c:pt idx="1">
                  <c:v>2.65</c:v>
                </c:pt>
              </c:numCache>
            </c:numRef>
          </c:yVal>
        </c:ser>
        <c:ser>
          <c:idx val="1"/>
          <c:order val="1"/>
          <c:tx>
            <c:v>HyDE 관련성 95% CI</c:v>
          </c:tx>
          <c:spPr>
            <a:ln xmlns:a="http://schemas.openxmlformats.org/drawingml/2006/main" w="19050">
              <a:solidFill>
                <a:srgbClr val="347DDB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0.011</c:v>
                </c:pt>
                <c:pt idx="1">
                  <c:v>0.1514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yVal>
        </c:ser>
        <c:ser>
          <c:idx val="2"/>
          <c:order val="2"/>
          <c:tx>
            <c:v>HyDE 관련성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solidFill xmlns:a="http://schemas.openxmlformats.org/drawingml/2006/main">
                <a:srgbClr val="347DDB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50">
                        <a:solidFill>
                          <a:srgbClr val="347DDB"/>
                        </a:solidFill>
                        <a:latin typeface="Malgun Gothic"/>
                        <a:ea typeface="Malgun Gothic"/>
                        <a:cs typeface="Malgun Gothic"/>
                      </a:rPr>
                      <a:t>HyDE 관련성, n=60, +0.0805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50">
                      <a:solidFill>
                        <a:srgbClr val="347DDB"/>
                      </a:solidFill>
                      <a:latin typeface="Malgun Gothic"/>
                      <a:ea typeface="Malgun Gothic"/>
                      <a:cs typeface="Malgun Gothic"/>
                    </a:defRPr>
                  </a:pPr>
                </a:p>
              </c:txPr>
              <c:dLblPos val="t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50">
                    <a:solidFill>
                      <a:srgbClr val="347DDB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Data'!$E$2:$E$2</c:f>
              <c:numCache>
                <c:formatCode>General</c:formatCode>
                <c:ptCount val="1"/>
                <c:pt idx="0">
                  <c:v>0.0805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2</c:v>
                </c:pt>
              </c:numCache>
            </c:numRef>
          </c:yVal>
        </c:ser>
        <c:ser>
          <c:idx val="3"/>
          <c:order val="3"/>
          <c:tx>
            <c:v>CAD 충실도 95% CI</c:v>
          </c:tx>
          <c:spPr>
            <a:ln xmlns:a="http://schemas.openxmlformats.org/drawingml/2006/main" w="19050">
              <a:solidFill>
                <a:srgbClr val="188D78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-0.0367</c:v>
                </c:pt>
                <c:pt idx="1">
                  <c:v>0.0934</c:v>
                </c:pt>
              </c:numCache>
            </c:numRef>
          </c:xVal>
          <c:yVal>
            <c:numRef>
              <c:f>'Chart Data'!$H$2:$H$3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yVal>
        </c:ser>
        <c:ser>
          <c:idx val="4"/>
          <c:order val="4"/>
          <c:tx>
            <c:v>CAD 충실도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solidFill xmlns:a="http://schemas.openxmlformats.org/drawingml/2006/main">
                <a:srgbClr val="188D78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50">
                        <a:solidFill>
                          <a:srgbClr val="188D78"/>
                        </a:solidFill>
                        <a:latin typeface="Malgun Gothic"/>
                        <a:ea typeface="Malgun Gothic"/>
                        <a:cs typeface="Malgun Gothic"/>
                      </a:rPr>
                      <a:t>CAD 충실도, n=58, +0.0288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50">
                      <a:solidFill>
                        <a:srgbClr val="188D78"/>
                      </a:solidFill>
                      <a:latin typeface="Malgun Gothic"/>
                      <a:ea typeface="Malgun Gothic"/>
                      <a:cs typeface="Malgun Gothic"/>
                    </a:defRPr>
                  </a:pPr>
                </a:p>
              </c:txPr>
              <c:dLblPos val="t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50">
                    <a:solidFill>
                      <a:srgbClr val="188D78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0.0288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50">
                  <a:solidFill>
                    <a:srgbClr val="263445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75"/>
          <c:min val="0.25"/>
        </c:scaling>
        <c:delete val="1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579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2"/>
          <c:min val="-0.1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D0E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579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263445"/>
                </a:solidFill>
                <a:latin typeface="Malgun Gothic"/>
                <a:ea typeface="Malgun Gothic"/>
                <a:cs typeface="Malgun Gothic"/>
              </a:rPr>
              <a:t>SCD 적용 전후 한국어 문자 비율 비교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1">
              <a:solidFill>
                <a:srgbClr val="263445"/>
              </a:solidFill>
              <a:latin typeface="Malgun Gothic"/>
              <a:ea typeface="Malgun Gothic"/>
              <a:cs typeface="Malgun Gothic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0 기준선</c:v>
          </c:tx>
          <c:spPr>
            <a:ln xmlns:a="http://schemas.openxmlformats.org/drawingml/2006/main" w="9525">
              <a:solidFill>
                <a:srgbClr val="596579"/>
              </a:solidFill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Data'!$B$2:$B$3</c:f>
              <c:numCache>
                <c:formatCode>General</c:formatCode>
                <c:ptCount val="2"/>
                <c:pt idx="0">
                  <c:v>0.35</c:v>
                </c:pt>
                <c:pt idx="1">
                  <c:v>2.65</c:v>
                </c:pt>
              </c:numCache>
            </c:numRef>
          </c:yVal>
        </c:ser>
        <c:ser>
          <c:idx val="1"/>
          <c:order val="1"/>
          <c:tx>
            <c:v>SCD(HyDE OFF) 95% CI</c:v>
          </c:tx>
          <c:spPr>
            <a:ln xmlns:a="http://schemas.openxmlformats.org/drawingml/2006/main" w="19050">
              <a:solidFill>
                <a:srgbClr val="D27837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0.188</c:v>
                </c:pt>
                <c:pt idx="1">
                  <c:v>0.2487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yVal>
        </c:ser>
        <c:ser>
          <c:idx val="2"/>
          <c:order val="2"/>
          <c:tx>
            <c:v>SCD(HyDE OFF)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solidFill xmlns:a="http://schemas.openxmlformats.org/drawingml/2006/main">
                <a:srgbClr val="D27837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50">
                        <a:solidFill>
                          <a:srgbClr val="D27837"/>
                        </a:solidFill>
                        <a:latin typeface="Malgun Gothic"/>
                        <a:ea typeface="Malgun Gothic"/>
                        <a:cs typeface="Malgun Gothic"/>
                      </a:rPr>
                      <a:t>SCD(HyDE OFF), n=120, +0.2182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50">
                      <a:solidFill>
                        <a:srgbClr val="D27837"/>
                      </a:solidFill>
                      <a:latin typeface="Malgun Gothic"/>
                      <a:ea typeface="Malgun Gothic"/>
                      <a:cs typeface="Malgun Gothic"/>
                    </a:defRPr>
                  </a:pPr>
                </a:p>
              </c:txPr>
              <c:dLblPos val="t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50">
                    <a:solidFill>
                      <a:srgbClr val="D27837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Data'!$E$2:$E$2</c:f>
              <c:numCache>
                <c:formatCode>General</c:formatCode>
                <c:ptCount val="1"/>
                <c:pt idx="0">
                  <c:v>0.2182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2</c:v>
                </c:pt>
              </c:numCache>
            </c:numRef>
          </c:yVal>
        </c:ser>
        <c:ser>
          <c:idx val="3"/>
          <c:order val="3"/>
          <c:tx>
            <c:v>SCD(H/C 상태 일치) 95% CI</c:v>
          </c:tx>
          <c:spPr>
            <a:ln xmlns:a="http://schemas.openxmlformats.org/drawingml/2006/main" w="19050">
              <a:solidFill>
                <a:srgbClr val="D27837"/>
              </a:solidFill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0.2051</c:v>
                </c:pt>
                <c:pt idx="1">
                  <c:v>0.2532</c:v>
                </c:pt>
              </c:numCache>
            </c:numRef>
          </c:xVal>
          <c:yVal>
            <c:numRef>
              <c:f>'Chart Data'!$H$2:$H$3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yVal>
        </c:ser>
        <c:ser>
          <c:idx val="4"/>
          <c:order val="4"/>
          <c:tx>
            <c:v>SCD(H/C 상태 일치)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solidFill xmlns:a="http://schemas.openxmlformats.org/drawingml/2006/main">
                <a:srgbClr val="D27837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50">
                        <a:solidFill>
                          <a:srgbClr val="D27837"/>
                        </a:solidFill>
                        <a:latin typeface="Malgun Gothic"/>
                        <a:ea typeface="Malgun Gothic"/>
                        <a:cs typeface="Malgun Gothic"/>
                      </a:rPr>
                      <a:t>SCD(H/C 상태 일치), n=240, +0.2289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50">
                      <a:solidFill>
                        <a:srgbClr val="D27837"/>
                      </a:solidFill>
                      <a:latin typeface="Malgun Gothic"/>
                      <a:ea typeface="Malgun Gothic"/>
                      <a:cs typeface="Malgun Gothic"/>
                    </a:defRPr>
                  </a:pPr>
                </a:p>
              </c:txPr>
              <c:dLblPos val="t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50">
                    <a:solidFill>
                      <a:srgbClr val="D27837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0.2289</c:v>
                </c:pt>
              </c:numCache>
            </c:numRef>
          </c:xVal>
          <c:yVal>
            <c:numRef>
              <c:f>'Chart Data'!$J$2:$J$2</c:f>
              <c:numCache>
                <c:formatCode>General</c:formatCode>
                <c:ptCount val="1"/>
                <c:pt idx="0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50">
                  <a:solidFill>
                    <a:srgbClr val="263445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75"/>
          <c:min val="0.25"/>
        </c:scaling>
        <c:delete val="1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579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3"/>
          <c:min val="0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D0E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579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67" name="title_000">
            <ns1:extLst>
              <ns1:ext uri="{FF2B5EF4-FFF2-40B4-BE49-F238E27FC236}">
                <ns2:creationId id="{31129AFD-5CA8-4D7B-9FB4-EF0FF852C07E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21383625" cy="3096000"/>
          </ns1:xfrm>
          <ns1:prstGeom prst="rect">
            <ns1:avLst/>
          </ns1:prstGeom>
          <ns1:solidFill>
            <ns1:srgbClr val="6B5087"/>
          </ns1:solidFill>
          <ns1:ln w="0">
            <ns1:noFill/>
          </ns1:ln>
        </ns0:spPr>
      </ns0:sp>
      <ns0:sp>
        <ns0:nvSpPr>
          <ns0:cNvPr id="2" name="title_001">
            <ns1:extLst>
              <ns1:ext uri="{FF2B5EF4-FFF2-40B4-BE49-F238E27FC236}">
                <ns2:creationId id="{9DE94CC0-B1F6-452F-A1C4-D66B7EA39205}"/>
              </ns1:ext>
            </ns1:extLst>
          </ns0:cNvPr>
          <ns0:cNvSpPr>
            <ns1:spLocks noGrp="1"/>
          </ns0:cNvSpPr>
          <ns0:nvPr/>
        </ns0:nvSpPr>
        <ns0:spPr>
          <ns1:xfrm>
            <ns1:off x="8586688" y="293756"/>
            <ns1:ext cx="4246248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rPr>
              <ns1:t>한국어 질의 기반 영어 학술·기술 문서 질의응답 연구</ns1:t>
            </ns1:r>
          </ns1:p>
        </ns0:txBody>
      </ns0:sp>
      <ns0:sp>
        <ns0:nvSpPr>
          <ns0:cNvPr id="3" name="title_002">
            <ns1:extLst>
              <ns1:ext uri="{FF2B5EF4-FFF2-40B4-BE49-F238E27FC236}">
                <ns2:creationId id="{81CEE4B5-3E1C-485E-AF07-3D302DB5E6DA}"/>
              </ns1:ext>
            </ns1:extLst>
          </ns0:cNvPr>
          <ns0:cNvSpPr>
            <ns1:spLocks noGrp="1"/>
          </ns0:cNvSpPr>
          <ns0:nvPr/>
        </ns0:nvSpPr>
        <ns0:spPr>
          <ns1:xfrm>
            <ns1:off x="5030961" y="856376"/>
            <ns1:ext cx="11357703" cy="782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44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44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44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rPr>
              <ns1:t>한국어 질의–영어 학술·기술 문서 RAG에서의</ns1:t>
            </ns1:r>
          </ns1:p>
        </ns0:txBody>
      </ns0:sp>
      <ns0:sp>
        <ns0:nvSpPr>
          <ns0:cNvPr id="4" name="title_003">
            <ns1:extLst>
              <ns1:ext uri="{FF2B5EF4-FFF2-40B4-BE49-F238E27FC236}">
                <ns2:creationId id="{36702FA6-82BE-41D3-BC6E-368FF9914B02}"/>
              </ns1:ext>
            </ns1:extLst>
          </ns0:cNvPr>
          <ns0:cNvSpPr>
            <ns1:spLocks noGrp="1"/>
          </ns0:cNvSpPr>
          <ns0:nvPr/>
        </ns0:nvSpPr>
        <ns0:spPr>
          <ns1:xfrm>
            <ns1:off x="7379804" y="1612376"/>
            <ns1:ext cx="6660017" cy="7823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44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44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44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rPr>
              <ns1:t>HyDE·CAD·SCD 조합 실험</ns1:t>
            </ns1:r>
          </ns1:p>
        </ns0:txBody>
      </ns0:sp>
      <ns0:sp>
        <ns0:nvSpPr>
          <ns0:cNvPr id="5" name="title_004">
            <ns1:extLst>
              <ns1:ext uri="{FF2B5EF4-FFF2-40B4-BE49-F238E27FC236}">
                <ns2:creationId id="{B035BDCD-1320-470E-BA08-5F31768B9A50}"/>
              </ns1:ext>
            </ns1:extLst>
          </ns0:cNvPr>
          <ns0:cNvSpPr>
            <ns1:spLocks noGrp="1"/>
          </ns0:cNvSpPr>
          <ns0:nvPr/>
        </ns0:nvSpPr>
        <ns0:spPr>
          <ns1:xfrm>
            <ns1:off x="6717125" y="2621310"/>
            <ns1:ext cx="7985375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500" b="0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500" b="0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500" b="0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rPr>
              <ns1:t>문종건 · 2021214556 · 동국대학교 WISE 캠퍼스 컴퓨터공학과 · 지도교수 김진석 · 2026.10.15</ns1:t>
            </ns1:r>
          </ns1:p>
        </ns0:txBody>
      </ns0:sp>
      <ns0:sp>
        <ns0:nvSpPr>
          <ns0:cNvPr id="6" name="01_005">
            <ns1:extLst>
              <ns1:ext uri="{FF2B5EF4-FFF2-40B4-BE49-F238E27FC236}">
                <ns2:creationId id="{899BFEBC-4675-4CE1-A1A5-E15E63301918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3672000"/>
            <ns1:ext cx="19944000" cy="396000"/>
          </ns1:xfrm>
          <ns1:prstGeom prst="rect">
            <ns1:avLst/>
          </ns1:prstGeom>
          <ns1:solidFill>
            <ns1:srgbClr val="6B5087"/>
          </ns1:solidFill>
          <ns1:ln w="0">
            <ns1:noFill/>
          </ns1:ln>
        </ns0:spPr>
      </ns0:sp>
      <ns0:sp>
        <ns0:nvSpPr>
          <ns0:cNvPr id="7" name="01_006">
            <ns1:extLst>
              <ns1:ext uri="{FF2B5EF4-FFF2-40B4-BE49-F238E27FC236}">
                <ns2:creationId id="{11476033-5CFF-49B9-9DC6-69246F265149}"/>
              </ns1:ext>
            </ns1:extLst>
          </ns0:cNvPr>
          <ns0:cNvSpPr>
            <ns1:spLocks noGrp="1"/>
          </ns0:cNvSpPr>
          <ns0:nvPr/>
        </ns0:nvSpPr>
        <ns0:spPr>
          <ns1:xfrm>
            <ns1:off x="828000" y="3689480"/>
            <ns1:ext cx="5635038" cy="355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rPr>
              <ns1:t>01 연구 배경과 선행연구: 한국어 질의–영어 문서</ns1:t>
            </ns1:r>
          </ns1:p>
        </ns0:txBody>
      </ns0:sp>
      <ns0:sp>
        <ns0:nvSpPr>
          <ns0:cNvPr id="8" name="01_007">
            <ns1:extLst>
              <ns1:ext uri="{FF2B5EF4-FFF2-40B4-BE49-F238E27FC236}">
                <ns2:creationId id="{C866825E-CA1C-4D93-9720-4D5B42F6A624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4150641"/>
            <ns1:ext cx="4249920" cy="29337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6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6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6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영어 논문에 한국어로 질문할 때 생기는 문제</ns1:t>
            </ns1:r>
          </ns1:p>
        </ns0:txBody>
      </ns0:sp>
      <ns0:sp>
        <ns0:nvSpPr>
          <ns0:cNvPr id="9" name="01_008">
            <ns1:extLst>
              <ns1:ext uri="{FF2B5EF4-FFF2-40B4-BE49-F238E27FC236}">
                <ns2:creationId id="{57130BE6-06F1-4A53-8E9B-69C3FB2A559F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4438641"/>
            <ns1:ext cx="6147329" cy="29337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6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6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6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한국어 질문과 영어 원문의 표현 차이가 검색에 미치는 영향 확인</ns1:t>
            </ns1:r>
          </ns1:p>
        </ns0:txBody>
      </ns0:sp>
      <ns0:sp>
        <ns0:nvSpPr>
          <ns0:cNvPr id="10" name="01_009">
            <ns1:extLst>
              <ns1:ext uri="{FF2B5EF4-FFF2-40B4-BE49-F238E27FC236}">
                <ns2:creationId id="{DC65ECC6-40F3-4A9B-97B0-A6A6D2445904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4726641"/>
            <ns1:ext cx="6957698" cy="29337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6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6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6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검색한 근거를 답변에 얼마나 반영하는지, 한국어 출력을 유지하는지 확인</ns1:t>
            </ns1:r>
          </ns1:p>
        </ns0:txBody>
      </ns0:sp>
      <ns0:sp>
        <ns0:nvSpPr>
          <ns0:cNvPr id="11" name="01_010">
            <ns1:extLst>
              <ns1:ext uri="{FF2B5EF4-FFF2-40B4-BE49-F238E27FC236}">
                <ns2:creationId id="{F3864B6D-A5B0-40B3-89F7-36E8BE312E04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5014641"/>
            <ns1:ext cx="5564518" cy="29337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6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6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6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검색, 답변 생성과 출력 언어에서 세 기법의 적용 전후 비교</ns1:t>
            </ns1:r>
          </ns1:p>
        </ns0:txBody>
      </ns0:sp>
      <ns0:graphicFrame>
        <ns0:nvGraphicFramePr>
          <ns0:cNvPr id="12" name="">
            <ns1:extLst>
              <ns1:ext uri="{FF2B5EF4-FFF2-40B4-BE49-F238E27FC236}">
                <ns2:creationId id="{10232F8F-8506-49B2-A064-6AB2E7AA4C04}"/>
              </ns1:ext>
            </ns1:extLst>
          </ns0:cNvPr>
          <ns0:cNvGraphicFramePr/>
          <ns0:nvPr/>
        </ns0:nvGraphicFramePr>
        <ns0:xfrm>
          <ns1:off x="720000" y="5472000"/>
          <ns1:ext cx="9684000" cy="1224000"/>
        </ns0:xfrm>
        <ns1:graphic>
          <ns1:graphicData uri="http://schemas.openxmlformats.org/drawingml/2006/table">
            <ns1:tbl>
              <ns1:tblPr firstRow="0" bandRow="0"/>
              <ns1:tblGrid>
                <ns1:gridCol w="1224000"/>
                <ns1:gridCol w="8460000"/>
              </ns1:tblGrid>
              <ns1:tr h="306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RQ1 검색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HyDE 적용 전후 답변 관련성은 어떻게 달라지는가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</ns1:tr>
              <ns1:tr h="306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RQ2 생성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같은 문맥에서 CAD 적용 전후 품질과 시간은 어떻게 달라지는가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</ns1:tr>
              <ns1:tr h="306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RQ3 언어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SCD 적용 전후 한국어 문자 비율은 어떻게 달라지는가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</ns1:tr>
              <ns1:tr h="306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RQ4 조합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관련성, 충실도, 한국어 비율과 실행 시간에 따라 어떤 조건을 고르는가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</ns1:tr>
            </ns1:tbl>
          </ns1:graphicData>
        </ns1:graphic>
      </ns0:graphicFrame>
      <ns0:graphicFrame>
        <ns0:nvGraphicFramePr>
          <ns0:cNvPr id="13" name="">
            <ns1:extLst>
              <ns1:ext uri="{FF2B5EF4-FFF2-40B4-BE49-F238E27FC236}">
                <ns2:creationId id="{1AEDD65D-F05A-48E6-95E0-1DEC8140AAEC}"/>
              </ns1:ext>
            </ns1:extLst>
          </ns0:cNvPr>
          <ns0:cNvGraphicFramePr/>
          <ns0:nvPr/>
        </ns0:nvGraphicFramePr>
        <ns0:xfrm>
          <ns1:off x="10980000" y="4284000"/>
          <ns1:ext cx="9684000" cy="2304000"/>
        </ns0:xfrm>
        <ns1:graphic>
          <ns1:graphicData uri="http://schemas.openxmlformats.org/drawingml/2006/table">
            <ns1:tbl>
              <ns1:tblPr firstRow="0" bandRow="0"/>
              <ns1:tblGrid>
                <ns1:gridCol w="1836000"/>
                <ns1:gridCol w="7848000"/>
              </ns1:tblGrid>
              <ns1:tr h="576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RAG [1]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검색 증강 생성: 관련 문서를 검색해 답변 생성에 활용</ns1:t>
                      </ns1:r>
                    </ns1:p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Paper-RAG의 검색과 생성 모델은 모든 조건에서 고정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</ns1:tr>
              <ns1:tr h="576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HyDE [2]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한국어 질문을 영어로 바꾸고 가상 문서를 생성해 벡터로 변환</ns1:t>
                      </ns1:r>
                    </ns1:p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벡터는 밀집 검색에 사용, BM25와 재정렬은 원래 질문 사용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</ns1:tr>
              <ns1:tr h="576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CAD [3]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같은 모델의 문맥 포함 분포와 문맥 제외 분포를 비교</ns1:t>
                      </ns1:r>
                    </ns1:p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토큰 점수를 (1+α)z_ctx - αz_noctx로 조절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</ns1:tr>
              <ns1:tr h="576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SCD [4]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토큰의 언어에 따라 생성 점수를 조절해 한국어 출력을 유도</ns1:t>
                      </ns1:r>
                    </ns1:p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CAD 후 한국어1.1, 비목표0.9 적용; 중립과 초기5생성단계 유지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14" name="01_013">
            <ns1:extLst>
              <ns1:ext uri="{FF2B5EF4-FFF2-40B4-BE49-F238E27FC236}">
                <ns2:creationId id="{1BD02913-6395-4442-AA1F-4C86B223830C}"/>
              </ns1:ext>
            </ns1:extLst>
          </ns0:cNvPr>
          <ns0:cNvSpPr>
            <ns1:spLocks noGrp="1"/>
          </ns0:cNvSpPr>
          <ns0:nvPr/>
        </ns0:nvSpPr>
        <ns0:spPr>
          <ns1:xfrm>
            <ns1:off x="10980000" y="6648425"/>
            <ns1:ext cx="3998006" cy="222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2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2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2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rPr>
              <ns1:t>관련 연구: DPR[11], FiD[12], 긴 문맥[9], 자기검증[15,16]</ns1:t>
            </ns1:r>
          </ns1:p>
        </ns0:txBody>
      </ns0:sp>
      <ns0:sp>
        <ns0:nvSpPr>
          <ns0:cNvPr id="15" name="02_014">
            <ns1:extLst>
              <ns1:ext uri="{FF2B5EF4-FFF2-40B4-BE49-F238E27FC236}">
                <ns2:creationId id="{7DD24FDC-B5BA-4998-AF3A-094011CA555E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7236000"/>
            <ns1:ext cx="19944000" cy="396000"/>
          </ns1:xfrm>
          <ns1:prstGeom prst="rect">
            <ns1:avLst/>
          </ns1:prstGeom>
          <ns1:solidFill>
            <ns1:srgbClr val="6B5087"/>
          </ns1:solidFill>
          <ns1:ln w="0">
            <ns1:noFill/>
          </ns1:ln>
        </ns0:spPr>
      </ns0:sp>
      <ns0:sp>
        <ns0:nvSpPr>
          <ns0:cNvPr id="16" name="02_015">
            <ns1:extLst>
              <ns1:ext uri="{FF2B5EF4-FFF2-40B4-BE49-F238E27FC236}">
                <ns2:creationId id="{4AB0B3AF-1C86-463E-AE45-5E9A2AABFC4F}"/>
              </ns1:ext>
            </ns1:extLst>
          </ns0:cNvPr>
          <ns0:cNvSpPr>
            <ns1:spLocks noGrp="1"/>
          </ns0:cNvSpPr>
          <ns0:nvPr/>
        </ns0:nvSpPr>
        <ns0:spPr>
          <ns1:xfrm>
            <ns1:off x="828000" y="7253480"/>
            <ns1:ext cx="5837568" cy="355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rPr>
              <ns1:t>02 Paper-RAG 시스템 구조와 세 기법의 적용 위치</ns1:t>
            </ns1:r>
          </ns1:p>
        </ns0:txBody>
      </ns0:sp>
      <ns0:sp>
        <ns0:nvSpPr>
          <ns0:cNvPr id="17" name="02_016">
            <ns1:extLst>
              <ns1:ext uri="{FF2B5EF4-FFF2-40B4-BE49-F238E27FC236}">
                <ns2:creationId id="{93716A1B-6014-48FA-99EE-AE950F8DB104}"/>
              </ns1:ext>
            </ns1:extLst>
          </ns0:cNvPr>
          <ns0:cNvSpPr>
            <ns1:spLocks noGrp="1"/>
          </ns0:cNvSpPr>
          <ns0:nvPr/>
        </ns0:nvSpPr>
        <ns0:spPr>
          <ns1:xfrm>
            <ns1:off x="864000" y="7758202"/>
            <ns1:ext cx="4117711" cy="2311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검색: 한국어 질문을 바탕으로 영어 문서에서 근거 검색</ns1:t>
            </ns1:r>
          </ns1:p>
        </ns0:txBody>
      </ns0:sp>
      <ns0:sp>
        <ns0:nvSpPr>
          <ns0:cNvPr id="18" name="02_017">
            <ns1:extLst>
              <ns1:ext uri="{FF2B5EF4-FFF2-40B4-BE49-F238E27FC236}">
                <ns2:creationId id="{78A89043-89E0-4137-98C4-260BFA7D8EA2}"/>
              </ns1:ext>
            </ns1:extLst>
          </ns0:cNvPr>
          <ns0:cNvSpPr>
            <ns1:spLocks noGrp="1"/>
          </ns0:cNvSpPr>
          <ns0:nvPr/>
        </ns0:nvSpPr>
        <ns0:spPr>
          <ns1:xfrm>
            <ns1:off x="864000" y="8712000"/>
            <ns1:ext cx="1980000" cy="720000"/>
          </ns1:xfrm>
          <ns1:prstGeom prst="rect">
            <ns1:avLst/>
          </ns1:prstGeom>
          <ns1:solidFill>
            <ns1:srgbClr val="FFFFFF"/>
          </ns1:solidFill>
          <ns1:ln w="19800">
            <ns1:solidFill>
              <ns1:srgbClr val="D8D0E0"/>
            </ns1:solidFill>
          </ns1:ln>
        </ns0:spPr>
      </ns0:sp>
      <ns0:sp>
        <ns0:nvSpPr>
          <ns0:cNvPr id="19" name="02_018">
            <ns1:extLst>
              <ns1:ext uri="{FF2B5EF4-FFF2-40B4-BE49-F238E27FC236}">
                <ns2:creationId id="{AFCE67FD-2BB1-442B-BC11-71DE8628D451}"/>
              </ns1:ext>
            </ns1:extLst>
          </ns0:cNvPr>
          <ns0:cNvSpPr>
            <ns1:spLocks noGrp="1"/>
          </ns0:cNvSpPr>
          <ns0:nvPr/>
        </ns0:nvSpPr>
        <ns0:spPr>
          <ns1:xfrm>
            <ns1:off x="1289346" y="8958208"/>
            <ns1:ext cx="1165308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한국어 원질의</ns1:t>
            </ns1:r>
          </ns1:p>
        </ns0:txBody>
      </ns0:sp>
      <ns0:sp>
        <ns0:nvSpPr>
          <ns0:cNvPr id="20" name="02_019">
            <ns1:extLst>
              <ns1:ext uri="{FF2B5EF4-FFF2-40B4-BE49-F238E27FC236}">
                <ns2:creationId id="{CEF9E0AA-6441-42B1-A618-9F867505E307}"/>
              </ns1:ext>
            </ns1:extLst>
          </ns0:cNvPr>
          <ns0:cNvSpPr>
            <ns1:spLocks noGrp="1"/>
          </ns0:cNvSpPr>
          <ns0:nvPr/>
        </ns0:nvSpPr>
        <ns0:spPr>
          <ns1:xfrm>
            <ns1:off x="3780000" y="8064000"/>
            <ns1:ext cx="2808000" cy="1008000"/>
          </ns1:xfrm>
          <ns1:prstGeom prst="rect">
            <ns1:avLst/>
          </ns1:prstGeom>
          <ns1:solidFill>
            <ns1:srgbClr val="FFFFFF"/>
          </ns1:solidFill>
          <ns1:ln w="19800">
            <ns1:solidFill>
              <ns1:srgbClr val="347DDB"/>
            </ns1:solidFill>
          </ns1:ln>
        </ns0:spPr>
      </ns0:sp>
      <ns0:sp>
        <ns0:nvSpPr>
          <ns0:cNvPr id="21" name="02_020">
            <ns1:extLst>
              <ns1:ext uri="{FF2B5EF4-FFF2-40B4-BE49-F238E27FC236}">
                <ns2:creationId id="{47D0BE46-1A94-496E-8714-5B7258FCFD90}"/>
              </ns1:ext>
            </ns1:extLst>
          </ns0:cNvPr>
          <ns0:cNvSpPr>
            <ns1:spLocks noGrp="1"/>
          </ns0:cNvSpPr>
          <ns0:nvPr/>
        </ns0:nvSpPr>
        <ns0:spPr>
          <ns1:xfrm>
            <ns1:off x="4619253" y="8139375"/>
            <ns1:ext cx="1165494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HyDE 선택 [2]</ns1:t>
            </ns1:r>
          </ns1:p>
        </ns0:txBody>
      </ns0:sp>
      <ns0:sp>
        <ns0:nvSpPr>
          <ns0:cNvPr id="22" name="02_021">
            <ns1:extLst>
              <ns1:ext uri="{FF2B5EF4-FFF2-40B4-BE49-F238E27FC236}">
                <ns2:creationId id="{866EB27D-C00F-4884-B4B5-9A7F19A621CB}"/>
              </ns1:ext>
            </ns1:extLst>
          </ns0:cNvPr>
          <ns0:cNvSpPr>
            <ns1:spLocks noGrp="1"/>
          </ns0:cNvSpPr>
          <ns0:nvPr/>
        </ns0:nvSpPr>
        <ns0:spPr>
          <ns1:xfrm>
            <ns1:off x="4257140" y="8351973"/>
            <ns1:ext cx="1889719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ON: 영어 질문으로 변환</ns1:t>
            </ns1:r>
          </ns1:p>
        </ns0:txBody>
      </ns0:sp>
      <ns0:sp>
        <ns0:nvSpPr>
          <ns0:cNvPr id="23" name="02_022">
            <ns1:extLst>
              <ns1:ext uri="{FF2B5EF4-FFF2-40B4-BE49-F238E27FC236}">
                <ns2:creationId id="{1E06F1F2-A8A2-4197-A37C-D6E9D7553804}"/>
              </ns1:ext>
            </ns1:extLst>
          </ns0:cNvPr>
          <ns0:cNvSpPr>
            <ns1:spLocks noGrp="1"/>
          </ns0:cNvSpPr>
          <ns0:nvPr/>
        </ns0:nvSpPr>
        <ns0:spPr>
          <ns1:xfrm>
            <ns1:off x="4609375" y="8564571"/>
            <ns1:ext cx="1185251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가상 문서 생성</ns1:t>
            </ns1:r>
          </ns1:p>
        </ns0:txBody>
      </ns0:sp>
      <ns0:sp>
        <ns0:nvSpPr>
          <ns0:cNvPr id="24" name="02_023">
            <ns1:extLst>
              <ns1:ext uri="{FF2B5EF4-FFF2-40B4-BE49-F238E27FC236}">
                <ns2:creationId id="{1151BB19-1263-4E36-A7C9-D0B4CD8B93B6}"/>
              </ns1:ext>
            </ns1:extLst>
          </ns0:cNvPr>
          <ns0:cNvSpPr>
            <ns1:spLocks noGrp="1"/>
          </ns0:cNvSpPr>
          <ns0:nvPr/>
        </ns0:nvSpPr>
        <ns0:spPr>
          <ns1:xfrm>
            <ns1:off x="4322983" y="8777169"/>
            <ns1:ext cx="1758034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OFF: 원래 한국어 질문</ns1:t>
            </ns1:r>
          </ns1:p>
        </ns0:txBody>
      </ns0:sp>
      <ns0:sp>
        <ns0:nvSpPr>
          <ns0:cNvPr id="25" name="02_024">
            <ns1:extLst>
              <ns1:ext uri="{FF2B5EF4-FFF2-40B4-BE49-F238E27FC236}">
                <ns2:creationId id="{C95CDA09-C74D-4657-B2DF-8F09030E1B33}"/>
              </ns1:ext>
            </ns1:extLst>
          </ns0:cNvPr>
          <ns0:cNvSpPr>
            <ns1:spLocks noGrp="1"/>
          </ns0:cNvSpPr>
          <ns0:nvPr/>
        </ns0:nvSpPr>
        <ns0:spPr>
          <ns1:xfrm>
            <ns1:off x="7020000" y="8064000"/>
            <ns1:ext cx="2484000" cy="1008000"/>
          </ns1:xfrm>
          <ns1:prstGeom prst="rect">
            <ns1:avLst/>
          </ns1:prstGeom>
          <ns1:solidFill>
            <ns1:srgbClr val="FFFFFF"/>
          </ns1:solidFill>
          <ns1:ln w="19800">
            <ns1:solidFill>
              <ns1:srgbClr val="347DDB"/>
            </ns1:solidFill>
          </ns1:ln>
        </ns0:spPr>
      </ns0:sp>
      <ns0:sp>
        <ns0:nvSpPr>
          <ns0:cNvPr id="26" name="02_025">
            <ns1:extLst>
              <ns1:ext uri="{FF2B5EF4-FFF2-40B4-BE49-F238E27FC236}">
                <ns2:creationId id="{6CF2B6A5-8335-43FD-92B2-C3A32F890023}"/>
              </ns1:ext>
            </ns1:extLst>
          </ns0:cNvPr>
          <ns0:cNvSpPr>
            <ns1:spLocks noGrp="1"/>
          </ns0:cNvSpPr>
          <ns0:nvPr/>
        </ns0:nvSpPr>
        <ns0:spPr>
          <ns1:xfrm>
            <ns1:off x="7772833" y="8343972"/>
            <ns1:ext cx="1014334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BGE-M3 [5]</ns1:t>
            </ns1:r>
          </ns1:p>
        </ns0:txBody>
      </ns0:sp>
      <ns0:sp>
        <ns0:nvSpPr>
          <ns0:cNvPr id="27" name="02_026">
            <ns1:extLst>
              <ns1:ext uri="{FF2B5EF4-FFF2-40B4-BE49-F238E27FC236}">
                <ns2:creationId id="{88A83A56-8741-4929-91C2-A946ED4153C8}"/>
              </ns1:ext>
            </ns1:extLst>
          </ns0:cNvPr>
          <ns0:cNvSpPr>
            <ns1:spLocks noGrp="1"/>
          </ns0:cNvSpPr>
          <ns0:nvPr/>
        </ns0:nvSpPr>
        <ns0:spPr>
          <ns1:xfrm>
            <ns1:off x="7875146" y="8564444"/>
            <ns1:ext cx="809708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밀집 검색</ns1:t>
            </ns1:r>
          </ns1:p>
        </ns0:txBody>
      </ns0:sp>
      <ns0:sp>
        <ns0:nvSpPr>
          <ns0:cNvPr id="28" name="02_027">
            <ns1:extLst>
              <ns1:ext uri="{FF2B5EF4-FFF2-40B4-BE49-F238E27FC236}">
                <ns2:creationId id="{615547FB-1839-41F8-A7E1-11FC7177FE55}"/>
              </ns1:ext>
            </ns1:extLst>
          </ns0:cNvPr>
          <ns0:cNvSpPr>
            <ns1:spLocks noGrp="1"/>
          </ns0:cNvSpPr>
          <ns0:nvPr/>
        </ns0:nvSpPr>
        <ns0:spPr>
          <ns1:xfrm>
            <ns1:off x="7020000" y="9180000"/>
            <ns1:ext cx="2484000" cy="720000"/>
          </ns1:xfrm>
          <ns1:prstGeom prst="rect">
            <ns1:avLst/>
          </ns1:prstGeom>
          <ns1:solidFill>
            <ns1:srgbClr val="FFFFFF"/>
          </ns1:solidFill>
          <ns1:ln w="19800">
            <ns1:solidFill>
              <ns1:srgbClr val="D8D0E0"/>
            </ns1:solidFill>
          </ns1:ln>
        </ns0:spPr>
      </ns0:sp>
      <ns0:sp>
        <ns0:nvSpPr>
          <ns0:cNvPr id="29" name="02_028">
            <ns1:extLst>
              <ns1:ext uri="{FF2B5EF4-FFF2-40B4-BE49-F238E27FC236}">
                <ns2:creationId id="{9403247A-6DB5-4ADE-8FB6-1E2E072CBC31}"/>
              </ns1:ext>
            </ns1:extLst>
          </ns0:cNvPr>
          <ns0:cNvSpPr>
            <ns1:spLocks noGrp="1"/>
          </ns0:cNvSpPr>
          <ns0:nvPr/>
        </ns0:nvSpPr>
        <ns0:spPr>
          <ns1:xfrm>
            <ns1:off x="7884149" y="9323973"/>
            <ns1:ext cx="791703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BM25 [6]</ns1:t>
            </ns1:r>
          </ns1:p>
        </ns0:txBody>
      </ns0:sp>
      <ns0:sp>
        <ns0:nvSpPr>
          <ns0:cNvPr id="30" name="02_029">
            <ns1:extLst>
              <ns1:ext uri="{FF2B5EF4-FFF2-40B4-BE49-F238E27FC236}">
                <ns2:creationId id="{451DE481-1CD7-4D13-B997-82B871B69F83}"/>
              </ns1:ext>
            </ns1:extLst>
          </ns0:cNvPr>
          <ns0:cNvSpPr>
            <ns1:spLocks noGrp="1"/>
          </ns0:cNvSpPr>
          <ns0:nvPr/>
        </ns0:nvSpPr>
        <ns0:spPr>
          <ns1:xfrm>
            <ns1:off x="7400062" y="9536571"/>
            <ns1:ext cx="1759876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원래 질문의 희소 검색</ns1:t>
            </ns1:r>
          </ns1:p>
        </ns0:txBody>
      </ns0:sp>
      <ns0:sp>
        <ns0:nvSpPr>
          <ns0:cNvPr id="31" name="02_030">
            <ns1:extLst>
              <ns1:ext uri="{FF2B5EF4-FFF2-40B4-BE49-F238E27FC236}">
                <ns2:creationId id="{B310C653-F73A-483F-A038-A48159C63781}"/>
              </ns1:ext>
            </ns1:extLst>
          </ns0:cNvPr>
          <ns0:cNvSpPr>
            <ns1:spLocks noGrp="1"/>
          </ns0:cNvSpPr>
          <ns0:nvPr/>
        </ns0:nvSpPr>
        <ns0:spPr>
          <ns1:xfrm>
            <ns1:off x="10296000" y="8424000"/>
            <ns1:ext cx="2124000" cy="1368000"/>
          </ns1:xfrm>
          <ns1:prstGeom prst="rect">
            <ns1:avLst/>
          </ns1:prstGeom>
          <ns1:solidFill>
            <ns1:srgbClr val="FFFFFF"/>
          </ns1:solidFill>
          <ns1:ln w="19800">
            <ns1:solidFill>
              <ns1:srgbClr val="D8D0E0"/>
            </ns1:solidFill>
          </ns1:ln>
        </ns0:spPr>
      </ns0:sp>
      <ns0:sp>
        <ns0:nvSpPr>
          <ns0:cNvPr id="32" name="02_031">
            <ns1:extLst>
              <ns1:ext uri="{FF2B5EF4-FFF2-40B4-BE49-F238E27FC236}">
                <ns2:creationId id="{F2A88DBB-E89E-4022-93CD-19EFED649FAA}"/>
              </ns1:ext>
            </ns1:extLst>
          </ns0:cNvPr>
          <ns0:cNvSpPr>
            <ns1:spLocks noGrp="1"/>
          </ns0:cNvSpPr>
          <ns0:nvPr/>
        </ns0:nvSpPr>
        <ns0:spPr>
          <ns1:xfrm>
            <ns1:off x="10659832" y="8797612"/>
            <ns1:ext cx="1432336" cy="2311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Weighted RRF [7]</ns1:t>
            </ns1:r>
          </ns1:p>
        </ns0:txBody>
      </ns0:sp>
      <ns0:sp>
        <ns0:nvSpPr>
          <ns0:cNvPr id="33" name="02_032">
            <ns1:extLst>
              <ns1:ext uri="{FF2B5EF4-FFF2-40B4-BE49-F238E27FC236}">
                <ns2:creationId id="{F637A78D-AEB5-4F92-96C6-45C28A8EF8EF}"/>
              </ns1:ext>
            </ns1:extLst>
          </ns0:cNvPr>
          <ns0:cNvSpPr>
            <ns1:spLocks noGrp="1"/>
          </ns0:cNvSpPr>
          <ns0:nvPr/>
        </ns0:nvSpPr>
        <ns0:spPr>
          <ns1:xfrm>
            <ns1:off x="10830655" y="9002336"/>
            <ns1:ext cx="1090689" cy="2311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가중치 0.6/0.4</ns1:t>
            </ns1:r>
          </ns1:p>
        </ns0:txBody>
      </ns0:sp>
      <ns0:sp>
        <ns0:nvSpPr>
          <ns0:cNvPr id="34" name="02_033">
            <ns1:extLst>
              <ns1:ext uri="{FF2B5EF4-FFF2-40B4-BE49-F238E27FC236}">
                <ns2:creationId id="{58F999E1-19A9-496A-9B92-5F277ACEB1DD}"/>
              </ns1:ext>
            </ns1:extLst>
          </ns0:cNvPr>
          <ns0:cNvSpPr>
            <ns1:spLocks noGrp="1"/>
          </ns0:cNvSpPr>
          <ns0:nvPr/>
        </ns0:nvSpPr>
        <ns0:spPr>
          <ns1:xfrm>
            <ns1:off x="11167466" y="9207060"/>
            <ns1:ext cx="417068" cy="2311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k=60</ns1:t>
            </ns1:r>
          </ns1:p>
        </ns0:txBody>
      </ns0:sp>
      <ns0:sp>
        <ns0:nvSpPr>
          <ns0:cNvPr id="35" name="02_034">
            <ns1:extLst>
              <ns1:ext uri="{FF2B5EF4-FFF2-40B4-BE49-F238E27FC236}">
                <ns2:creationId id="{7FC97C81-35B0-4258-8D26-92F3FE2820FA}"/>
              </ns1:ext>
            </ns1:extLst>
          </ns0:cNvPr>
          <ns0:cNvSpPr>
            <ns1:spLocks noGrp="1"/>
          </ns0:cNvSpPr>
          <ns0:nvPr/>
        </ns0:nvSpPr>
        <ns0:spPr>
          <ns1:xfrm>
            <ns1:off x="13104000" y="8424000"/>
            <ns1:ext cx="3312000" cy="1368000"/>
          </ns1:xfrm>
          <ns1:prstGeom prst="rect">
            <ns1:avLst/>
          </ns1:prstGeom>
          <ns1:solidFill>
            <ns1:srgbClr val="FFFFFF"/>
          </ns1:solidFill>
          <ns1:ln w="19800">
            <ns1:solidFill>
              <ns1:srgbClr val="D8D0E0"/>
            </ns1:solidFill>
          </ns1:ln>
        </ns0:spPr>
      </ns0:sp>
      <ns0:sp>
        <ns0:nvSpPr>
          <ns0:cNvPr id="36" name="02_035">
            <ns1:extLst>
              <ns1:ext uri="{FF2B5EF4-FFF2-40B4-BE49-F238E27FC236}">
                <ns2:creationId id="{D9BF920C-04B2-4186-A0D1-470EAF22BABB}"/>
              </ns1:ext>
            </ns1:extLst>
          </ns0:cNvPr>
          <ns0:cNvSpPr>
            <ns1:spLocks noGrp="1"/>
          </ns0:cNvSpPr>
          <ns0:nvPr/>
        </ns0:nvSpPr>
        <ns0:spPr>
          <ns1:xfrm>
            <ns1:off x="14070265" y="8785674"/>
            <ns1:ext cx="1415469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CrossEncoder [8]</ns1:t>
            </ns1:r>
          </ns1:p>
        </ns0:txBody>
      </ns0:sp>
      <ns0:sp>
        <ns0:nvSpPr>
          <ns0:cNvPr id="37" name="02_036">
            <ns1:extLst>
              <ns1:ext uri="{FF2B5EF4-FFF2-40B4-BE49-F238E27FC236}">
                <ns2:creationId id="{412FB894-8709-4C82-84E4-F6283CB835AA}"/>
              </ns1:ext>
            </ns1:extLst>
          </ns0:cNvPr>
          <ns0:cNvSpPr>
            <ns1:spLocks noGrp="1"/>
          </ns0:cNvSpPr>
          <ns0:nvPr/>
        </ns0:nvSpPr>
        <ns0:spPr>
          <ns1:xfrm>
            <ns1:off x="13928200" y="8998272"/>
            <ns1:ext cx="1699601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원래 질문으로 재정렬</ns1:t>
            </ns1:r>
          </ns1:p>
        </ns0:txBody>
      </ns0:sp>
      <ns0:sp>
        <ns0:nvSpPr>
          <ns0:cNvPr id="38" name="02_037">
            <ns1:extLst>
              <ns1:ext uri="{FF2B5EF4-FFF2-40B4-BE49-F238E27FC236}">
                <ns2:creationId id="{FDDFC1A2-418F-4A71-A6D5-70AA5B582E33}"/>
              </ns1:ext>
            </ns1:extLst>
          </ns0:cNvPr>
          <ns0:cNvSpPr>
            <ns1:spLocks noGrp="1"/>
          </ns0:cNvSpPr>
          <ns0:nvPr/>
        </ns0:nvSpPr>
        <ns0:spPr>
          <ns1:xfrm>
            <ns1:off x="14425472" y="9210870"/>
            <ns1:ext cx="705057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후보 8개</ns1:t>
            </ns1:r>
          </ns1:p>
        </ns0:txBody>
      </ns0:sp>
      <ns0:sp>
        <ns0:nvSpPr>
          <ns0:cNvPr id="39" name="02_038">
            <ns1:extLst>
              <ns1:ext uri="{FF2B5EF4-FFF2-40B4-BE49-F238E27FC236}">
                <ns2:creationId id="{7466E627-A716-4049-AA95-5AEEAE298974}"/>
              </ns1:ext>
            </ns1:extLst>
          </ns0:cNvPr>
          <ns0:cNvSpPr>
            <ns1:spLocks noGrp="1"/>
          </ns0:cNvSpPr>
          <ns0:nvPr/>
        </ns0:nvSpPr>
        <ns0:spPr>
          <ns1:xfrm>
            <ns1:off x="17172000" y="8424000"/>
            <ns1:ext cx="3276000" cy="1368000"/>
          </ns1:xfrm>
          <ns1:prstGeom prst="rect">
            <ns1:avLst/>
          </ns1:prstGeom>
          <ns1:solidFill>
            <ns1:srgbClr val="FFFFFF"/>
          </ns1:solidFill>
          <ns1:ln w="19800">
            <ns1:solidFill>
              <ns1:srgbClr val="D8D0E0"/>
            </ns1:solidFill>
          </ns1:ln>
        </ns0:spPr>
      </ns0:sp>
      <ns0:sp>
        <ns0:nvSpPr>
          <ns0:cNvPr id="40" name="02_039">
            <ns1:extLst>
              <ns1:ext uri="{FF2B5EF4-FFF2-40B4-BE49-F238E27FC236}">
                <ns2:creationId id="{129CD468-7265-49C5-9ED2-80F4FDD5FB31}"/>
              </ns1:ext>
            </ns1:extLst>
          </ns0:cNvPr>
          <ns0:cNvSpPr>
            <ns1:spLocks noGrp="1"/>
          </ns0:cNvSpPr>
          <ns0:nvPr/>
        </ns0:nvSpPr>
        <ns0:spPr>
          <ns1:xfrm>
            <ns1:off x="18069827" y="8785674"/>
            <ns1:ext cx="1516347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상위 5개 청크 선택</ns1:t>
            </ns1:r>
          </ns1:p>
        </ns0:txBody>
      </ns0:sp>
      <ns0:sp>
        <ns0:nvSpPr>
          <ns0:cNvPr id="41" name="02_040">
            <ns1:extLst>
              <ns1:ext uri="{FF2B5EF4-FFF2-40B4-BE49-F238E27FC236}">
                <ns2:creationId id="{88512857-DB97-412A-8857-8A86308CA3C3}"/>
              </ns1:ext>
            </ns1:extLst>
          </ns0:cNvPr>
          <ns0:cNvSpPr>
            <ns1:spLocks noGrp="1"/>
          </ns0:cNvSpPr>
          <ns0:nvPr/>
        </ns0:nvSpPr>
        <ns0:spPr>
          <ns1:xfrm>
            <ns1:off x="18045047" y="8998272"/>
            <ns1:ext cx="1565907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ContextCompressor</ns1:t>
            </ns1:r>
          </ns1:p>
        </ns0:txBody>
      </ns0:sp>
      <ns0:sp>
        <ns0:nvSpPr>
          <ns0:cNvPr id="42" name="02_041">
            <ns1:extLst>
              <ns1:ext uri="{FF2B5EF4-FFF2-40B4-BE49-F238E27FC236}">
                <ns2:creationId id="{D1529B97-00E9-4FE7-A52C-A058B93180FD}"/>
              </ns1:ext>
            </ns1:extLst>
          </ns0:cNvPr>
          <ns0:cNvSpPr>
            <ns1:spLocks noGrp="1"/>
          </ns0:cNvSpPr>
          <ns0:nvPr/>
        </ns0:nvSpPr>
        <ns0:spPr>
          <ns1:xfrm>
            <ns1:off x="17930649" y="9210870"/>
            <ns1:ext cx="1794702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3072단어 초과 시 압축</ns1:t>
            </ns1:r>
          </ns1:p>
        </ns0:txBody>
      </ns0:sp>
      <ns0:sp>
        <ns0:nvSpPr>
          <ns0:cNvPr id="43" name="02_042">
            <ns1:extLst>
              <ns1:ext uri="{FF2B5EF4-FFF2-40B4-BE49-F238E27FC236}">
                <ns2:creationId id="{C0B3B8EF-4955-4902-A0EB-72C607D291CE}"/>
              </ns1:ext>
            </ns1:extLst>
          </ns0:cNvPr>
          <ns0:cNvSpPr>
            <ns1:spLocks noGrp="1"/>
          </ns0:cNvSpPr>
          <ns0:nvPr/>
        </ns0:nvSpPr>
        <ns0:spPr>
          <ns1:xfrm>
            <ns1:off x="2844000" y="9072000"/>
            <ns1:ext cx="468000" cy="36"/>
          </ns1:xfrm>
          <ns1:custGeom>
            <ns1:pathLst>
              <ns1:path w="468000" h="36">
                <ns1:moveTo>
                  <ns1:pt x="0" y="0"/>
                </ns1:moveTo>
                <ns1:lnTo>
                  <ns1:pt x="46800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44" name="02_043">
            <ns1:extLst>
              <ns1:ext uri="{FF2B5EF4-FFF2-40B4-BE49-F238E27FC236}">
                <ns2:creationId id="{0ED21098-BAB1-4F78-AB15-62DEB70B7F38}"/>
              </ns1:ext>
            </ns1:extLst>
          </ns0:cNvPr>
          <ns0:cNvSpPr>
            <ns1:spLocks noGrp="1"/>
          </ns0:cNvSpPr>
          <ns0:nvPr/>
        </ns0:nvSpPr>
        <ns0:spPr>
          <ns1:xfrm>
            <ns1:off x="3312000" y="8568000"/>
            <ns1:ext cx="36" cy="504000"/>
          </ns1:xfrm>
          <ns1:custGeom>
            <ns1:pathLst>
              <ns1:path w="36" h="504000">
                <ns1:moveTo>
                  <ns1:pt x="0" y="504000"/>
                </ns1:moveTo>
                <ns1:lnTo>
                  <ns1:pt x="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45" name="02_044">
            <ns1:extLst>
              <ns1:ext uri="{FF2B5EF4-FFF2-40B4-BE49-F238E27FC236}">
                <ns2:creationId id="{D7DA6838-CC85-41EC-B56A-D0F07AF373DC}"/>
              </ns1:ext>
            </ns1:extLst>
          </ns0:cNvPr>
          <ns0:cNvSpPr>
            <ns1:spLocks noGrp="1"/>
          </ns0:cNvSpPr>
          <ns0:nvPr/>
        </ns0:nvSpPr>
        <ns0:spPr>
          <ns1:xfrm>
            <ns1:off x="3312000" y="8568000"/>
            <ns1:ext cx="468000" cy="36"/>
          </ns1:xfrm>
          <ns1:custGeom>
            <ns1:pathLst>
              <ns1:path w="468000" h="36">
                <ns1:moveTo>
                  <ns1:pt x="0" y="0"/>
                </ns1:moveTo>
                <ns1:lnTo>
                  <ns1:pt x="46800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46" name="02_045">
            <ns1:extLst>
              <ns1:ext uri="{FF2B5EF4-FFF2-40B4-BE49-F238E27FC236}">
                <ns2:creationId id="{443EB1DB-C948-4DCE-9F93-BC87463410A7}"/>
              </ns1:ext>
            </ns1:extLst>
          </ns0:cNvPr>
          <ns0:cNvSpPr>
            <ns1:spLocks noGrp="1"/>
          </ns0:cNvSpPr>
          <ns0:nvPr/>
        </ns0:nvSpPr>
        <ns0:spPr>
          <ns1:xfrm>
            <ns1:off x="3712480" y="8568000"/>
            <ns1:ext cx="67520" cy="41397"/>
          </ns1:xfrm>
          <ns1:custGeom>
            <ns1:pathLst>
              <ns1:path w="67520" h="41397">
                <ns1:moveTo>
                  <ns1:pt x="67520" y="0"/>
                </ns1:moveTo>
                <ns1:lnTo>
                  <ns1:pt x="0" y="41397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47" name="02_046">
            <ns1:extLst>
              <ns1:ext uri="{FF2B5EF4-FFF2-40B4-BE49-F238E27FC236}">
                <ns2:creationId id="{DEA0AAD7-C484-4A5B-8704-EF06914CC75C}"/>
              </ns1:ext>
            </ns1:extLst>
          </ns0:cNvPr>
          <ns0:cNvSpPr>
            <ns1:spLocks noGrp="1"/>
          </ns0:cNvSpPr>
          <ns0:nvPr/>
        </ns0:nvSpPr>
        <ns0:spPr>
          <ns1:xfrm>
            <ns1:off x="3712480" y="8526603"/>
            <ns1:ext cx="67520" cy="41397"/>
          </ns1:xfrm>
          <ns1:custGeom>
            <ns1:pathLst>
              <ns1:path w="67520" h="41397">
                <ns1:moveTo>
                  <ns1:pt x="67520" y="41397"/>
                </ns1:moveTo>
                <ns1:lnTo>
                  <ns1:pt x="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48" name="02_047">
            <ns1:extLst>
              <ns1:ext uri="{FF2B5EF4-FFF2-40B4-BE49-F238E27FC236}">
                <ns2:creationId id="{69F79697-0AAD-4A92-95E7-FF0FEAA9C5E2}"/>
              </ns1:ext>
            </ns1:extLst>
          </ns0:cNvPr>
          <ns0:cNvSpPr>
            <ns1:spLocks noGrp="1"/>
          </ns0:cNvSpPr>
          <ns0:nvPr/>
        </ns0:nvSpPr>
        <ns0:spPr>
          <ns1:xfrm>
            <ns1:off x="3312000" y="9072000"/>
            <ns1:ext cx="36" cy="468000"/>
          </ns1:xfrm>
          <ns1:custGeom>
            <ns1:pathLst>
              <ns1:path w="36" h="468000">
                <ns1:moveTo>
                  <ns1:pt x="0" y="0"/>
                </ns1:moveTo>
                <ns1:lnTo>
                  <ns1:pt x="0" y="46800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49" name="02_048">
            <ns1:extLst>
              <ns1:ext uri="{FF2B5EF4-FFF2-40B4-BE49-F238E27FC236}">
                <ns2:creationId id="{D3F1293B-C6CC-4348-9517-1B6D2558995B}"/>
              </ns1:ext>
            </ns1:extLst>
          </ns0:cNvPr>
          <ns0:cNvSpPr>
            <ns1:spLocks noGrp="1"/>
          </ns0:cNvSpPr>
          <ns0:nvPr/>
        </ns0:nvSpPr>
        <ns0:spPr>
          <ns1:xfrm>
            <ns1:off x="3312000" y="9540000"/>
            <ns1:ext cx="3708000" cy="36"/>
          </ns1:xfrm>
          <ns1:custGeom>
            <ns1:pathLst>
              <ns1:path w="3708000" h="36">
                <ns1:moveTo>
                  <ns1:pt x="0" y="0"/>
                </ns1:moveTo>
                <ns1:lnTo>
                  <ns1:pt x="370800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50" name="02_049">
            <ns1:extLst>
              <ns1:ext uri="{FF2B5EF4-FFF2-40B4-BE49-F238E27FC236}">
                <ns2:creationId id="{840E4E78-3E25-4D92-B789-64E5C88EFFCF}"/>
              </ns1:ext>
            </ns1:extLst>
          </ns0:cNvPr>
          <ns0:cNvSpPr>
            <ns1:spLocks noGrp="1"/>
          </ns0:cNvSpPr>
          <ns0:nvPr/>
        </ns0:nvSpPr>
        <ns0:spPr>
          <ns1:xfrm>
            <ns1:off x="6952480" y="9540000"/>
            <ns1:ext cx="67520" cy="41397"/>
          </ns1:xfrm>
          <ns1:custGeom>
            <ns1:pathLst>
              <ns1:path w="67520" h="41397">
                <ns1:moveTo>
                  <ns1:pt x="67520" y="0"/>
                </ns1:moveTo>
                <ns1:lnTo>
                  <ns1:pt x="0" y="41397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51" name="02_050">
            <ns1:extLst>
              <ns1:ext uri="{FF2B5EF4-FFF2-40B4-BE49-F238E27FC236}">
                <ns2:creationId id="{C2C00A1E-C036-4A2A-B218-8EFD612A7385}"/>
              </ns1:ext>
            </ns1:extLst>
          </ns0:cNvPr>
          <ns0:cNvSpPr>
            <ns1:spLocks noGrp="1"/>
          </ns0:cNvSpPr>
          <ns0:nvPr/>
        </ns0:nvSpPr>
        <ns0:spPr>
          <ns1:xfrm>
            <ns1:off x="6952480" y="9498603"/>
            <ns1:ext cx="67520" cy="41397"/>
          </ns1:xfrm>
          <ns1:custGeom>
            <ns1:pathLst>
              <ns1:path w="67520" h="41397">
                <ns1:moveTo>
                  <ns1:pt x="67520" y="41397"/>
                </ns1:moveTo>
                <ns1:lnTo>
                  <ns1:pt x="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52" name="02_051">
            <ns1:extLst>
              <ns1:ext uri="{FF2B5EF4-FFF2-40B4-BE49-F238E27FC236}">
                <ns2:creationId id="{B96757D2-F69F-483C-8DCB-12F8972C7F53}"/>
              </ns1:ext>
            </ns1:extLst>
          </ns0:cNvPr>
          <ns0:cNvSpPr>
            <ns1:spLocks noGrp="1"/>
          </ns0:cNvSpPr>
          <ns0:nvPr/>
        </ns0:nvSpPr>
        <ns0:spPr>
          <ns1:xfrm>
            <ns1:off x="6588000" y="8568000"/>
            <ns1:ext cx="432000" cy="36"/>
          </ns1:xfrm>
          <ns1:custGeom>
            <ns1:pathLst>
              <ns1:path w="432000" h="36">
                <ns1:moveTo>
                  <ns1:pt x="0" y="0"/>
                </ns1:moveTo>
                <ns1:lnTo>
                  <ns1:pt x="432000" y="0"/>
                </ns1:lnTo>
              </ns1:path>
            </ns1:pathLst>
          </ns1:custGeom>
          <ns1:noFill/>
          <ns1:ln w="23400">
            <ns1:solidFill>
              <ns1:srgbClr val="347DDB"/>
            </ns1:solidFill>
            <ns1:prstDash val="solid"/>
          </ns1:ln>
        </ns0:spPr>
      </ns0:sp>
      <ns0:sp>
        <ns0:nvSpPr>
          <ns0:cNvPr id="53" name="02_052">
            <ns1:extLst>
              <ns1:ext uri="{FF2B5EF4-FFF2-40B4-BE49-F238E27FC236}">
                <ns2:creationId id="{3EA6B9AE-7373-4A90-AD6B-7BA66CA05C8C}"/>
              </ns1:ext>
            </ns1:extLst>
          </ns0:cNvPr>
          <ns0:cNvSpPr>
            <ns1:spLocks noGrp="1"/>
          </ns0:cNvSpPr>
          <ns0:nvPr/>
        </ns0:nvSpPr>
        <ns0:spPr>
          <ns1:xfrm>
            <ns1:off x="6952480" y="8568000"/>
            <ns1:ext cx="67520" cy="41397"/>
          </ns1:xfrm>
          <ns1:custGeom>
            <ns1:pathLst>
              <ns1:path w="67520" h="41397">
                <ns1:moveTo>
                  <ns1:pt x="67520" y="0"/>
                </ns1:moveTo>
                <ns1:lnTo>
                  <ns1:pt x="0" y="41397"/>
                </ns1:lnTo>
              </ns1:path>
            </ns1:pathLst>
          </ns1:custGeom>
          <ns1:noFill/>
          <ns1:ln w="23400">
            <ns1:solidFill>
              <ns1:srgbClr val="347DDB"/>
            </ns1:solidFill>
            <ns1:prstDash val="solid"/>
          </ns1:ln>
        </ns0:spPr>
      </ns0:sp>
      <ns0:sp>
        <ns0:nvSpPr>
          <ns0:cNvPr id="54" name="02_053">
            <ns1:extLst>
              <ns1:ext uri="{FF2B5EF4-FFF2-40B4-BE49-F238E27FC236}">
                <ns2:creationId id="{D26A88CA-E7D3-42B7-AFB0-1AB3F0B865C2}"/>
              </ns1:ext>
            </ns1:extLst>
          </ns0:cNvPr>
          <ns0:cNvSpPr>
            <ns1:spLocks noGrp="1"/>
          </ns0:cNvSpPr>
          <ns0:nvPr/>
        </ns0:nvSpPr>
        <ns0:spPr>
          <ns1:xfrm>
            <ns1:off x="6952480" y="8526603"/>
            <ns1:ext cx="67520" cy="41397"/>
          </ns1:xfrm>
          <ns1:custGeom>
            <ns1:pathLst>
              <ns1:path w="67520" h="41397">
                <ns1:moveTo>
                  <ns1:pt x="67520" y="41397"/>
                </ns1:moveTo>
                <ns1:lnTo>
                  <ns1:pt x="0" y="0"/>
                </ns1:lnTo>
              </ns1:path>
            </ns1:pathLst>
          </ns1:custGeom>
          <ns1:noFill/>
          <ns1:ln w="23400">
            <ns1:solidFill>
              <ns1:srgbClr val="347DDB"/>
            </ns1:solidFill>
            <ns1:prstDash val="solid"/>
          </ns1:ln>
        </ns0:spPr>
      </ns0:sp>
      <ns0:sp>
        <ns0:nvSpPr>
          <ns0:cNvPr id="55" name="02_054">
            <ns1:extLst>
              <ns1:ext uri="{FF2B5EF4-FFF2-40B4-BE49-F238E27FC236}">
                <ns2:creationId id="{1A14AD6D-962F-4495-A414-E58777E464DC}"/>
              </ns1:ext>
            </ns1:extLst>
          </ns0:cNvPr>
          <ns0:cNvSpPr>
            <ns1:spLocks noGrp="1"/>
          </ns0:cNvSpPr>
          <ns0:nvPr/>
        </ns0:nvSpPr>
        <ns0:spPr>
          <ns1:xfrm>
            <ns1:off x="9504000" y="8568000"/>
            <ns1:ext cx="432000" cy="36"/>
          </ns1:xfrm>
          <ns1:custGeom>
            <ns1:pathLst>
              <ns1:path w="432000" h="36">
                <ns1:moveTo>
                  <ns1:pt x="0" y="0"/>
                </ns1:moveTo>
                <ns1:lnTo>
                  <ns1:pt x="43200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56" name="02_055">
            <ns1:extLst>
              <ns1:ext uri="{FF2B5EF4-FFF2-40B4-BE49-F238E27FC236}">
                <ns2:creationId id="{ED2321B1-7FA0-4EB8-8C80-DA58CACE94E6}"/>
              </ns1:ext>
            </ns1:extLst>
          </ns0:cNvPr>
          <ns0:cNvSpPr>
            <ns1:spLocks noGrp="1"/>
          </ns0:cNvSpPr>
          <ns0:nvPr/>
        </ns0:nvSpPr>
        <ns0:spPr>
          <ns1:xfrm>
            <ns1:off x="9936000" y="8568000"/>
            <ns1:ext cx="36" cy="288000"/>
          </ns1:xfrm>
          <ns1:custGeom>
            <ns1:pathLst>
              <ns1:path w="36" h="288000">
                <ns1:moveTo>
                  <ns1:pt x="0" y="0"/>
                </ns1:moveTo>
                <ns1:lnTo>
                  <ns1:pt x="0" y="28800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57" name="02_056">
            <ns1:extLst>
              <ns1:ext uri="{FF2B5EF4-FFF2-40B4-BE49-F238E27FC236}">
                <ns2:creationId id="{6905091B-C142-4CC2-9969-EE91A57530D7}"/>
              </ns1:ext>
            </ns1:extLst>
          </ns0:cNvPr>
          <ns0:cNvSpPr>
            <ns1:spLocks noGrp="1"/>
          </ns0:cNvSpPr>
          <ns0:nvPr/>
        </ns0:nvSpPr>
        <ns0:spPr>
          <ns1:xfrm>
            <ns1:off x="9936000" y="8856000"/>
            <ns1:ext cx="360000" cy="36"/>
          </ns1:xfrm>
          <ns1:custGeom>
            <ns1:pathLst>
              <ns1:path w="360000" h="36">
                <ns1:moveTo>
                  <ns1:pt x="0" y="0"/>
                </ns1:moveTo>
                <ns1:lnTo>
                  <ns1:pt x="36000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58" name="02_057">
            <ns1:extLst>
              <ns1:ext uri="{FF2B5EF4-FFF2-40B4-BE49-F238E27FC236}">
                <ns2:creationId id="{E2C5D4D7-A60D-4158-B7B3-E7122D4F16EB}"/>
              </ns1:ext>
            </ns1:extLst>
          </ns0:cNvPr>
          <ns0:cNvSpPr>
            <ns1:spLocks noGrp="1"/>
          </ns0:cNvSpPr>
          <ns0:nvPr/>
        </ns0:nvSpPr>
        <ns0:spPr>
          <ns1:xfrm>
            <ns1:off x="10228480" y="8856000"/>
            <ns1:ext cx="67520" cy="41397"/>
          </ns1:xfrm>
          <ns1:custGeom>
            <ns1:pathLst>
              <ns1:path w="67520" h="41397">
                <ns1:moveTo>
                  <ns1:pt x="67520" y="0"/>
                </ns1:moveTo>
                <ns1:lnTo>
                  <ns1:pt x="0" y="41397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59" name="02_058">
            <ns1:extLst>
              <ns1:ext uri="{FF2B5EF4-FFF2-40B4-BE49-F238E27FC236}">
                <ns2:creationId id="{BDCDD24F-2527-492B-8EBB-22DF2A4855F5}"/>
              </ns1:ext>
            </ns1:extLst>
          </ns0:cNvPr>
          <ns0:cNvSpPr>
            <ns1:spLocks noGrp="1"/>
          </ns0:cNvSpPr>
          <ns0:nvPr/>
        </ns0:nvSpPr>
        <ns0:spPr>
          <ns1:xfrm>
            <ns1:off x="10228480" y="8814603"/>
            <ns1:ext cx="67520" cy="41397"/>
          </ns1:xfrm>
          <ns1:custGeom>
            <ns1:pathLst>
              <ns1:path w="67520" h="41397">
                <ns1:moveTo>
                  <ns1:pt x="67520" y="41397"/>
                </ns1:moveTo>
                <ns1:lnTo>
                  <ns1:pt x="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60" name="02_059">
            <ns1:extLst>
              <ns1:ext uri="{FF2B5EF4-FFF2-40B4-BE49-F238E27FC236}">
                <ns2:creationId id="{7B1B7F35-E90F-4793-A35A-6185ACE754AC}"/>
              </ns1:ext>
            </ns1:extLst>
          </ns0:cNvPr>
          <ns0:cNvSpPr>
            <ns1:spLocks noGrp="1"/>
          </ns0:cNvSpPr>
          <ns0:nvPr/>
        </ns0:nvSpPr>
        <ns0:spPr>
          <ns1:xfrm>
            <ns1:off x="9504000" y="9540000"/>
            <ns1:ext cx="432000" cy="36"/>
          </ns1:xfrm>
          <ns1:custGeom>
            <ns1:pathLst>
              <ns1:path w="432000" h="36">
                <ns1:moveTo>
                  <ns1:pt x="0" y="0"/>
                </ns1:moveTo>
                <ns1:lnTo>
                  <ns1:pt x="43200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61" name="02_060">
            <ns1:extLst>
              <ns1:ext uri="{FF2B5EF4-FFF2-40B4-BE49-F238E27FC236}">
                <ns2:creationId id="{D373F0F4-F536-4582-BAC6-5108AA355EBB}"/>
              </ns1:ext>
            </ns1:extLst>
          </ns0:cNvPr>
          <ns0:cNvSpPr>
            <ns1:spLocks noGrp="1"/>
          </ns0:cNvSpPr>
          <ns0:nvPr/>
        </ns0:nvSpPr>
        <ns0:spPr>
          <ns1:xfrm>
            <ns1:off x="9936000" y="9396000"/>
            <ns1:ext cx="36" cy="144000"/>
          </ns1:xfrm>
          <ns1:custGeom>
            <ns1:pathLst>
              <ns1:path w="36" h="144000">
                <ns1:moveTo>
                  <ns1:pt x="0" y="144000"/>
                </ns1:moveTo>
                <ns1:lnTo>
                  <ns1:pt x="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62" name="02_061">
            <ns1:extLst>
              <ns1:ext uri="{FF2B5EF4-FFF2-40B4-BE49-F238E27FC236}">
                <ns2:creationId id="{1C1F3586-06EE-4342-A53E-A671DBE37106}"/>
              </ns1:ext>
            </ns1:extLst>
          </ns0:cNvPr>
          <ns0:cNvSpPr>
            <ns1:spLocks noGrp="1"/>
          </ns0:cNvSpPr>
          <ns0:nvPr/>
        </ns0:nvSpPr>
        <ns0:spPr>
          <ns1:xfrm>
            <ns1:off x="9936000" y="9396000"/>
            <ns1:ext cx="360000" cy="36"/>
          </ns1:xfrm>
          <ns1:custGeom>
            <ns1:pathLst>
              <ns1:path w="360000" h="36">
                <ns1:moveTo>
                  <ns1:pt x="0" y="0"/>
                </ns1:moveTo>
                <ns1:lnTo>
                  <ns1:pt x="36000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63" name="02_062">
            <ns1:extLst>
              <ns1:ext uri="{FF2B5EF4-FFF2-40B4-BE49-F238E27FC236}">
                <ns2:creationId id="{05DE7EAF-BA25-4716-A1A7-2390FAF7BAC5}"/>
              </ns1:ext>
            </ns1:extLst>
          </ns0:cNvPr>
          <ns0:cNvSpPr>
            <ns1:spLocks noGrp="1"/>
          </ns0:cNvSpPr>
          <ns0:nvPr/>
        </ns0:nvSpPr>
        <ns0:spPr>
          <ns1:xfrm>
            <ns1:off x="10228480" y="9396000"/>
            <ns1:ext cx="67520" cy="41397"/>
          </ns1:xfrm>
          <ns1:custGeom>
            <ns1:pathLst>
              <ns1:path w="67520" h="41397">
                <ns1:moveTo>
                  <ns1:pt x="67520" y="0"/>
                </ns1:moveTo>
                <ns1:lnTo>
                  <ns1:pt x="0" y="41397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64" name="02_063">
            <ns1:extLst>
              <ns1:ext uri="{FF2B5EF4-FFF2-40B4-BE49-F238E27FC236}">
                <ns2:creationId id="{41A7EAB5-DD49-4C79-ADB4-43F589484FC4}"/>
              </ns1:ext>
            </ns1:extLst>
          </ns0:cNvPr>
          <ns0:cNvSpPr>
            <ns1:spLocks noGrp="1"/>
          </ns0:cNvSpPr>
          <ns0:nvPr/>
        </ns0:nvSpPr>
        <ns0:spPr>
          <ns1:xfrm>
            <ns1:off x="10228480" y="9354603"/>
            <ns1:ext cx="67520" cy="41397"/>
          </ns1:xfrm>
          <ns1:custGeom>
            <ns1:pathLst>
              <ns1:path w="67520" h="41397">
                <ns1:moveTo>
                  <ns1:pt x="67520" y="41397"/>
                </ns1:moveTo>
                <ns1:lnTo>
                  <ns1:pt x="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65" name="02_064">
            <ns1:extLst>
              <ns1:ext uri="{FF2B5EF4-FFF2-40B4-BE49-F238E27FC236}">
                <ns2:creationId id="{CFD075C5-471A-4E75-859B-C41EB4643F04}"/>
              </ns1:ext>
            </ns1:extLst>
          </ns0:cNvPr>
          <ns0:cNvSpPr>
            <ns1:spLocks noGrp="1"/>
          </ns0:cNvSpPr>
          <ns0:nvPr/>
        </ns0:nvSpPr>
        <ns0:spPr>
          <ns1:xfrm>
            <ns1:off x="12420000" y="9108000"/>
            <ns1:ext cx="684000" cy="36"/>
          </ns1:xfrm>
          <ns1:custGeom>
            <ns1:pathLst>
              <ns1:path w="684000" h="36">
                <ns1:moveTo>
                  <ns1:pt x="0" y="0"/>
                </ns1:moveTo>
                <ns1:lnTo>
                  <ns1:pt x="68400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66" name="02_065">
            <ns1:extLst>
              <ns1:ext uri="{FF2B5EF4-FFF2-40B4-BE49-F238E27FC236}">
                <ns2:creationId id="{AE4FFFE8-7FC8-428C-B987-1D5DFD0DAD87}"/>
              </ns1:ext>
            </ns1:extLst>
          </ns0:cNvPr>
          <ns0:cNvSpPr>
            <ns1:spLocks noGrp="1"/>
          </ns0:cNvSpPr>
          <ns0:nvPr/>
        </ns0:nvSpPr>
        <ns0:spPr>
          <ns1:xfrm>
            <ns1:off x="13036480" y="9108000"/>
            <ns1:ext cx="67520" cy="41397"/>
          </ns1:xfrm>
          <ns1:custGeom>
            <ns1:pathLst>
              <ns1:path w="67520" h="41397">
                <ns1:moveTo>
                  <ns1:pt x="67520" y="0"/>
                </ns1:moveTo>
                <ns1:lnTo>
                  <ns1:pt x="0" y="41397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67" name="02_066">
            <ns1:extLst>
              <ns1:ext uri="{FF2B5EF4-FFF2-40B4-BE49-F238E27FC236}">
                <ns2:creationId id="{450A1DAA-9AA1-4F15-AEBA-40326F55959F}"/>
              </ns1:ext>
            </ns1:extLst>
          </ns0:cNvPr>
          <ns0:cNvSpPr>
            <ns1:spLocks noGrp="1"/>
          </ns0:cNvSpPr>
          <ns0:nvPr/>
        </ns0:nvSpPr>
        <ns0:spPr>
          <ns1:xfrm>
            <ns1:off x="13036480" y="9066603"/>
            <ns1:ext cx="67520" cy="41397"/>
          </ns1:xfrm>
          <ns1:custGeom>
            <ns1:pathLst>
              <ns1:path w="67520" h="41397">
                <ns1:moveTo>
                  <ns1:pt x="67520" y="41397"/>
                </ns1:moveTo>
                <ns1:lnTo>
                  <ns1:pt x="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68" name="02_067">
            <ns1:extLst>
              <ns1:ext uri="{FF2B5EF4-FFF2-40B4-BE49-F238E27FC236}">
                <ns2:creationId id="{F510C960-C35B-4F20-BD94-06E9D839AA0D}"/>
              </ns1:ext>
            </ns1:extLst>
          </ns0:cNvPr>
          <ns0:cNvSpPr>
            <ns1:spLocks noGrp="1"/>
          </ns0:cNvSpPr>
          <ns0:nvPr/>
        </ns0:nvSpPr>
        <ns0:spPr>
          <ns1:xfrm>
            <ns1:off x="16416000" y="9108000"/>
            <ns1:ext cx="756000" cy="36"/>
          </ns1:xfrm>
          <ns1:custGeom>
            <ns1:pathLst>
              <ns1:path w="756000" h="36">
                <ns1:moveTo>
                  <ns1:pt x="0" y="0"/>
                </ns1:moveTo>
                <ns1:lnTo>
                  <ns1:pt x="75600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69" name="02_068">
            <ns1:extLst>
              <ns1:ext uri="{FF2B5EF4-FFF2-40B4-BE49-F238E27FC236}">
                <ns2:creationId id="{90678018-08EE-4E4A-840F-0441057E152A}"/>
              </ns1:ext>
            </ns1:extLst>
          </ns0:cNvPr>
          <ns0:cNvSpPr>
            <ns1:spLocks noGrp="1"/>
          </ns0:cNvSpPr>
          <ns0:nvPr/>
        </ns0:nvSpPr>
        <ns0:spPr>
          <ns1:xfrm>
            <ns1:off x="17104480" y="9108000"/>
            <ns1:ext cx="67520" cy="41397"/>
          </ns1:xfrm>
          <ns1:custGeom>
            <ns1:pathLst>
              <ns1:path w="67520" h="41397">
                <ns1:moveTo>
                  <ns1:pt x="67520" y="0"/>
                </ns1:moveTo>
                <ns1:lnTo>
                  <ns1:pt x="0" y="41397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70" name="02_069">
            <ns1:extLst>
              <ns1:ext uri="{FF2B5EF4-FFF2-40B4-BE49-F238E27FC236}">
                <ns2:creationId id="{809193E6-00A9-4284-8E1B-6711440D5199}"/>
              </ns1:ext>
            </ns1:extLst>
          </ns0:cNvPr>
          <ns0:cNvSpPr>
            <ns1:spLocks noGrp="1"/>
          </ns0:cNvSpPr>
          <ns0:nvPr/>
        </ns0:nvSpPr>
        <ns0:spPr>
          <ns1:xfrm>
            <ns1:off x="17104480" y="9066603"/>
            <ns1:ext cx="67520" cy="41397"/>
          </ns1:xfrm>
          <ns1:custGeom>
            <ns1:pathLst>
              <ns1:path w="67520" h="41397">
                <ns1:moveTo>
                  <ns1:pt x="67520" y="41397"/>
                </ns1:moveTo>
                <ns1:lnTo>
                  <ns1:pt x="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71" name="02_070">
            <ns1:extLst>
              <ns1:ext uri="{FF2B5EF4-FFF2-40B4-BE49-F238E27FC236}">
                <ns2:creationId id="{3D9C9D1D-5546-4C2E-A7CE-C64A174B9560}"/>
              </ns1:ext>
            </ns1:extLst>
          </ns0:cNvPr>
          <ns0:cNvSpPr>
            <ns1:spLocks noGrp="1"/>
          </ns0:cNvSpPr>
          <ns0:nvPr/>
        </ns0:nvSpPr>
        <ns0:spPr>
          <ns1:xfrm>
            <ns1:off x="18810000" y="9792000"/>
            <ns1:ext cx="36" cy="252000"/>
          </ns1:xfrm>
          <ns1:custGeom>
            <ns1:pathLst>
              <ns1:path w="36" h="252000">
                <ns1:moveTo>
                  <ns1:pt x="0" y="0"/>
                </ns1:moveTo>
                <ns1:lnTo>
                  <ns1:pt x="0" y="252000"/>
                </ns1:lnTo>
              </ns1:path>
            </ns1:pathLst>
          </ns1:custGeom>
          <ns1:noFill/>
          <ns1:ln w="19800">
            <ns1:solidFill>
              <ns1:srgbClr val="596579"/>
            </ns1:solidFill>
            <ns1:prstDash val="solid"/>
          </ns1:ln>
        </ns0:spPr>
      </ns0:sp>
      <ns0:sp>
        <ns0:nvSpPr>
          <ns0:cNvPr id="72" name="02_071">
            <ns1:extLst>
              <ns1:ext uri="{FF2B5EF4-FFF2-40B4-BE49-F238E27FC236}">
                <ns2:creationId id="{086EFC10-EBB2-494D-BE2D-54068A220BD6}"/>
              </ns1:ext>
            </ns1:extLst>
          </ns0:cNvPr>
          <ns0:cNvSpPr>
            <ns1:spLocks noGrp="1"/>
          </ns0:cNvSpPr>
          <ns0:nvPr/>
        </ns0:nvSpPr>
        <ns0:spPr>
          <ns1:xfrm>
            <ns1:off x="1854000" y="10044000"/>
            <ns1:ext cx="16956000" cy="36"/>
          </ns1:xfrm>
          <ns1:custGeom>
            <ns1:pathLst>
              <ns1:path w="16956000" h="36">
                <ns1:moveTo>
                  <ns1:pt x="16956000" y="0"/>
                </ns1:moveTo>
                <ns1:lnTo>
                  <ns1:pt x="0" y="0"/>
                </ns1:lnTo>
              </ns1:path>
            </ns1:pathLst>
          </ns1:custGeom>
          <ns1:noFill/>
          <ns1:ln w="19800">
            <ns1:solidFill>
              <ns1:srgbClr val="596579"/>
            </ns1:solidFill>
            <ns1:prstDash val="solid"/>
          </ns1:ln>
        </ns0:spPr>
      </ns0:sp>
      <ns0:sp>
        <ns0:nvSpPr>
          <ns0:cNvPr id="73" name="02_072">
            <ns1:extLst>
              <ns1:ext uri="{FF2B5EF4-FFF2-40B4-BE49-F238E27FC236}">
                <ns2:creationId id="{2E5E0747-5736-48BF-BB73-70E2D69116AC}"/>
              </ns1:ext>
            </ns1:extLst>
          </ns0:cNvPr>
          <ns0:cNvSpPr>
            <ns1:spLocks noGrp="1"/>
          </ns0:cNvSpPr>
          <ns0:nvPr/>
        </ns0:nvSpPr>
        <ns0:spPr>
          <ns1:xfrm>
            <ns1:off x="1854000" y="10044000"/>
            <ns1:ext cx="36" cy="612000"/>
          </ns1:xfrm>
          <ns1:custGeom>
            <ns1:pathLst>
              <ns1:path w="36" h="612000">
                <ns1:moveTo>
                  <ns1:pt x="0" y="0"/>
                </ns1:moveTo>
                <ns1:lnTo>
                  <ns1:pt x="0" y="612000"/>
                </ns1:lnTo>
              </ns1:path>
            </ns1:pathLst>
          </ns1:custGeom>
          <ns1:noFill/>
          <ns1:ln w="19800">
            <ns1:solidFill>
              <ns1:srgbClr val="596579"/>
            </ns1:solidFill>
            <ns1:prstDash val="solid"/>
          </ns1:ln>
        </ns0:spPr>
      </ns0:sp>
      <ns0:sp>
        <ns0:nvSpPr>
          <ns0:cNvPr id="74" name="02_073">
            <ns1:extLst>
              <ns1:ext uri="{FF2B5EF4-FFF2-40B4-BE49-F238E27FC236}">
                <ns2:creationId id="{380F9BFB-FA92-401A-BA22-131F404B3FD0}"/>
              </ns1:ext>
            </ns1:extLst>
          </ns0:cNvPr>
          <ns0:cNvSpPr>
            <ns1:spLocks noGrp="1"/>
          </ns0:cNvSpPr>
          <ns0:nvPr/>
        </ns0:nvSpPr>
        <ns0:spPr>
          <ns1:xfrm>
            <ns1:off x="1812603" y="10588480"/>
            <ns1:ext cx="41397" cy="67520"/>
          </ns1:xfrm>
          <ns1:custGeom>
            <ns1:pathLst>
              <ns1:path w="41397" h="67520">
                <ns1:moveTo>
                  <ns1:pt x="41397" y="67520"/>
                </ns1:moveTo>
                <ns1:lnTo>
                  <ns1:pt x="0" y="0"/>
                </ns1:lnTo>
              </ns1:path>
            </ns1:pathLst>
          </ns1:custGeom>
          <ns1:noFill/>
          <ns1:ln w="19800">
            <ns1:solidFill>
              <ns1:srgbClr val="596579"/>
            </ns1:solidFill>
            <ns1:prstDash val="solid"/>
          </ns1:ln>
        </ns0:spPr>
      </ns0:sp>
      <ns0:sp>
        <ns0:nvSpPr>
          <ns0:cNvPr id="75" name="02_074">
            <ns1:extLst>
              <ns1:ext uri="{FF2B5EF4-FFF2-40B4-BE49-F238E27FC236}">
                <ns2:creationId id="{F1EC9E3E-9248-4993-A1DF-BF5C7341FA06}"/>
              </ns1:ext>
            </ns1:extLst>
          </ns0:cNvPr>
          <ns0:cNvSpPr>
            <ns1:spLocks noGrp="1"/>
          </ns0:cNvSpPr>
          <ns0:nvPr/>
        </ns0:nvSpPr>
        <ns0:spPr>
          <ns1:xfrm>
            <ns1:off x="1854000" y="10588480"/>
            <ns1:ext cx="41397" cy="67520"/>
          </ns1:xfrm>
          <ns1:custGeom>
            <ns1:pathLst>
              <ns1:path w="41397" h="67520">
                <ns1:moveTo>
                  <ns1:pt x="0" y="67520"/>
                </ns1:moveTo>
                <ns1:lnTo>
                  <ns1:pt x="41397" y="0"/>
                </ns1:lnTo>
              </ns1:path>
            </ns1:pathLst>
          </ns1:custGeom>
          <ns1:noFill/>
          <ns1:ln w="19800">
            <ns1:solidFill>
              <ns1:srgbClr val="596579"/>
            </ns1:solidFill>
            <ns1:prstDash val="solid"/>
          </ns1:ln>
        </ns0:spPr>
      </ns0:sp>
      <ns0:sp>
        <ns0:nvSpPr>
          <ns0:cNvPr id="76" name="02_075">
            <ns1:extLst>
              <ns1:ext uri="{FF2B5EF4-FFF2-40B4-BE49-F238E27FC236}">
                <ns2:creationId id="{A3053D2A-491E-4064-9FEC-54B84308EC9B}"/>
              </ns1:ext>
            </ns1:extLst>
          </ns0:cNvPr>
          <ns0:cNvSpPr>
            <ns1:spLocks noGrp="1"/>
          </ns0:cNvSpPr>
          <ns0:nvPr/>
        </ns0:nvSpPr>
        <ns0:spPr>
          <ns1:xfrm>
            <ns1:off x="3708000" y="10242202"/>
            <ns1:ext cx="4851470" cy="2311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생성: CAD로 문맥 기반 토큰 점수 조절 → SCD로 출력 언어 조절</ns1:t>
            </ns1:r>
          </ns1:p>
        </ns0:txBody>
      </ns0:sp>
      <ns0:sp>
        <ns0:nvSpPr>
          <ns0:cNvPr id="77" name="02_076">
            <ns1:extLst>
              <ns1:ext uri="{FF2B5EF4-FFF2-40B4-BE49-F238E27FC236}">
                <ns2:creationId id="{A66CC858-DB31-4635-98F1-2BCAB62DADF9}"/>
              </ns1:ext>
            </ns1:extLst>
          </ns0:cNvPr>
          <ns0:cNvSpPr>
            <ns1:spLocks noGrp="1"/>
          </ns0:cNvSpPr>
          <ns0:nvPr/>
        </ns0:nvSpPr>
        <ns0:spPr>
          <ns1:xfrm>
            <ns1:off x="864000" y="10656000"/>
            <ns1:ext cx="1980000" cy="936000"/>
          </ns1:xfrm>
          <ns1:prstGeom prst="rect">
            <ns1:avLst/>
          </ns1:prstGeom>
          <ns1:solidFill>
            <ns1:srgbClr val="FFFFFF"/>
          </ns1:solidFill>
          <ns1:ln w="19800">
            <ns1:solidFill>
              <ns1:srgbClr val="D8D0E0"/>
            </ns1:solidFill>
          </ns1:ln>
        </ns0:spPr>
      </ns0:sp>
      <ns0:sp>
        <ns0:nvSpPr>
          <ns0:cNvPr id="78" name="02_077">
            <ns1:extLst>
              <ns1:ext uri="{FF2B5EF4-FFF2-40B4-BE49-F238E27FC236}">
                <ns2:creationId id="{DE739DF4-422E-4E63-A459-0A1FDB8E24B8}"/>
              </ns1:ext>
            </ns1:extLst>
          </ns0:cNvPr>
          <ns0:cNvSpPr>
            <ns1:spLocks noGrp="1"/>
          </ns0:cNvSpPr>
          <ns0:nvPr/>
        </ns0:nvSpPr>
        <ns0:spPr>
          <ns1:xfrm>
            <ns1:off x="1406384" y="10915974"/>
            <ns1:ext cx="931232" cy="2311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질문 + 문맥</ns1:t>
            </ns1:r>
          </ns1:p>
        </ns0:txBody>
      </ns0:sp>
      <ns0:sp>
        <ns0:nvSpPr>
          <ns0:cNvPr id="79" name="02_078">
            <ns1:extLst>
              <ns1:ext uri="{FF2B5EF4-FFF2-40B4-BE49-F238E27FC236}">
                <ns2:creationId id="{3769FC2E-3CAE-4C82-B4FC-07C6B17762AC}"/>
              </ns1:ext>
            </ns1:extLst>
          </ns0:cNvPr>
          <ns0:cNvSpPr>
            <ns1:spLocks noGrp="1"/>
          </ns0:cNvSpPr>
          <ns0:nvPr/>
        </ns0:nvSpPr>
        <ns0:spPr>
          <ns1:xfrm>
            <ns1:off x="1531862" y="11120698"/>
            <ns1:ext cx="680277" cy="2311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최종 5개</ns1:t>
            </ns1:r>
          </ns1:p>
        </ns0:txBody>
      </ns0:sp>
      <ns0:sp>
        <ns0:nvSpPr>
          <ns0:cNvPr id="80" name="02_079">
            <ns1:extLst>
              <ns1:ext uri="{FF2B5EF4-FFF2-40B4-BE49-F238E27FC236}">
                <ns2:creationId id="{A7A4B3EF-3426-4243-86A3-FEE525049E0F}"/>
              </ns1:ext>
            </ns1:extLst>
          </ns0:cNvPr>
          <ns0:cNvSpPr>
            <ns1:spLocks noGrp="1"/>
          </ns0:cNvSpPr>
          <ns0:nvPr/>
        </ns0:nvSpPr>
        <ns0:spPr>
          <ns1:xfrm>
            <ns1:off x="3564000" y="10656000"/>
            <ns1:ext cx="3240000" cy="936000"/>
          </ns1:xfrm>
          <ns1:prstGeom prst="rect">
            <ns1:avLst/>
          </ns1:prstGeom>
          <ns1:solidFill>
            <ns1:srgbClr val="FFFFFF"/>
          </ns1:solidFill>
          <ns1:ln w="19800">
            <ns1:solidFill>
              <ns1:srgbClr val="D8D0E0"/>
            </ns1:solidFill>
          </ns1:ln>
        </ns0:spPr>
      </ns0:sp>
      <ns0:sp>
        <ns0:nvSpPr>
          <ns0:cNvPr id="81" name="02_080">
            <ns1:extLst>
              <ns1:ext uri="{FF2B5EF4-FFF2-40B4-BE49-F238E27FC236}">
                <ns2:creationId id="{825A11DD-ED1C-4D13-89DA-AF1D4AAA31E6}"/>
              </ns1:ext>
            </ns1:extLst>
          </ns0:cNvPr>
          <ns0:cNvSpPr>
            <ns1:spLocks noGrp="1"/>
          </ns0:cNvSpPr>
          <ns0:nvPr/>
        </ns0:nvSpPr>
        <ns0:spPr>
          <ns1:xfrm>
            <ns1:off x="4557359" y="10899972"/>
            <ns1:ext cx="1289282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Mi:dm 2.0 [18]</ns1:t>
            </ns1:r>
          </ns1:p>
        </ns0:txBody>
      </ns0:sp>
      <ns0:sp>
        <ns0:nvSpPr>
          <ns0:cNvPr id="82" name="02_081">
            <ns1:extLst>
              <ns1:ext uri="{FF2B5EF4-FFF2-40B4-BE49-F238E27FC236}">
                <ns2:creationId id="{442EEC94-D3F2-4C29-87DE-566A127C1393}"/>
              </ns1:ext>
            </ns1:extLst>
          </ns0:cNvPr>
          <ns0:cNvSpPr>
            <ns1:spLocks noGrp="1"/>
          </ns0:cNvSpPr>
          <ns0:nvPr/>
        </ns0:nvSpPr>
        <ns0:spPr>
          <ns1:xfrm>
            <ns1:off x="4668528" y="11120444"/>
            <ns1:ext cx="1066945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Base Instruct</ns1:t>
            </ns1:r>
          </ns1:p>
        </ns0:txBody>
      </ns0:sp>
      <ns0:sp>
        <ns0:nvSpPr>
          <ns0:cNvPr id="83" name="02_082">
            <ns1:extLst>
              <ns1:ext uri="{FF2B5EF4-FFF2-40B4-BE49-F238E27FC236}">
                <ns2:creationId id="{02844012-06F3-4A20-A7D3-FC21FE041D6D}"/>
              </ns1:ext>
            </ns1:extLst>
          </ns0:cNvPr>
          <ns0:cNvSpPr>
            <ns1:spLocks noGrp="1"/>
          </ns0:cNvSpPr>
          <ns0:nvPr/>
        </ns0:nvSpPr>
        <ns0:spPr>
          <ns1:xfrm>
            <ns1:off x="7524000" y="10620000"/>
            <ns1:ext cx="1908000" cy="432000"/>
          </ns1:xfrm>
          <ns1:prstGeom prst="rect">
            <ns1:avLst/>
          </ns1:prstGeom>
          <ns1:solidFill>
            <ns1:srgbClr val="FFFFFF"/>
          </ns1:solidFill>
          <ns1:ln w="19800">
            <ns1:solidFill>
              <ns1:srgbClr val="D8D0E0"/>
            </ns1:solidFill>
          </ns1:ln>
        </ns0:spPr>
      </ns0:sp>
      <ns0:sp>
        <ns0:nvSpPr>
          <ns0:cNvPr id="84" name="02_083">
            <ns1:extLst>
              <ns1:ext uri="{FF2B5EF4-FFF2-40B4-BE49-F238E27FC236}">
                <ns2:creationId id="{8C1BB5E9-3A01-4A99-8433-91501C62150E}"/>
              </ns1:ext>
            </ns1:extLst>
          </ns0:cNvPr>
          <ns0:cNvSpPr>
            <ns1:spLocks noGrp="1"/>
          </ns0:cNvSpPr>
          <ns0:nvPr/>
        </ns0:nvSpPr>
        <ns0:spPr>
          <ns1:xfrm>
            <ns1:off x="7924657" y="10730336"/>
            <ns1:ext cx="1142686" cy="2311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문맥 포함 로짓</ns1:t>
            </ns1:r>
          </ns1:p>
        </ns0:txBody>
      </ns0:sp>
      <ns0:sp>
        <ns0:nvSpPr>
          <ns0:cNvPr id="85" name="02_084">
            <ns1:extLst>
              <ns1:ext uri="{FF2B5EF4-FFF2-40B4-BE49-F238E27FC236}">
                <ns2:creationId id="{2AAF836E-1127-4ED9-BFB9-309E6662D5A5}"/>
              </ns1:ext>
            </ns1:extLst>
          </ns0:cNvPr>
          <ns0:cNvSpPr>
            <ns1:spLocks noGrp="1"/>
          </ns0:cNvSpPr>
          <ns0:nvPr/>
        </ns0:nvSpPr>
        <ns0:spPr>
          <ns1:xfrm>
            <ns1:off x="7524000" y="11196000"/>
            <ns1:ext cx="1908000" cy="432000"/>
          </ns1:xfrm>
          <ns1:prstGeom prst="rect">
            <ns1:avLst/>
          </ns1:prstGeom>
          <ns1:solidFill>
            <ns1:srgbClr val="FFFFFF"/>
          </ns1:solidFill>
          <ns1:ln w="19800">
            <ns1:solidFill>
              <ns1:srgbClr val="D8D0E0"/>
            </ns1:solidFill>
          </ns1:ln>
        </ns0:spPr>
      </ns0:sp>
      <ns0:sp>
        <ns0:nvSpPr>
          <ns0:cNvPr id="86" name="02_085">
            <ns1:extLst>
              <ns1:ext uri="{FF2B5EF4-FFF2-40B4-BE49-F238E27FC236}">
                <ns2:creationId id="{63ED5155-778D-44A6-B46E-9228F708870E}"/>
              </ns1:ext>
            </ns1:extLst>
          </ns0:cNvPr>
          <ns0:cNvSpPr>
            <ns1:spLocks noGrp="1"/>
          </ns0:cNvSpPr>
          <ns0:nvPr/>
        </ns0:nvSpPr>
        <ns0:spPr>
          <ns1:xfrm>
            <ns1:off x="7945939" y="11310400"/>
            <ns1:ext cx="1100121" cy="222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2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2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2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문맥 제외 로짓</ns1:t>
            </ns1:r>
          </ns1:p>
        </ns0:txBody>
      </ns0:sp>
      <ns0:sp>
        <ns0:nvSpPr>
          <ns0:cNvPr id="87" name="02_086">
            <ns1:extLst>
              <ns1:ext uri="{FF2B5EF4-FFF2-40B4-BE49-F238E27FC236}">
                <ns2:creationId id="{BB803331-0161-40DC-809F-9F2F1DC6F0FF}"/>
              </ns1:ext>
            </ns1:extLst>
          </ns0:cNvPr>
          <ns0:cNvSpPr>
            <ns1:spLocks noGrp="1"/>
          </ns0:cNvSpPr>
          <ns0:nvPr/>
        </ns0:nvSpPr>
        <ns0:spPr>
          <ns1:xfrm>
            <ns1:off x="10296000" y="10656000"/>
            <ns1:ext cx="2340000" cy="936000"/>
          </ns1:xfrm>
          <ns1:prstGeom prst="rect">
            <ns1:avLst/>
          </ns1:prstGeom>
          <ns1:solidFill>
            <ns1:srgbClr val="FFFFFF"/>
          </ns1:solidFill>
          <ns1:ln w="19800">
            <ns1:solidFill>
              <ns1:srgbClr val="188D78"/>
            </ns1:solidFill>
          </ns1:ln>
        </ns0:spPr>
      </ns0:sp>
      <ns0:sp>
        <ns0:nvSpPr>
          <ns0:cNvPr id="88" name="02_087">
            <ns1:extLst>
              <ns1:ext uri="{FF2B5EF4-FFF2-40B4-BE49-F238E27FC236}">
                <ns2:creationId id="{68447974-D1CC-464E-9DF5-69D0C57F68D5}"/>
              </ns1:ext>
            </ns1:extLst>
          </ns0:cNvPr>
          <ns0:cNvSpPr>
            <ns1:spLocks noGrp="1"/>
          </ns0:cNvSpPr>
          <ns0:nvPr/>
        </ns0:nvSpPr>
        <ns0:spPr>
          <ns1:xfrm>
            <ns1:off x="11133971" y="10899972"/>
            <ns1:ext cx="700059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CAD [3]</ns1:t>
            </ns1:r>
          </ns1:p>
        </ns0:txBody>
      </ns0:sp>
      <ns0:sp>
        <ns0:nvSpPr>
          <ns0:cNvPr id="89" name="02_088">
            <ns1:extLst>
              <ns1:ext uri="{FF2B5EF4-FFF2-40B4-BE49-F238E27FC236}">
                <ns2:creationId id="{2E5F4736-AED0-4D24-A47A-B1AFE4D5D798}"/>
              </ns1:ext>
            </ns1:extLst>
          </ns0:cNvPr>
          <ns0:cNvSpPr>
            <ns1:spLocks noGrp="1"/>
          </ns0:cNvSpPr>
          <ns0:nvPr/>
        </ns0:nvSpPr>
        <ns0:spPr>
          <ns1:xfrm>
            <ns1:off x="10657088" y="11120444"/>
            <ns1:ext cx="1653824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문맥 포함/제외 대조</ns1:t>
            </ns1:r>
          </ns1:p>
        </ns0:txBody>
      </ns0:sp>
      <ns0:sp>
        <ns0:nvSpPr>
          <ns0:cNvPr id="90" name="02_089">
            <ns1:extLst>
              <ns1:ext uri="{FF2B5EF4-FFF2-40B4-BE49-F238E27FC236}">
                <ns2:creationId id="{877490C2-BB42-4F50-A0CF-C801CED738EA}"/>
              </ns1:ext>
            </ns1:extLst>
          </ns0:cNvPr>
          <ns0:cNvSpPr>
            <ns1:spLocks noGrp="1"/>
          </ns0:cNvSpPr>
          <ns0:nvPr/>
        </ns0:nvSpPr>
        <ns0:spPr>
          <ns1:xfrm>
            <ns1:off x="13464000" y="10656000"/>
            <ns1:ext cx="2340000" cy="936000"/>
          </ns1:xfrm>
          <ns1:prstGeom prst="rect">
            <ns1:avLst/>
          </ns1:prstGeom>
          <ns1:solidFill>
            <ns1:srgbClr val="FFFFFF"/>
          </ns1:solidFill>
          <ns1:ln w="19800">
            <ns1:solidFill>
              <ns1:srgbClr val="D27837"/>
            </ns1:solidFill>
          </ns1:ln>
        </ns0:spPr>
      </ns0:sp>
      <ns0:sp>
        <ns0:nvSpPr>
          <ns0:cNvPr id="91" name="02_090">
            <ns1:extLst>
              <ns1:ext uri="{FF2B5EF4-FFF2-40B4-BE49-F238E27FC236}">
                <ns2:creationId id="{EDADCC05-5F6A-44E3-94A3-5A552AF3E483}"/>
              </ns1:ext>
            </ns1:extLst>
          </ns0:cNvPr>
          <ns0:cNvSpPr>
            <ns1:spLocks noGrp="1"/>
          </ns0:cNvSpPr>
          <ns0:nvPr/>
        </ns0:nvSpPr>
        <ns0:spPr>
          <ns1:xfrm>
            <ns1:off x="14314212" y="10899972"/>
            <ns1:ext cx="675576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SCD [4]</ns1:t>
            </ns1:r>
          </ns1:p>
        </ns0:txBody>
      </ns0:sp>
      <ns0:sp>
        <ns0:nvSpPr>
          <ns0:cNvPr id="92" name="02_091">
            <ns1:extLst>
              <ns1:ext uri="{FF2B5EF4-FFF2-40B4-BE49-F238E27FC236}">
                <ns2:creationId id="{43267F65-223C-4C77-918A-41180DCA6408}"/>
              </ns1:ext>
            </ns1:extLst>
          </ns0:cNvPr>
          <ns0:cNvSpPr>
            <ns1:spLocks noGrp="1"/>
          </ns0:cNvSpPr>
          <ns0:nvPr/>
        </ns0:nvSpPr>
        <ns0:spPr>
          <ns1:xfrm>
            <ns1:off x="13740138" y="11120444"/>
            <ns1:ext cx="1823723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언어별 토큰 점수 조절</ns1:t>
            </ns1:r>
          </ns1:p>
        </ns0:txBody>
      </ns0:sp>
      <ns0:sp>
        <ns0:nvSpPr>
          <ns0:cNvPr id="93" name="02_092">
            <ns1:extLst>
              <ns1:ext uri="{FF2B5EF4-FFF2-40B4-BE49-F238E27FC236}">
                <ns2:creationId id="{808B768B-DCE6-4EE7-AC92-B4909AF9AD8A}"/>
              </ns1:ext>
            </ns1:extLst>
          </ns0:cNvPr>
          <ns0:cNvSpPr>
            <ns1:spLocks noGrp="1"/>
          </ns0:cNvSpPr>
          <ns0:nvPr/>
        </ns0:nvSpPr>
        <ns0:spPr>
          <ns1:xfrm>
            <ns1:off x="16560000" y="10656000"/>
            <ns1:ext cx="1692000" cy="936000"/>
          </ns1:xfrm>
          <ns1:prstGeom prst="rect">
            <ns1:avLst/>
          </ns1:prstGeom>
          <ns1:solidFill>
            <ns1:srgbClr val="FFFFFF"/>
          </ns1:solidFill>
          <ns1:ln w="19800">
            <ns1:solidFill>
              <ns1:srgbClr val="D8D0E0"/>
            </ns1:solidFill>
          </ns1:ln>
        </ns0:spPr>
      </ns0:sp>
      <ns0:sp>
        <ns0:nvSpPr>
          <ns0:cNvPr id="94" name="02_093">
            <ns1:extLst>
              <ns1:ext uri="{FF2B5EF4-FFF2-40B4-BE49-F238E27FC236}">
                <ns2:creationId id="{CE1ACBFF-48B4-4265-A938-59C4A0313D83}"/>
              </ns1:ext>
            </ns1:extLst>
          </ns0:cNvPr>
          <ns0:cNvSpPr>
            <ns1:spLocks noGrp="1"/>
          </ns0:cNvSpPr>
          <ns0:nvPr/>
        </ns0:nvSpPr>
        <ns0:spPr>
          <ns1:xfrm>
            <ns1:off x="17032962" y="10907973"/>
            <ns1:ext cx="782075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토큰 선택</ns1:t>
            </ns1:r>
          </ns1:p>
        </ns0:txBody>
      </ns0:sp>
      <ns0:sp>
        <ns0:nvSpPr>
          <ns0:cNvPr id="95" name="02_094">
            <ns1:extLst>
              <ns1:ext uri="{FF2B5EF4-FFF2-40B4-BE49-F238E27FC236}">
                <ns2:creationId id="{069FED25-EC5C-4433-9F2D-22E4A30EAEB1}"/>
              </ns1:ext>
            </ns1:extLst>
          </ns0:cNvPr>
          <ns0:cNvSpPr>
            <ns1:spLocks noGrp="1"/>
          </ns0:cNvSpPr>
          <ns0:nvPr/>
        </ns0:nvSpPr>
        <ns0:spPr>
          <ns1:xfrm>
            <ns1:off x="17119650" y="11120571"/>
            <ns1:ext cx="608700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argmax</ns1:t>
            </ns1:r>
          </ns1:p>
        </ns0:txBody>
      </ns0:sp>
      <ns0:sp>
        <ns0:nvSpPr>
          <ns0:cNvPr id="96" name="02_095">
            <ns1:extLst>
              <ns1:ext uri="{FF2B5EF4-FFF2-40B4-BE49-F238E27FC236}">
                <ns2:creationId id="{C023774A-6C88-4B77-9F9F-458A93B7B480}"/>
              </ns1:ext>
            </ns1:extLst>
          </ns0:cNvPr>
          <ns0:cNvSpPr>
            <ns1:spLocks noGrp="1"/>
          </ns0:cNvSpPr>
          <ns0:nvPr/>
        </ns0:nvSpPr>
        <ns0:spPr>
          <ns1:xfrm>
            <ns1:off x="18936000" y="10656000"/>
            <ns1:ext cx="1512000" cy="936000"/>
          </ns1:xfrm>
          <ns1:prstGeom prst="rect">
            <ns1:avLst/>
          </ns1:prstGeom>
          <ns1:solidFill>
            <ns1:srgbClr val="FFFFFF"/>
          </ns1:solidFill>
          <ns1:ln w="19800">
            <ns1:solidFill>
              <ns1:srgbClr val="D8D0E0"/>
            </ns1:solidFill>
          </ns1:ln>
        </ns0:spPr>
      </ns0:sp>
      <ns0:sp>
        <ns0:nvSpPr>
          <ns0:cNvPr id="97" name="02_096">
            <ns1:extLst>
              <ns1:ext uri="{FF2B5EF4-FFF2-40B4-BE49-F238E27FC236}">
                <ns2:creationId id="{4FF15DA5-5ADA-4DDD-AC09-E2A8DCA67E66}"/>
              </ns1:ext>
            </ns1:extLst>
          </ns0:cNvPr>
          <ns0:cNvSpPr>
            <ns1:spLocks noGrp="1"/>
          </ns0:cNvSpPr>
          <ns0:nvPr/>
        </ns0:nvSpPr>
        <ns0:spPr>
          <ns1:xfrm>
            <ns1:off x="19318962" y="11014272"/>
            <ns1:ext cx="782075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생성 답변</ns1:t>
            </ns1:r>
          </ns1:p>
        </ns0:txBody>
      </ns0:sp>
      <ns0:sp>
        <ns0:nvSpPr>
          <ns0:cNvPr id="98" name="02_097">
            <ns1:extLst>
              <ns1:ext uri="{FF2B5EF4-FFF2-40B4-BE49-F238E27FC236}">
                <ns2:creationId id="{26572260-E4E6-4349-A3AD-59F96CB30506}"/>
              </ns1:ext>
            </ns1:extLst>
          </ns0:cNvPr>
          <ns0:cNvSpPr>
            <ns1:spLocks noGrp="1"/>
          </ns0:cNvSpPr>
          <ns0:nvPr/>
        </ns0:nvSpPr>
        <ns0:spPr>
          <ns1:xfrm>
            <ns1:off x="2844000" y="11124000"/>
            <ns1:ext cx="720000" cy="36"/>
          </ns1:xfrm>
          <ns1:custGeom>
            <ns1:pathLst>
              <ns1:path w="720000" h="36">
                <ns1:moveTo>
                  <ns1:pt x="0" y="0"/>
                </ns1:moveTo>
                <ns1:lnTo>
                  <ns1:pt x="72000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99" name="02_098">
            <ns1:extLst>
              <ns1:ext uri="{FF2B5EF4-FFF2-40B4-BE49-F238E27FC236}">
                <ns2:creationId id="{0EF3791B-787A-4F00-86AC-2EEE38FC692E}"/>
              </ns1:ext>
            </ns1:extLst>
          </ns0:cNvPr>
          <ns0:cNvSpPr>
            <ns1:spLocks noGrp="1"/>
          </ns0:cNvSpPr>
          <ns0:nvPr/>
        </ns0:nvSpPr>
        <ns0:spPr>
          <ns1:xfrm>
            <ns1:off x="3496480" y="11124000"/>
            <ns1:ext cx="67520" cy="41397"/>
          </ns1:xfrm>
          <ns1:custGeom>
            <ns1:pathLst>
              <ns1:path w="67520" h="41397">
                <ns1:moveTo>
                  <ns1:pt x="67520" y="0"/>
                </ns1:moveTo>
                <ns1:lnTo>
                  <ns1:pt x="0" y="41397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100" name="02_099">
            <ns1:extLst>
              <ns1:ext uri="{FF2B5EF4-FFF2-40B4-BE49-F238E27FC236}">
                <ns2:creationId id="{64CD32E7-E182-4B97-B0A4-05F048CB10D3}"/>
              </ns1:ext>
            </ns1:extLst>
          </ns0:cNvPr>
          <ns0:cNvSpPr>
            <ns1:spLocks noGrp="1"/>
          </ns0:cNvSpPr>
          <ns0:nvPr/>
        </ns0:nvSpPr>
        <ns0:spPr>
          <ns1:xfrm>
            <ns1:off x="3496480" y="11082603"/>
            <ns1:ext cx="67520" cy="41397"/>
          </ns1:xfrm>
          <ns1:custGeom>
            <ns1:pathLst>
              <ns1:path w="67520" h="41397">
                <ns1:moveTo>
                  <ns1:pt x="67520" y="41397"/>
                </ns1:moveTo>
                <ns1:lnTo>
                  <ns1:pt x="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101" name="02_100">
            <ns1:extLst>
              <ns1:ext uri="{FF2B5EF4-FFF2-40B4-BE49-F238E27FC236}">
                <ns2:creationId id="{1A262A78-2477-4765-9C67-2264A51743CA}"/>
              </ns1:ext>
            </ns1:extLst>
          </ns0:cNvPr>
          <ns0:cNvSpPr>
            <ns1:spLocks noGrp="1"/>
          </ns0:cNvSpPr>
          <ns0:nvPr/>
        </ns0:nvSpPr>
        <ns0:spPr>
          <ns1:xfrm>
            <ns1:off x="6804000" y="10836000"/>
            <ns1:ext cx="720000" cy="36000"/>
          </ns1:xfrm>
          <ns1:custGeom>
            <ns1:pathLst>
              <ns1:path w="720000" h="36000">
                <ns1:moveTo>
                  <ns1:pt x="0" y="36000"/>
                </ns1:moveTo>
                <ns1:lnTo>
                  <ns1:pt x="72000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102" name="02_101">
            <ns1:extLst>
              <ns1:ext uri="{FF2B5EF4-FFF2-40B4-BE49-F238E27FC236}">
                <ns2:creationId id="{D43BD228-D44C-4B9F-9040-05D9A420B7E0}"/>
              </ns1:ext>
            </ns1:extLst>
          </ns0:cNvPr>
          <ns0:cNvSpPr>
            <ns1:spLocks noGrp="1"/>
          </ns0:cNvSpPr>
          <ns0:nvPr/>
        </ns0:nvSpPr>
        <ns0:spPr>
          <ns1:xfrm>
            <ns1:off x="7458632" y="10836000"/>
            <ns1:ext cx="65368" cy="44717"/>
          </ns1:xfrm>
          <ns1:custGeom>
            <ns1:pathLst>
              <ns1:path w="65368" h="44717">
                <ns1:moveTo>
                  <ns1:pt x="65368" y="0"/>
                </ns1:moveTo>
                <ns1:lnTo>
                  <ns1:pt x="0" y="44717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103" name="02_102">
            <ns1:extLst>
              <ns1:ext uri="{FF2B5EF4-FFF2-40B4-BE49-F238E27FC236}">
                <ns2:creationId id="{992BF80A-6BC5-4EB8-A6DF-544D4A57219B}"/>
              </ns1:ext>
            </ns1:extLst>
          </ns0:cNvPr>
          <ns0:cNvSpPr>
            <ns1:spLocks noGrp="1"/>
          </ns0:cNvSpPr>
          <ns0:nvPr/>
        </ns0:nvSpPr>
        <ns0:spPr>
          <ns1:xfrm>
            <ns1:off x="7454497" y="10798027"/>
            <ns1:ext cx="69503" cy="37973"/>
          </ns1:xfrm>
          <ns1:custGeom>
            <ns1:pathLst>
              <ns1:path w="69503" h="37973">
                <ns1:moveTo>
                  <ns1:pt x="69503" y="37973"/>
                </ns1:moveTo>
                <ns1:lnTo>
                  <ns1:pt x="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104" name="02_103">
            <ns1:extLst>
              <ns1:ext uri="{FF2B5EF4-FFF2-40B4-BE49-F238E27FC236}">
                <ns2:creationId id="{9B59B890-9701-4835-A2B0-E918C39314AC}"/>
              </ns1:ext>
            </ns1:extLst>
          </ns0:cNvPr>
          <ns0:cNvSpPr>
            <ns1:spLocks noGrp="1"/>
          </ns0:cNvSpPr>
          <ns0:nvPr/>
        </ns0:nvSpPr>
        <ns0:spPr>
          <ns1:xfrm>
            <ns1:off x="6804000" y="11376000"/>
            <ns1:ext cx="720000" cy="36000"/>
          </ns1:xfrm>
          <ns1:custGeom>
            <ns1:pathLst>
              <ns1:path w="720000" h="36000">
                <ns1:moveTo>
                  <ns1:pt x="0" y="0"/>
                </ns1:moveTo>
                <ns1:lnTo>
                  <ns1:pt x="720000" y="3600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105" name="02_104">
            <ns1:extLst>
              <ns1:ext uri="{FF2B5EF4-FFF2-40B4-BE49-F238E27FC236}">
                <ns2:creationId id="{7EB78EBE-8C43-4DF1-9733-B2271B5717F5}"/>
              </ns1:ext>
            </ns1:extLst>
          </ns0:cNvPr>
          <ns0:cNvSpPr>
            <ns1:spLocks noGrp="1"/>
          </ns0:cNvSpPr>
          <ns0:nvPr/>
        </ns0:nvSpPr>
        <ns0:spPr>
          <ns1:xfrm>
            <ns1:off x="7454497" y="11412000"/>
            <ns1:ext cx="69503" cy="37973"/>
          </ns1:xfrm>
          <ns1:custGeom>
            <ns1:pathLst>
              <ns1:path w="69503" h="37973">
                <ns1:moveTo>
                  <ns1:pt x="69503" y="0"/>
                </ns1:moveTo>
                <ns1:lnTo>
                  <ns1:pt x="0" y="37973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106" name="02_105">
            <ns1:extLst>
              <ns1:ext uri="{FF2B5EF4-FFF2-40B4-BE49-F238E27FC236}">
                <ns2:creationId id="{2E308F18-5374-48FA-B574-AF8F90328323}"/>
              </ns1:ext>
            </ns1:extLst>
          </ns0:cNvPr>
          <ns0:cNvSpPr>
            <ns1:spLocks noGrp="1"/>
          </ns0:cNvSpPr>
          <ns0:nvPr/>
        </ns0:nvSpPr>
        <ns0:spPr>
          <ns1:xfrm>
            <ns1:off x="7458632" y="11367283"/>
            <ns1:ext cx="65368" cy="44717"/>
          </ns1:xfrm>
          <ns1:custGeom>
            <ns1:pathLst>
              <ns1:path w="65368" h="44717">
                <ns1:moveTo>
                  <ns1:pt x="65368" y="44717"/>
                </ns1:moveTo>
                <ns1:lnTo>
                  <ns1:pt x="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107" name="02_106">
            <ns1:extLst>
              <ns1:ext uri="{FF2B5EF4-FFF2-40B4-BE49-F238E27FC236}">
                <ns2:creationId id="{B43CC2BD-0CAD-483C-BF97-FA02885DC9F5}"/>
              </ns1:ext>
            </ns1:extLst>
          </ns0:cNvPr>
          <ns0:cNvSpPr>
            <ns1:spLocks noGrp="1"/>
          </ns0:cNvSpPr>
          <ns0:nvPr/>
        </ns0:nvSpPr>
        <ns0:spPr>
          <ns1:xfrm>
            <ns1:off x="9432000" y="10836000"/>
            <ns1:ext cx="864000" cy="72000"/>
          </ns1:xfrm>
          <ns1:custGeom>
            <ns1:pathLst>
              <ns1:path w="864000" h="72000">
                <ns1:moveTo>
                  <ns1:pt x="0" y="0"/>
                </ns1:moveTo>
                <ns1:lnTo>
                  <ns1:pt x="864000" y="72000"/>
                </ns1:lnTo>
              </ns1:path>
            </ns1:pathLst>
          </ns1:custGeom>
          <ns1:noFill/>
          <ns1:ln w="23400">
            <ns1:solidFill>
              <ns1:srgbClr val="188D78"/>
            </ns1:solidFill>
            <ns1:prstDash val="solid"/>
          </ns1:ln>
        </ns0:spPr>
      </ns0:sp>
      <ns0:sp>
        <ns0:nvSpPr>
          <ns0:cNvPr id="108" name="02_107">
            <ns1:extLst>
              <ns1:ext uri="{FF2B5EF4-FFF2-40B4-BE49-F238E27FC236}">
                <ns2:creationId id="{30AFA8E3-BF92-48B4-840B-F50474F515B5}"/>
              </ns1:ext>
            </ns1:extLst>
          </ns0:cNvPr>
          <ns0:cNvSpPr>
            <ns1:spLocks noGrp="1"/>
          </ns0:cNvSpPr>
          <ns0:nvPr/>
        </ns0:nvSpPr>
        <ns0:spPr>
          <ns1:xfrm>
            <ns1:off x="10225275" y="10908000"/>
            <ns1:ext cx="70725" cy="35647"/>
          </ns1:xfrm>
          <ns1:custGeom>
            <ns1:pathLst>
              <ns1:path w="70725" h="35647">
                <ns1:moveTo>
                  <ns1:pt x="70725" y="0"/>
                </ns1:moveTo>
                <ns1:lnTo>
                  <ns1:pt x="0" y="35647"/>
                </ns1:lnTo>
              </ns1:path>
            </ns1:pathLst>
          </ns1:custGeom>
          <ns1:noFill/>
          <ns1:ln w="23400">
            <ns1:solidFill>
              <ns1:srgbClr val="188D78"/>
            </ns1:solidFill>
            <ns1:prstDash val="solid"/>
          </ns1:ln>
        </ns0:spPr>
      </ns0:sp>
      <ns0:sp>
        <ns0:nvSpPr>
          <ns0:cNvPr id="109" name="02_108">
            <ns1:extLst>
              <ns1:ext uri="{FF2B5EF4-FFF2-40B4-BE49-F238E27FC236}">
                <ns2:creationId id="{F1BF60E6-AB1B-4772-A018-C84964D3C932}"/>
              </ns1:ext>
            </ns1:extLst>
          </ns0:cNvPr>
          <ns0:cNvSpPr>
            <ns1:spLocks noGrp="1"/>
          </ns0:cNvSpPr>
          <ns0:nvPr/>
        </ns0:nvSpPr>
        <ns0:spPr>
          <ns1:xfrm>
            <ns1:off x="10232151" y="10861139"/>
            <ns1:ext cx="63849" cy="46861"/>
          </ns1:xfrm>
          <ns1:custGeom>
            <ns1:pathLst>
              <ns1:path w="63849" h="46861">
                <ns1:moveTo>
                  <ns1:pt x="63849" y="46861"/>
                </ns1:moveTo>
                <ns1:lnTo>
                  <ns1:pt x="0" y="0"/>
                </ns1:lnTo>
              </ns1:path>
            </ns1:pathLst>
          </ns1:custGeom>
          <ns1:noFill/>
          <ns1:ln w="23400">
            <ns1:solidFill>
              <ns1:srgbClr val="188D78"/>
            </ns1:solidFill>
            <ns1:prstDash val="solid"/>
          </ns1:ln>
        </ns0:spPr>
      </ns0:sp>
      <ns0:sp>
        <ns0:nvSpPr>
          <ns0:cNvPr id="110" name="02_109">
            <ns1:extLst>
              <ns1:ext uri="{FF2B5EF4-FFF2-40B4-BE49-F238E27FC236}">
                <ns2:creationId id="{B95725AB-6130-466A-AE9D-E42FD882AF7D}"/>
              </ns1:ext>
            </ns1:extLst>
          </ns0:cNvPr>
          <ns0:cNvSpPr>
            <ns1:spLocks noGrp="1"/>
          </ns0:cNvSpPr>
          <ns0:nvPr/>
        </ns0:nvSpPr>
        <ns0:spPr>
          <ns1:xfrm>
            <ns1:off x="9432000" y="11340000"/>
            <ns1:ext cx="864000" cy="72000"/>
          </ns1:xfrm>
          <ns1:custGeom>
            <ns1:pathLst>
              <ns1:path w="864000" h="72000">
                <ns1:moveTo>
                  <ns1:pt x="0" y="72000"/>
                </ns1:moveTo>
                <ns1:lnTo>
                  <ns1:pt x="864000" y="0"/>
                </ns1:lnTo>
              </ns1:path>
            </ns1:pathLst>
          </ns1:custGeom>
          <ns1:noFill/>
          <ns1:ln w="23400">
            <ns1:solidFill>
              <ns1:srgbClr val="188D78"/>
            </ns1:solidFill>
            <ns1:prstDash val="solid"/>
          </ns1:ln>
        </ns0:spPr>
      </ns0:sp>
      <ns0:sp>
        <ns0:nvSpPr>
          <ns0:cNvPr id="111" name="02_110">
            <ns1:extLst>
              <ns1:ext uri="{FF2B5EF4-FFF2-40B4-BE49-F238E27FC236}">
                <ns2:creationId id="{F42BBD26-056E-4569-9E9C-B853ACCF3BA0}"/>
              </ns1:ext>
            </ns1:extLst>
          </ns0:cNvPr>
          <ns0:cNvSpPr>
            <ns1:spLocks noGrp="1"/>
          </ns0:cNvSpPr>
          <ns0:nvPr/>
        </ns0:nvSpPr>
        <ns0:spPr>
          <ns1:xfrm>
            <ns1:off x="10232151" y="11340000"/>
            <ns1:ext cx="63849" cy="46861"/>
          </ns1:xfrm>
          <ns1:custGeom>
            <ns1:pathLst>
              <ns1:path w="63849" h="46861">
                <ns1:moveTo>
                  <ns1:pt x="63849" y="0"/>
                </ns1:moveTo>
                <ns1:lnTo>
                  <ns1:pt x="0" y="46861"/>
                </ns1:lnTo>
              </ns1:path>
            </ns1:pathLst>
          </ns1:custGeom>
          <ns1:noFill/>
          <ns1:ln w="23400">
            <ns1:solidFill>
              <ns1:srgbClr val="188D78"/>
            </ns1:solidFill>
            <ns1:prstDash val="solid"/>
          </ns1:ln>
        </ns0:spPr>
      </ns0:sp>
      <ns0:sp>
        <ns0:nvSpPr>
          <ns0:cNvPr id="112" name="02_111">
            <ns1:extLst>
              <ns1:ext uri="{FF2B5EF4-FFF2-40B4-BE49-F238E27FC236}">
                <ns2:creationId id="{C8D292AF-E469-42E9-9074-5EE9BA754B05}"/>
              </ns1:ext>
            </ns1:extLst>
          </ns0:cNvPr>
          <ns0:cNvSpPr>
            <ns1:spLocks noGrp="1"/>
          </ns0:cNvSpPr>
          <ns0:nvPr/>
        </ns0:nvSpPr>
        <ns0:spPr>
          <ns1:xfrm>
            <ns1:off x="10225275" y="11304353"/>
            <ns1:ext cx="70725" cy="35647"/>
          </ns1:xfrm>
          <ns1:custGeom>
            <ns1:pathLst>
              <ns1:path w="70725" h="35647">
                <ns1:moveTo>
                  <ns1:pt x="70725" y="35647"/>
                </ns1:moveTo>
                <ns1:lnTo>
                  <ns1:pt x="0" y="0"/>
                </ns1:lnTo>
              </ns1:path>
            </ns1:pathLst>
          </ns1:custGeom>
          <ns1:noFill/>
          <ns1:ln w="23400">
            <ns1:solidFill>
              <ns1:srgbClr val="188D78"/>
            </ns1:solidFill>
            <ns1:prstDash val="solid"/>
          </ns1:ln>
        </ns0:spPr>
      </ns0:sp>
      <ns0:sp>
        <ns0:nvSpPr>
          <ns0:cNvPr id="113" name="02_112">
            <ns1:extLst>
              <ns1:ext uri="{FF2B5EF4-FFF2-40B4-BE49-F238E27FC236}">
                <ns2:creationId id="{EBF141E9-B89E-4590-A93E-031FE4664E03}"/>
              </ns1:ext>
            </ns1:extLst>
          </ns0:cNvPr>
          <ns0:cNvSpPr>
            <ns1:spLocks noGrp="1"/>
          </ns0:cNvSpPr>
          <ns0:nvPr/>
        </ns0:nvSpPr>
        <ns0:spPr>
          <ns1:xfrm>
            <ns1:off x="12636000" y="11124000"/>
            <ns1:ext cx="828000" cy="36"/>
          </ns1:xfrm>
          <ns1:custGeom>
            <ns1:pathLst>
              <ns1:path w="828000" h="36">
                <ns1:moveTo>
                  <ns1:pt x="0" y="0"/>
                </ns1:moveTo>
                <ns1:lnTo>
                  <ns1:pt x="82800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114" name="02_113">
            <ns1:extLst>
              <ns1:ext uri="{FF2B5EF4-FFF2-40B4-BE49-F238E27FC236}">
                <ns2:creationId id="{59F378BA-984E-4FA0-AAAD-B24B7DEE7E00}"/>
              </ns1:ext>
            </ns1:extLst>
          </ns0:cNvPr>
          <ns0:cNvSpPr>
            <ns1:spLocks noGrp="1"/>
          </ns0:cNvSpPr>
          <ns0:nvPr/>
        </ns0:nvSpPr>
        <ns0:spPr>
          <ns1:xfrm>
            <ns1:off x="13396480" y="11124000"/>
            <ns1:ext cx="67520" cy="41397"/>
          </ns1:xfrm>
          <ns1:custGeom>
            <ns1:pathLst>
              <ns1:path w="67520" h="41397">
                <ns1:moveTo>
                  <ns1:pt x="67520" y="0"/>
                </ns1:moveTo>
                <ns1:lnTo>
                  <ns1:pt x="0" y="41397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115" name="02_114">
            <ns1:extLst>
              <ns1:ext uri="{FF2B5EF4-FFF2-40B4-BE49-F238E27FC236}">
                <ns2:creationId id="{E49B6C9E-F5CB-4BF0-B413-878138BF94D3}"/>
              </ns1:ext>
            </ns1:extLst>
          </ns0:cNvPr>
          <ns0:cNvSpPr>
            <ns1:spLocks noGrp="1"/>
          </ns0:cNvSpPr>
          <ns0:nvPr/>
        </ns0:nvSpPr>
        <ns0:spPr>
          <ns1:xfrm>
            <ns1:off x="13396480" y="11082603"/>
            <ns1:ext cx="67520" cy="41397"/>
          </ns1:xfrm>
          <ns1:custGeom>
            <ns1:pathLst>
              <ns1:path w="67520" h="41397">
                <ns1:moveTo>
                  <ns1:pt x="67520" y="41397"/>
                </ns1:moveTo>
                <ns1:lnTo>
                  <ns1:pt x="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116" name="02_115">
            <ns1:extLst>
              <ns1:ext uri="{FF2B5EF4-FFF2-40B4-BE49-F238E27FC236}">
                <ns2:creationId id="{C874CB76-63CA-441E-AEE7-3720C19B73AF}"/>
              </ns1:ext>
            </ns1:extLst>
          </ns0:cNvPr>
          <ns0:cNvSpPr>
            <ns1:spLocks noGrp="1"/>
          </ns0:cNvSpPr>
          <ns0:nvPr/>
        </ns0:nvSpPr>
        <ns0:spPr>
          <ns1:xfrm>
            <ns1:off x="15804000" y="11124000"/>
            <ns1:ext cx="756000" cy="36"/>
          </ns1:xfrm>
          <ns1:custGeom>
            <ns1:pathLst>
              <ns1:path w="756000" h="36">
                <ns1:moveTo>
                  <ns1:pt x="0" y="0"/>
                </ns1:moveTo>
                <ns1:lnTo>
                  <ns1:pt x="75600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117" name="02_116">
            <ns1:extLst>
              <ns1:ext uri="{FF2B5EF4-FFF2-40B4-BE49-F238E27FC236}">
                <ns2:creationId id="{8EAB1190-EC45-4AD8-A281-08F996EFA278}"/>
              </ns1:ext>
            </ns1:extLst>
          </ns0:cNvPr>
          <ns0:cNvSpPr>
            <ns1:spLocks noGrp="1"/>
          </ns0:cNvSpPr>
          <ns0:nvPr/>
        </ns0:nvSpPr>
        <ns0:spPr>
          <ns1:xfrm>
            <ns1:off x="16492480" y="11124000"/>
            <ns1:ext cx="67520" cy="41397"/>
          </ns1:xfrm>
          <ns1:custGeom>
            <ns1:pathLst>
              <ns1:path w="67520" h="41397">
                <ns1:moveTo>
                  <ns1:pt x="67520" y="0"/>
                </ns1:moveTo>
                <ns1:lnTo>
                  <ns1:pt x="0" y="41397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118" name="02_117">
            <ns1:extLst>
              <ns1:ext uri="{FF2B5EF4-FFF2-40B4-BE49-F238E27FC236}">
                <ns2:creationId id="{C97747F7-FA7B-4390-935A-90C9EBD63C4E}"/>
              </ns1:ext>
            </ns1:extLst>
          </ns0:cNvPr>
          <ns0:cNvSpPr>
            <ns1:spLocks noGrp="1"/>
          </ns0:cNvSpPr>
          <ns0:nvPr/>
        </ns0:nvSpPr>
        <ns0:spPr>
          <ns1:xfrm>
            <ns1:off x="16492480" y="11082603"/>
            <ns1:ext cx="67520" cy="41397"/>
          </ns1:xfrm>
          <ns1:custGeom>
            <ns1:pathLst>
              <ns1:path w="67520" h="41397">
                <ns1:moveTo>
                  <ns1:pt x="67520" y="41397"/>
                </ns1:moveTo>
                <ns1:lnTo>
                  <ns1:pt x="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119" name="02_118">
            <ns1:extLst>
              <ns1:ext uri="{FF2B5EF4-FFF2-40B4-BE49-F238E27FC236}">
                <ns2:creationId id="{AFF560DA-8C57-40E6-97FF-AFB69EE8927D}"/>
              </ns1:ext>
            </ns1:extLst>
          </ns0:cNvPr>
          <ns0:cNvSpPr>
            <ns1:spLocks noGrp="1"/>
          </ns0:cNvSpPr>
          <ns0:nvPr/>
        </ns0:nvSpPr>
        <ns0:spPr>
          <ns1:xfrm>
            <ns1:off x="18252000" y="11124000"/>
            <ns1:ext cx="684000" cy="36"/>
          </ns1:xfrm>
          <ns1:custGeom>
            <ns1:pathLst>
              <ns1:path w="684000" h="36">
                <ns1:moveTo>
                  <ns1:pt x="0" y="0"/>
                </ns1:moveTo>
                <ns1:lnTo>
                  <ns1:pt x="68400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120" name="02_119">
            <ns1:extLst>
              <ns1:ext uri="{FF2B5EF4-FFF2-40B4-BE49-F238E27FC236}">
                <ns2:creationId id="{E86294C1-8FE4-4C12-B260-7A095464A67E}"/>
              </ns1:ext>
            </ns1:extLst>
          </ns0:cNvPr>
          <ns0:cNvSpPr>
            <ns1:spLocks noGrp="1"/>
          </ns0:cNvSpPr>
          <ns0:nvPr/>
        </ns0:nvSpPr>
        <ns0:spPr>
          <ns1:xfrm>
            <ns1:off x="18868480" y="11124000"/>
            <ns1:ext cx="67520" cy="41397"/>
          </ns1:xfrm>
          <ns1:custGeom>
            <ns1:pathLst>
              <ns1:path w="67520" h="41397">
                <ns1:moveTo>
                  <ns1:pt x="67520" y="0"/>
                </ns1:moveTo>
                <ns1:lnTo>
                  <ns1:pt x="0" y="41397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121" name="02_120">
            <ns1:extLst>
              <ns1:ext uri="{FF2B5EF4-FFF2-40B4-BE49-F238E27FC236}">
                <ns2:creationId id="{95ACBD3F-771B-4C74-BD0B-42A278CEB843}"/>
              </ns1:ext>
            </ns1:extLst>
          </ns0:cNvPr>
          <ns0:cNvSpPr>
            <ns1:spLocks noGrp="1"/>
          </ns0:cNvSpPr>
          <ns0:nvPr/>
        </ns0:nvSpPr>
        <ns0:spPr>
          <ns1:xfrm>
            <ns1:off x="18868480" y="11082603"/>
            <ns1:ext cx="67520" cy="41397"/>
          </ns1:xfrm>
          <ns1:custGeom>
            <ns1:pathLst>
              <ns1:path w="67520" h="41397">
                <ns1:moveTo>
                  <ns1:pt x="67520" y="41397"/>
                </ns1:moveTo>
                <ns1:lnTo>
                  <ns1:pt x="0" y="0"/>
                </ns1:lnTo>
              </ns1:path>
            </ns1:pathLst>
          </ns1:custGeom>
          <ns1:noFill/>
          <ns1:ln w="23400">
            <ns1:solidFill>
              <ns1:srgbClr val="596579"/>
            </ns1:solidFill>
            <ns1:prstDash val="solid"/>
          </ns1:ln>
        </ns0:spPr>
      </ns0:sp>
      <ns0:sp>
        <ns0:nvSpPr>
          <ns0:cNvPr id="122" name="02_121">
            <ns1:extLst>
              <ns1:ext uri="{FF2B5EF4-FFF2-40B4-BE49-F238E27FC236}">
                <ns2:creationId id="{6419FF24-3147-4F25-A51C-2671B09B58F8}"/>
              </ns1:ext>
            </ns1:extLst>
          </ns0:cNvPr>
          <ns0:cNvSpPr>
            <ns1:spLocks noGrp="1"/>
          </ns0:cNvSpPr>
          <ns0:nvPr/>
        </ns0:nvSpPr>
        <ns0:spPr>
          <ns1:xfrm>
            <ns1:off x="864000" y="11688425"/>
            <ns1:ext cx="5718366" cy="222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2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2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2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rPr>
              <ns1:t>HyDE는 밀집 검색 전에 적용하며, CAD와 SCD는 생성 중 매 토큰의 점수를 조절</ns1:t>
            </ns1:r>
          </ns1:p>
        </ns0:txBody>
      </ns0:sp>
      <ns0:sp>
        <ns0:nvSpPr>
          <ns0:cNvPr id="123" name="02_122">
            <ns1:extLst>
              <ns1:ext uri="{FF2B5EF4-FFF2-40B4-BE49-F238E27FC236}">
                <ns2:creationId id="{836F34DC-92FC-4275-A287-13EF694B7511}"/>
              </ns1:ext>
            </ns1:extLst>
          </ns0:cNvPr>
          <ns0:cNvSpPr>
            <ns1:spLocks noGrp="1"/>
          </ns0:cNvSpPr>
          <ns0:nvPr/>
        </ns0:nvSpPr>
        <ns0:spPr>
          <ns1:xfrm>
            <ns1:off x="864000" y="11940425"/>
            <ns1:ext cx="6410262" cy="222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2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2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2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rPr>
              <ns1:t>함께 쓰면 CAD(α=0.5) 다음 SCD 적용; 백본을 고정한 8조건의 답변을 같은 질의끼리 비교</ns1:t>
            </ns1:r>
          </ns1:p>
        </ns0:txBody>
      </ns0:sp>
      <ns0:sp>
        <ns0:nvSpPr>
          <ns0:cNvPr id="124" name="03_123">
            <ns1:extLst>
              <ns1:ext uri="{FF2B5EF4-FFF2-40B4-BE49-F238E27FC236}">
                <ns2:creationId id="{ACE5196A-BA11-4693-84BF-4830D3521001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12420000"/>
            <ns1:ext cx="19944000" cy="396000"/>
          </ns1:xfrm>
          <ns1:prstGeom prst="rect">
            <ns1:avLst/>
          </ns1:prstGeom>
          <ns1:solidFill>
            <ns1:srgbClr val="6B5087"/>
          </ns1:solidFill>
          <ns1:ln w="0">
            <ns1:noFill/>
          </ns1:ln>
        </ns0:spPr>
      </ns0:sp>
      <ns0:sp>
        <ns0:nvSpPr>
          <ns0:cNvPr id="125" name="03_124">
            <ns1:extLst>
              <ns1:ext uri="{FF2B5EF4-FFF2-40B4-BE49-F238E27FC236}">
                <ns2:creationId id="{AC089035-3A78-4900-9AC3-44C1019AE364}"/>
              </ns1:ext>
            </ns1:extLst>
          </ns0:cNvPr>
          <ns0:cNvSpPr>
            <ns1:spLocks noGrp="1"/>
          </ns0:cNvSpPr>
          <ns0:nvPr/>
        </ns0:nvSpPr>
        <ns0:spPr>
          <ns1:xfrm>
            <ns1:off x="828000" y="12437480"/>
            <ns1:ext cx="5719994" cy="355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rPr>
              <ns1:t>03 RAG-Cube 실험 설계: 같은 질의에 8조건 적용</ns1:t>
            </ns1:r>
          </ns1:p>
        </ns0:txBody>
      </ns0:sp>
      <ns0:sp>
        <ns0:nvSpPr>
          <ns0:cNvPr id="126" name="03_125">
            <ns1:extLst>
              <ns1:ext uri="{FF2B5EF4-FFF2-40B4-BE49-F238E27FC236}">
                <ns2:creationId id="{FCF07C4C-0243-4DF6-A8C3-0A146523155C}"/>
              </ns1:ext>
            </ns1:extLst>
          </ns0:cNvPr>
          <ns0:cNvSpPr>
            <ns1:spLocks noGrp="1"/>
          </ns0:cNvSpPr>
          <ns0:nvPr/>
        </ns0:nvSpPr>
        <ns0:spPr>
          <ns1:xfrm>
            <ns1:off x="3168000" y="14364000"/>
            <ns1:ext cx="3312000" cy="288000"/>
          </ns1:xfrm>
          <ns1:custGeom>
            <ns1:pathLst>
              <ns1:path w="3312000" h="288000">
                <ns1:moveTo>
                  <ns1:pt x="0" y="288000"/>
                </ns1:moveTo>
                <ns1:lnTo>
                  <ns1:pt x="3312000" y="0"/>
                </ns1:lnTo>
              </ns1:path>
            </ns1:pathLst>
          </ns1:custGeom>
          <ns1:noFill/>
          <ns1:ln w="21600">
            <ns1:solidFill>
              <ns1:srgbClr val="347DDB"/>
            </ns1:solidFill>
            <ns1:prstDash val="solid"/>
          </ns1:ln>
        </ns0:spPr>
      </ns0:sp>
      <ns0:sp>
        <ns0:nvSpPr>
          <ns0:cNvPr id="127" name="03_126">
            <ns1:extLst>
              <ns1:ext uri="{FF2B5EF4-FFF2-40B4-BE49-F238E27FC236}">
                <ns2:creationId id="{9B41F74B-A1CC-4218-BCC6-BD34769AA786}"/>
              </ns1:ext>
            </ns1:extLst>
          </ns0:cNvPr>
          <ns0:cNvSpPr>
            <ns1:spLocks noGrp="1"/>
          </ns0:cNvSpPr>
          <ns0:nvPr/>
        </ns0:nvSpPr>
        <ns0:spPr>
          <ns1:xfrm>
            <ns1:off x="1800000" y="14292000"/>
            <ns1:ext cx="1368000" cy="360000"/>
          </ns1:xfrm>
          <ns1:custGeom>
            <ns1:pathLst>
              <ns1:path w="1368000" h="360000">
                <ns1:moveTo>
                  <ns1:pt x="1368000" y="360000"/>
                </ns1:moveTo>
                <ns1:lnTo>
                  <ns1:pt x="0" y="0"/>
                </ns1:lnTo>
              </ns1:path>
            </ns1:pathLst>
          </ns1:custGeom>
          <ns1:noFill/>
          <ns1:ln w="21600">
            <ns1:solidFill>
              <ns1:srgbClr val="188D78"/>
            </ns1:solidFill>
            <ns1:prstDash val="solid"/>
          </ns1:ln>
        </ns0:spPr>
      </ns0:sp>
      <ns0:sp>
        <ns0:nvSpPr>
          <ns0:cNvPr id="128" name="03_127">
            <ns1:extLst>
              <ns1:ext uri="{FF2B5EF4-FFF2-40B4-BE49-F238E27FC236}">
                <ns2:creationId id="{F3D2285C-5D44-48D2-86BE-21C525A35A96}"/>
              </ns1:ext>
            </ns1:extLst>
          </ns0:cNvPr>
          <ns0:cNvSpPr>
            <ns1:spLocks noGrp="1"/>
          </ns0:cNvSpPr>
          <ns0:nvPr/>
        </ns0:nvSpPr>
        <ns0:spPr>
          <ns1:xfrm>
            <ns1:off x="3168000" y="13860000"/>
            <ns1:ext cx="36" cy="792000"/>
          </ns1:xfrm>
          <ns1:custGeom>
            <ns1:pathLst>
              <ns1:path w="36" h="792000">
                <ns1:moveTo>
                  <ns1:pt x="0" y="792000"/>
                </ns1:moveTo>
                <ns1:lnTo>
                  <ns1:pt x="0" y="0"/>
                </ns1:lnTo>
              </ns1:path>
            </ns1:pathLst>
          </ns1:custGeom>
          <ns1:noFill/>
          <ns1:ln w="21600">
            <ns1:solidFill>
              <ns1:srgbClr val="D27837"/>
            </ns1:solidFill>
            <ns1:prstDash val="solid"/>
          </ns1:ln>
        </ns0:spPr>
      </ns0:sp>
      <ns0:sp>
        <ns0:nvSpPr>
          <ns0:cNvPr id="129" name="03_128">
            <ns1:extLst>
              <ns1:ext uri="{FF2B5EF4-FFF2-40B4-BE49-F238E27FC236}">
                <ns2:creationId id="{B7EA2C4A-E04F-476B-AC02-0E0C31EF697A}"/>
              </ns1:ext>
            </ns1:extLst>
          </ns0:cNvPr>
          <ns0:cNvSpPr>
            <ns1:spLocks noGrp="1"/>
          </ns0:cNvSpPr>
          <ns0:nvPr/>
        </ns0:nvSpPr>
        <ns0:spPr>
          <ns1:xfrm>
            <ns1:off x="3168000" y="13572000"/>
            <ns1:ext cx="3312000" cy="288000"/>
          </ns1:xfrm>
          <ns1:custGeom>
            <ns1:pathLst>
              <ns1:path w="3312000" h="288000">
                <ns1:moveTo>
                  <ns1:pt x="0" y="288000"/>
                </ns1:moveTo>
                <ns1:lnTo>
                  <ns1:pt x="3312000" y="0"/>
                </ns1:lnTo>
              </ns1:path>
            </ns1:pathLst>
          </ns1:custGeom>
          <ns1:noFill/>
          <ns1:ln w="21600">
            <ns1:solidFill>
              <ns1:srgbClr val="347DDB"/>
            </ns1:solidFill>
            <ns1:prstDash val="solid"/>
          </ns1:ln>
        </ns0:spPr>
      </ns0:sp>
      <ns0:sp>
        <ns0:nvSpPr>
          <ns0:cNvPr id="130" name="03_129">
            <ns1:extLst>
              <ns1:ext uri="{FF2B5EF4-FFF2-40B4-BE49-F238E27FC236}">
                <ns2:creationId id="{C794D17D-1FCD-479F-8EC7-04F1EF5B25CF}"/>
              </ns1:ext>
            </ns1:extLst>
          </ns0:cNvPr>
          <ns0:cNvSpPr>
            <ns1:spLocks noGrp="1"/>
          </ns0:cNvSpPr>
          <ns0:nvPr/>
        </ns0:nvSpPr>
        <ns0:spPr>
          <ns1:xfrm>
            <ns1:off x="1800000" y="13500000"/>
            <ns1:ext cx="1368000" cy="360000"/>
          </ns1:xfrm>
          <ns1:custGeom>
            <ns1:pathLst>
              <ns1:path w="1368000" h="360000">
                <ns1:moveTo>
                  <ns1:pt x="1368000" y="360000"/>
                </ns1:moveTo>
                <ns1:lnTo>
                  <ns1:pt x="0" y="0"/>
                </ns1:lnTo>
              </ns1:path>
            </ns1:pathLst>
          </ns1:custGeom>
          <ns1:noFill/>
          <ns1:ln w="21600">
            <ns1:solidFill>
              <ns1:srgbClr val="188D78"/>
            </ns1:solidFill>
            <ns1:prstDash val="solid"/>
          </ns1:ln>
        </ns0:spPr>
      </ns0:sp>
      <ns0:sp>
        <ns0:nvSpPr>
          <ns0:cNvPr id="131" name="03_130">
            <ns1:extLst>
              <ns1:ext uri="{FF2B5EF4-FFF2-40B4-BE49-F238E27FC236}">
                <ns2:creationId id="{C889EBD1-1AE4-4788-A411-2C4A240FFE5C}"/>
              </ns1:ext>
            </ns1:extLst>
          </ns0:cNvPr>
          <ns0:cNvSpPr>
            <ns1:spLocks noGrp="1"/>
          </ns0:cNvSpPr>
          <ns0:nvPr/>
        </ns0:nvSpPr>
        <ns0:spPr>
          <ns1:xfrm>
            <ns1:off x="1800000" y="14004000"/>
            <ns1:ext cx="3312000" cy="288000"/>
          </ns1:xfrm>
          <ns1:custGeom>
            <ns1:pathLst>
              <ns1:path w="3312000" h="288000">
                <ns1:moveTo>
                  <ns1:pt x="0" y="288000"/>
                </ns1:moveTo>
                <ns1:lnTo>
                  <ns1:pt x="3312000" y="0"/>
                </ns1:lnTo>
              </ns1:path>
            </ns1:pathLst>
          </ns1:custGeom>
          <ns1:noFill/>
          <ns1:ln w="21600">
            <ns1:solidFill>
              <ns1:srgbClr val="347DDB"/>
            </ns1:solidFill>
            <ns1:prstDash val="solid"/>
          </ns1:ln>
        </ns0:spPr>
      </ns0:sp>
      <ns0:sp>
        <ns0:nvSpPr>
          <ns0:cNvPr id="132" name="03_131">
            <ns1:extLst>
              <ns1:ext uri="{FF2B5EF4-FFF2-40B4-BE49-F238E27FC236}">
                <ns2:creationId id="{41D6F776-917D-4D1B-B340-E35C04479794}"/>
              </ns1:ext>
            </ns1:extLst>
          </ns0:cNvPr>
          <ns0:cNvSpPr>
            <ns1:spLocks noGrp="1"/>
          </ns0:cNvSpPr>
          <ns0:nvPr/>
        </ns0:nvSpPr>
        <ns0:spPr>
          <ns1:xfrm>
            <ns1:off x="1800000" y="13500000"/>
            <ns1:ext cx="36" cy="792000"/>
          </ns1:xfrm>
          <ns1:custGeom>
            <ns1:pathLst>
              <ns1:path w="36" h="792000">
                <ns1:moveTo>
                  <ns1:pt x="0" y="792000"/>
                </ns1:moveTo>
                <ns1:lnTo>
                  <ns1:pt x="0" y="0"/>
                </ns1:lnTo>
              </ns1:path>
            </ns1:pathLst>
          </ns1:custGeom>
          <ns1:noFill/>
          <ns1:ln w="21600">
            <ns1:solidFill>
              <ns1:srgbClr val="D27837"/>
            </ns1:solidFill>
            <ns1:prstDash val="solid"/>
          </ns1:ln>
        </ns0:spPr>
      </ns0:sp>
      <ns0:sp>
        <ns0:nvSpPr>
          <ns0:cNvPr id="133" name="03_132">
            <ns1:extLst>
              <ns1:ext uri="{FF2B5EF4-FFF2-40B4-BE49-F238E27FC236}">
                <ns2:creationId id="{6A2E9CD7-A8A7-4A0B-B957-3C84E066387B}"/>
              </ns1:ext>
            </ns1:extLst>
          </ns0:cNvPr>
          <ns0:cNvSpPr>
            <ns1:spLocks noGrp="1"/>
          </ns0:cNvSpPr>
          <ns0:nvPr/>
        </ns0:nvSpPr>
        <ns0:spPr>
          <ns1:xfrm>
            <ns1:off x="1800000" y="13212000"/>
            <ns1:ext cx="3312000" cy="288000"/>
          </ns1:xfrm>
          <ns1:custGeom>
            <ns1:pathLst>
              <ns1:path w="3312000" h="288000">
                <ns1:moveTo>
                  <ns1:pt x="0" y="288000"/>
                </ns1:moveTo>
                <ns1:lnTo>
                  <ns1:pt x="3312000" y="0"/>
                </ns1:lnTo>
              </ns1:path>
            </ns1:pathLst>
          </ns1:custGeom>
          <ns1:noFill/>
          <ns1:ln w="21600">
            <ns1:solidFill>
              <ns1:srgbClr val="347DDB"/>
            </ns1:solidFill>
            <ns1:prstDash val="solid"/>
          </ns1:ln>
        </ns0:spPr>
      </ns0:sp>
      <ns0:sp>
        <ns0:nvSpPr>
          <ns0:cNvPr id="134" name="03_133">
            <ns1:extLst>
              <ns1:ext uri="{FF2B5EF4-FFF2-40B4-BE49-F238E27FC236}">
                <ns2:creationId id="{E3C4992D-00E7-458F-A292-F9F0BDEE35C5}"/>
              </ns1:ext>
            </ns1:extLst>
          </ns0:cNvPr>
          <ns0:cNvSpPr>
            <ns1:spLocks noGrp="1"/>
          </ns0:cNvSpPr>
          <ns0:nvPr/>
        </ns0:nvSpPr>
        <ns0:spPr>
          <ns1:xfrm>
            <ns1:off x="5112000" y="14004000"/>
            <ns1:ext cx="1368000" cy="360000"/>
          </ns1:xfrm>
          <ns1:custGeom>
            <ns1:pathLst>
              <ns1:path w="1368000" h="360000">
                <ns1:moveTo>
                  <ns1:pt x="1368000" y="360000"/>
                </ns1:moveTo>
                <ns1:lnTo>
                  <ns1:pt x="0" y="0"/>
                </ns1:lnTo>
              </ns1:path>
            </ns1:pathLst>
          </ns1:custGeom>
          <ns1:noFill/>
          <ns1:ln w="21600">
            <ns1:solidFill>
              <ns1:srgbClr val="188D78"/>
            </ns1:solidFill>
            <ns1:prstDash val="solid"/>
          </ns1:ln>
        </ns0:spPr>
      </ns0:sp>
      <ns0:sp>
        <ns0:nvSpPr>
          <ns0:cNvPr id="135" name="03_134">
            <ns1:extLst>
              <ns1:ext uri="{FF2B5EF4-FFF2-40B4-BE49-F238E27FC236}">
                <ns2:creationId id="{720E639F-B6A4-4E65-8DF2-FD3AC74491CE}"/>
              </ns1:ext>
            </ns1:extLst>
          </ns0:cNvPr>
          <ns0:cNvSpPr>
            <ns1:spLocks noGrp="1"/>
          </ns0:cNvSpPr>
          <ns0:nvPr/>
        </ns0:nvSpPr>
        <ns0:spPr>
          <ns1:xfrm>
            <ns1:off x="6480000" y="13572000"/>
            <ns1:ext cx="36" cy="792000"/>
          </ns1:xfrm>
          <ns1:custGeom>
            <ns1:pathLst>
              <ns1:path w="36" h="792000">
                <ns1:moveTo>
                  <ns1:pt x="0" y="792000"/>
                </ns1:moveTo>
                <ns1:lnTo>
                  <ns1:pt x="0" y="0"/>
                </ns1:lnTo>
              </ns1:path>
            </ns1:pathLst>
          </ns1:custGeom>
          <ns1:noFill/>
          <ns1:ln w="21600">
            <ns1:solidFill>
              <ns1:srgbClr val="D27837"/>
            </ns1:solidFill>
            <ns1:prstDash val="solid"/>
          </ns1:ln>
        </ns0:spPr>
      </ns0:sp>
      <ns0:sp>
        <ns0:nvSpPr>
          <ns0:cNvPr id="136" name="03_135">
            <ns1:extLst>
              <ns1:ext uri="{FF2B5EF4-FFF2-40B4-BE49-F238E27FC236}">
                <ns2:creationId id="{97AF2A7C-1884-4F4D-9D96-A9814F4E91EC}"/>
              </ns1:ext>
            </ns1:extLst>
          </ns0:cNvPr>
          <ns0:cNvSpPr>
            <ns1:spLocks noGrp="1"/>
          </ns0:cNvSpPr>
          <ns0:nvPr/>
        </ns0:nvSpPr>
        <ns0:spPr>
          <ns1:xfrm>
            <ns1:off x="5112000" y="13212000"/>
            <ns1:ext cx="1368000" cy="360000"/>
          </ns1:xfrm>
          <ns1:custGeom>
            <ns1:pathLst>
              <ns1:path w="1368000" h="360000">
                <ns1:moveTo>
                  <ns1:pt x="1368000" y="360000"/>
                </ns1:moveTo>
                <ns1:lnTo>
                  <ns1:pt x="0" y="0"/>
                </ns1:lnTo>
              </ns1:path>
            </ns1:pathLst>
          </ns1:custGeom>
          <ns1:noFill/>
          <ns1:ln w="21600">
            <ns1:solidFill>
              <ns1:srgbClr val="188D78"/>
            </ns1:solidFill>
            <ns1:prstDash val="solid"/>
          </ns1:ln>
        </ns0:spPr>
      </ns0:sp>
      <ns0:sp>
        <ns0:nvSpPr>
          <ns0:cNvPr id="137" name="03_136">
            <ns1:extLst>
              <ns1:ext uri="{FF2B5EF4-FFF2-40B4-BE49-F238E27FC236}">
                <ns2:creationId id="{6E9C542C-0700-43E0-8012-A85EE69972CA}"/>
              </ns1:ext>
            </ns1:extLst>
          </ns0:cNvPr>
          <ns0:cNvSpPr>
            <ns1:spLocks noGrp="1"/>
          </ns0:cNvSpPr>
          <ns0:nvPr/>
        </ns0:nvSpPr>
        <ns0:spPr>
          <ns1:xfrm>
            <ns1:off x="5112000" y="13212000"/>
            <ns1:ext cx="36" cy="792000"/>
          </ns1:xfrm>
          <ns1:custGeom>
            <ns1:pathLst>
              <ns1:path w="36" h="792000">
                <ns1:moveTo>
                  <ns1:pt x="0" y="792000"/>
                </ns1:moveTo>
                <ns1:lnTo>
                  <ns1:pt x="0" y="0"/>
                </ns1:lnTo>
              </ns1:path>
            </ns1:pathLst>
          </ns1:custGeom>
          <ns1:noFill/>
          <ns1:ln w="21600">
            <ns1:solidFill>
              <ns1:srgbClr val="D27837"/>
            </ns1:solidFill>
            <ns1:prstDash val="solid"/>
          </ns1:ln>
        </ns0:spPr>
      </ns0:sp>
      <ns0:sp>
        <ns0:nvSpPr>
          <ns0:cNvPr id="138" name="03_137">
            <ns1:extLst>
              <ns1:ext uri="{FF2B5EF4-FFF2-40B4-BE49-F238E27FC236}">
                <ns2:creationId id="{8CB2DC51-2080-49DF-8810-FB44CD908B42}"/>
              </ns1:ext>
            </ns1:extLst>
          </ns0:cNvPr>
          <ns0:cNvSpPr>
            <ns1:spLocks noGrp="1"/>
          </ns0:cNvSpPr>
          <ns0:nvPr/>
        </ns0:nvSpPr>
        <ns0:spPr>
          <ns1:xfrm>
            <ns1:off x="3139200" y="14623200"/>
            <ns1:ext cx="57600" cy="57600"/>
          </ns1:xfrm>
          <ns1:prstGeom prst="rect">
            <ns1:avLst/>
          </ns1:prstGeom>
          <ns1:solidFill>
            <ns1:srgbClr val="263445"/>
          </ns1:solidFill>
          <ns1:ln w="0">
            <ns1:noFill/>
          </ns1:ln>
        </ns0:spPr>
      </ns0:sp>
      <ns0:sp>
        <ns0:nvSpPr>
          <ns0:cNvPr id="139" name="03_138">
            <ns1:extLst>
              <ns1:ext uri="{FF2B5EF4-FFF2-40B4-BE49-F238E27FC236}">
                <ns2:creationId id="{720AFCFF-75E0-4D05-85DD-7D0F0647FF82}"/>
              </ns1:ext>
            </ns1:extLst>
          </ns0:cNvPr>
          <ns0:cNvSpPr>
            <ns1:spLocks noGrp="1"/>
          </ns0:cNvSpPr>
          <ns0:nvPr/>
        </ns0:nvSpPr>
        <ns0:spPr>
          <ns1:xfrm>
            <ns1:off x="3258000" y="14424425"/>
            <ns1:ext cx="600307" cy="222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H0C0S0</ns1:t>
            </ns1:r>
          </ns1:p>
        </ns0:txBody>
      </ns0:sp>
      <ns0:sp>
        <ns0:nvSpPr>
          <ns0:cNvPr id="140" name="03_139">
            <ns1:extLst>
              <ns1:ext uri="{FF2B5EF4-FFF2-40B4-BE49-F238E27FC236}">
                <ns2:creationId id="{0BEA983A-FFEF-4EC0-BB67-16EB5C885E74}"/>
              </ns1:ext>
            </ns1:extLst>
          </ns0:cNvPr>
          <ns0:cNvSpPr>
            <ns1:spLocks noGrp="1"/>
          </ns0:cNvSpPr>
          <ns0:nvPr/>
        </ns0:nvSpPr>
        <ns0:spPr>
          <ns1:xfrm>
            <ns1:off x="3139200" y="13831200"/>
            <ns1:ext cx="57600" cy="57600"/>
          </ns1:xfrm>
          <ns1:prstGeom prst="rect">
            <ns1:avLst/>
          </ns1:prstGeom>
          <ns1:solidFill>
            <ns1:srgbClr val="263445"/>
          </ns1:solidFill>
          <ns1:ln w="0">
            <ns1:noFill/>
          </ns1:ln>
        </ns0:spPr>
      </ns0:sp>
      <ns0:sp>
        <ns0:nvSpPr>
          <ns0:cNvPr id="141" name="03_140">
            <ns1:extLst>
              <ns1:ext uri="{FF2B5EF4-FFF2-40B4-BE49-F238E27FC236}">
                <ns2:creationId id="{B507BC02-E690-4292-88A4-395CE894E24C}"/>
              </ns1:ext>
            </ns1:extLst>
          </ns0:cNvPr>
          <ns0:cNvSpPr>
            <ns1:spLocks noGrp="1"/>
          </ns0:cNvSpPr>
          <ns0:nvPr/>
        </ns0:nvSpPr>
        <ns0:spPr>
          <ns1:xfrm>
            <ns1:off x="3258000" y="13632425"/>
            <ns1:ext cx="600307" cy="222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H0C0S1</ns1:t>
            </ns1:r>
          </ns1:p>
        </ns0:txBody>
      </ns0:sp>
      <ns0:sp>
        <ns0:nvSpPr>
          <ns0:cNvPr id="142" name="03_141">
            <ns1:extLst>
              <ns1:ext uri="{FF2B5EF4-FFF2-40B4-BE49-F238E27FC236}">
                <ns2:creationId id="{123E48A0-9D56-45B0-9EBD-04DBCC1668CC}"/>
              </ns1:ext>
            </ns1:extLst>
          </ns0:cNvPr>
          <ns0:cNvSpPr>
            <ns1:spLocks noGrp="1"/>
          </ns0:cNvSpPr>
          <ns0:nvPr/>
        </ns0:nvSpPr>
        <ns0:spPr>
          <ns1:xfrm>
            <ns1:off x="1771200" y="14263200"/>
            <ns1:ext cx="57600" cy="57600"/>
          </ns1:xfrm>
          <ns1:prstGeom prst="rect">
            <ns1:avLst/>
          </ns1:prstGeom>
          <ns1:solidFill>
            <ns1:srgbClr val="263445"/>
          </ns1:solidFill>
          <ns1:ln w="0">
            <ns1:noFill/>
          </ns1:ln>
        </ns0:spPr>
      </ns0:sp>
      <ns0:sp>
        <ns0:nvSpPr>
          <ns0:cNvPr id="143" name="03_142">
            <ns1:extLst>
              <ns1:ext uri="{FF2B5EF4-FFF2-40B4-BE49-F238E27FC236}">
                <ns2:creationId id="{9FFE116E-49F0-47F1-95B1-154B422E4369}"/>
              </ns1:ext>
            </ns1:extLst>
          </ns0:cNvPr>
          <ns0:cNvSpPr>
            <ns1:spLocks noGrp="1"/>
          </ns0:cNvSpPr>
          <ns0:nvPr/>
        </ns0:nvSpPr>
        <ns0:spPr>
          <ns1:xfrm>
            <ns1:off x="1145693" y="14064425"/>
            <ns1:ext cx="600307" cy="222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H0C1S0</ns1:t>
            </ns1:r>
          </ns1:p>
        </ns0:txBody>
      </ns0:sp>
      <ns0:sp>
        <ns0:nvSpPr>
          <ns0:cNvPr id="144" name="03_143">
            <ns1:extLst>
              <ns1:ext uri="{FF2B5EF4-FFF2-40B4-BE49-F238E27FC236}">
                <ns2:creationId id="{32C42224-C85C-4D6F-8695-C9844284BF62}"/>
              </ns1:ext>
            </ns1:extLst>
          </ns0:cNvPr>
          <ns0:cNvSpPr>
            <ns1:spLocks noGrp="1"/>
          </ns0:cNvSpPr>
          <ns0:nvPr/>
        </ns0:nvSpPr>
        <ns0:spPr>
          <ns1:xfrm>
            <ns1:off x="1771200" y="13471200"/>
            <ns1:ext cx="57600" cy="57600"/>
          </ns1:xfrm>
          <ns1:prstGeom prst="rect">
            <ns1:avLst/>
          </ns1:prstGeom>
          <ns1:solidFill>
            <ns1:srgbClr val="263445"/>
          </ns1:solidFill>
          <ns1:ln w="0">
            <ns1:noFill/>
          </ns1:ln>
        </ns0:spPr>
      </ns0:sp>
      <ns0:sp>
        <ns0:nvSpPr>
          <ns0:cNvPr id="145" name="03_144">
            <ns1:extLst>
              <ns1:ext uri="{FF2B5EF4-FFF2-40B4-BE49-F238E27FC236}">
                <ns2:creationId id="{0A6CC01A-5532-42CA-BADA-28A9A3BB4167}"/>
              </ns1:ext>
            </ns1:extLst>
          </ns0:cNvPr>
          <ns0:cNvSpPr>
            <ns1:spLocks noGrp="1"/>
          </ns0:cNvSpPr>
          <ns0:nvPr/>
        </ns0:nvSpPr>
        <ns0:spPr>
          <ns1:xfrm>
            <ns1:off x="1145693" y="13272425"/>
            <ns1:ext cx="600307" cy="222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H0C1S1</ns1:t>
            </ns1:r>
          </ns1:p>
        </ns0:txBody>
      </ns0:sp>
      <ns0:sp>
        <ns0:nvSpPr>
          <ns0:cNvPr id="146" name="03_145">
            <ns1:extLst>
              <ns1:ext uri="{FF2B5EF4-FFF2-40B4-BE49-F238E27FC236}">
                <ns2:creationId id="{8FD57DE3-64DF-45F9-8BA9-87F676B594EF}"/>
              </ns1:ext>
            </ns1:extLst>
          </ns0:cNvPr>
          <ns0:cNvSpPr>
            <ns1:spLocks noGrp="1"/>
          </ns0:cNvSpPr>
          <ns0:nvPr/>
        </ns0:nvSpPr>
        <ns0:spPr>
          <ns1:xfrm>
            <ns1:off x="6451200" y="14335200"/>
            <ns1:ext cx="57600" cy="57600"/>
          </ns1:xfrm>
          <ns1:prstGeom prst="rect">
            <ns1:avLst/>
          </ns1:prstGeom>
          <ns1:solidFill>
            <ns1:srgbClr val="263445"/>
          </ns1:solidFill>
          <ns1:ln w="0">
            <ns1:noFill/>
          </ns1:ln>
        </ns0:spPr>
      </ns0:sp>
      <ns0:sp>
        <ns0:nvSpPr>
          <ns0:cNvPr id="147" name="03_146">
            <ns1:extLst>
              <ns1:ext uri="{FF2B5EF4-FFF2-40B4-BE49-F238E27FC236}">
                <ns2:creationId id="{3D8F74A9-179C-4738-9D76-FCA853E5FEA7}"/>
              </ns1:ext>
            </ns1:extLst>
          </ns0:cNvPr>
          <ns0:cNvSpPr>
            <ns1:spLocks noGrp="1"/>
          </ns0:cNvSpPr>
          <ns0:nvPr/>
        </ns0:nvSpPr>
        <ns0:spPr>
          <ns1:xfrm>
            <ns1:off x="6570000" y="14136425"/>
            <ns1:ext cx="600307" cy="222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H1C0S0</ns1:t>
            </ns1:r>
          </ns1:p>
        </ns0:txBody>
      </ns0:sp>
      <ns0:sp>
        <ns0:nvSpPr>
          <ns0:cNvPr id="148" name="03_147">
            <ns1:extLst>
              <ns1:ext uri="{FF2B5EF4-FFF2-40B4-BE49-F238E27FC236}">
                <ns2:creationId id="{AB7C109E-1F8B-4660-8F24-7886A4A7FCEF}"/>
              </ns1:ext>
            </ns1:extLst>
          </ns0:cNvPr>
          <ns0:cNvSpPr>
            <ns1:spLocks noGrp="1"/>
          </ns0:cNvSpPr>
          <ns0:nvPr/>
        </ns0:nvSpPr>
        <ns0:spPr>
          <ns1:xfrm>
            <ns1:off x="6451200" y="13543200"/>
            <ns1:ext cx="57600" cy="57600"/>
          </ns1:xfrm>
          <ns1:prstGeom prst="rect">
            <ns1:avLst/>
          </ns1:prstGeom>
          <ns1:solidFill>
            <ns1:srgbClr val="263445"/>
          </ns1:solidFill>
          <ns1:ln w="0">
            <ns1:noFill/>
          </ns1:ln>
        </ns0:spPr>
      </ns0:sp>
      <ns0:sp>
        <ns0:nvSpPr>
          <ns0:cNvPr id="149" name="03_148">
            <ns1:extLst>
              <ns1:ext uri="{FF2B5EF4-FFF2-40B4-BE49-F238E27FC236}">
                <ns2:creationId id="{1D474EF3-EBFA-4BDF-BCE9-6C5F26ED866A}"/>
              </ns1:ext>
            </ns1:extLst>
          </ns0:cNvPr>
          <ns0:cNvSpPr>
            <ns1:spLocks noGrp="1"/>
          </ns0:cNvSpPr>
          <ns0:nvPr/>
        </ns0:nvSpPr>
        <ns0:spPr>
          <ns1:xfrm>
            <ns1:off x="6570000" y="13344425"/>
            <ns1:ext cx="600307" cy="222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H1C0S1</ns1:t>
            </ns1:r>
          </ns1:p>
        </ns0:txBody>
      </ns0:sp>
      <ns0:sp>
        <ns0:nvSpPr>
          <ns0:cNvPr id="150" name="03_149">
            <ns1:extLst>
              <ns1:ext uri="{FF2B5EF4-FFF2-40B4-BE49-F238E27FC236}">
                <ns2:creationId id="{0CB88F47-1048-4D23-90EA-97B05A228F02}"/>
              </ns1:ext>
            </ns1:extLst>
          </ns0:cNvPr>
          <ns0:cNvSpPr>
            <ns1:spLocks noGrp="1"/>
          </ns0:cNvSpPr>
          <ns0:nvPr/>
        </ns0:nvSpPr>
        <ns0:spPr>
          <ns1:xfrm>
            <ns1:off x="5083200" y="13975200"/>
            <ns1:ext cx="57600" cy="57600"/>
          </ns1:xfrm>
          <ns1:prstGeom prst="rect">
            <ns1:avLst/>
          </ns1:prstGeom>
          <ns1:solidFill>
            <ns1:srgbClr val="263445"/>
          </ns1:solidFill>
          <ns1:ln w="0">
            <ns1:noFill/>
          </ns1:ln>
        </ns0:spPr>
      </ns0:sp>
      <ns0:sp>
        <ns0:nvSpPr>
          <ns0:cNvPr id="151" name="03_150">
            <ns1:extLst>
              <ns1:ext uri="{FF2B5EF4-FFF2-40B4-BE49-F238E27FC236}">
                <ns2:creationId id="{ECD06F14-62BF-4B9B-8109-9517F8351B76}"/>
              </ns1:ext>
            </ns1:extLst>
          </ns0:cNvPr>
          <ns0:cNvSpPr>
            <ns1:spLocks noGrp="1"/>
          </ns0:cNvSpPr>
          <ns0:nvPr/>
        </ns0:nvSpPr>
        <ns0:spPr>
          <ns1:xfrm>
            <ns1:off x="4457693" y="13776425"/>
            <ns1:ext cx="600307" cy="222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H1C1S0</ns1:t>
            </ns1:r>
          </ns1:p>
        </ns0:txBody>
      </ns0:sp>
      <ns0:sp>
        <ns0:nvSpPr>
          <ns0:cNvPr id="152" name="03_151">
            <ns1:extLst>
              <ns1:ext uri="{FF2B5EF4-FFF2-40B4-BE49-F238E27FC236}">
                <ns2:creationId id="{E5B3CC98-E704-4B54-992D-A5262559D475}"/>
              </ns1:ext>
            </ns1:extLst>
          </ns0:cNvPr>
          <ns0:cNvSpPr>
            <ns1:spLocks noGrp="1"/>
          </ns0:cNvSpPr>
          <ns0:nvPr/>
        </ns0:nvSpPr>
        <ns0:spPr>
          <ns1:xfrm>
            <ns1:off x="5083200" y="13183200"/>
            <ns1:ext cx="57600" cy="57600"/>
          </ns1:xfrm>
          <ns1:prstGeom prst="rect">
            <ns1:avLst/>
          </ns1:prstGeom>
          <ns1:solidFill>
            <ns1:srgbClr val="263445"/>
          </ns1:solidFill>
          <ns1:ln w="0">
            <ns1:noFill/>
          </ns1:ln>
        </ns0:spPr>
      </ns0:sp>
      <ns0:sp>
        <ns0:nvSpPr>
          <ns0:cNvPr id="153" name="03_152">
            <ns1:extLst>
              <ns1:ext uri="{FF2B5EF4-FFF2-40B4-BE49-F238E27FC236}">
                <ns2:creationId id="{CBE8E5C4-3652-4E2C-B361-F8564B5F23A9}"/>
              </ns1:ext>
            </ns1:extLst>
          </ns0:cNvPr>
          <ns0:cNvSpPr>
            <ns1:spLocks noGrp="1"/>
          </ns0:cNvSpPr>
          <ns0:nvPr/>
        </ns0:nvSpPr>
        <ns0:spPr>
          <ns1:xfrm>
            <ns1:off x="4457693" y="12984425"/>
            <ns1:ext cx="600307" cy="222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H1C1S1</ns1:t>
            </ns1:r>
          </ns1:p>
        </ns0:txBody>
      </ns0:sp>
      <ns0:sp>
        <ns0:nvSpPr>
          <ns0:cNvPr id="154" name="03_153">
            <ns1:extLst>
              <ns1:ext uri="{FF2B5EF4-FFF2-40B4-BE49-F238E27FC236}">
                <ns2:creationId id="{919FA01E-342E-4AE8-A4AD-AB24E53D7FAD}"/>
              </ns1:ext>
            </ns1:extLst>
          </ns0:cNvPr>
          <ns0:cNvSpPr>
            <ns1:spLocks noGrp="1"/>
          </ns0:cNvSpPr>
          <ns0:nvPr/>
        </ns0:nvSpPr>
        <ns0:spPr>
          <ns1:xfrm>
            <ns1:off x="864000" y="14886202"/>
            <ns1:ext cx="691805" cy="2311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00" b="1">
                <ns1:solidFill>
                  <ns1:srgbClr val="347DDB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00" b="1">
                <ns1:solidFill>
                  <ns1:srgbClr val="347DDB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00" b="1">
                <ns1:solidFill>
                  <ns1:srgbClr val="347DDB"/>
                </ns1:solidFill>
                <ns1:latin typeface="Malgun Gothic"/>
                <ns1:ea typeface="Malgun Gothic"/>
                <ns1:cs typeface="Malgun Gothic"/>
              </ns1:rPr>
              <ns1:t>H: HyDE</ns1:t>
            </ns1:r>
          </ns1:p>
        </ns0:txBody>
      </ns0:sp>
      <ns0:sp>
        <ns0:nvSpPr>
          <ns0:cNvPr id="155" name="03_154">
            <ns1:extLst>
              <ns1:ext uri="{FF2B5EF4-FFF2-40B4-BE49-F238E27FC236}">
                <ns2:creationId id="{08BB80A0-DEFC-4853-A6A6-C04152DA3A6C}"/>
              </ns1:ext>
            </ns1:extLst>
          </ns0:cNvPr>
          <ns0:cNvSpPr>
            <ns1:spLocks noGrp="1"/>
          </ns0:cNvSpPr>
          <ns0:nvPr/>
        </ns0:nvSpPr>
        <ns0:spPr>
          <ns1:xfrm>
            <ns1:off x="3384000" y="14886202"/>
            <ns1:ext cx="587408" cy="2311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00" b="1">
                <ns1:solidFill>
                  <ns1:srgbClr val="188D78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00" b="1">
                <ns1:solidFill>
                  <ns1:srgbClr val="188D78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00" b="1">
                <ns1:solidFill>
                  <ns1:srgbClr val="188D78"/>
                </ns1:solidFill>
                <ns1:latin typeface="Malgun Gothic"/>
                <ns1:ea typeface="Malgun Gothic"/>
                <ns1:cs typeface="Malgun Gothic"/>
              </ns1:rPr>
              <ns1:t>C: CAD</ns1:t>
            </ns1:r>
          </ns1:p>
        </ns0:txBody>
      </ns0:sp>
      <ns0:sp>
        <ns0:nvSpPr>
          <ns0:cNvPr id="156" name="03_155">
            <ns1:extLst>
              <ns1:ext uri="{FF2B5EF4-FFF2-40B4-BE49-F238E27FC236}">
                <ns2:creationId id="{562FD8A1-1F8E-4A99-9BA1-0B6999F6BC7D}"/>
              </ns1:ext>
            </ns1:extLst>
          </ns0:cNvPr>
          <ns0:cNvSpPr>
            <ns1:spLocks noGrp="1"/>
          </ns0:cNvSpPr>
          <ns0:nvPr/>
        </ns0:nvSpPr>
        <ns0:spPr>
          <ns1:xfrm>
            <ns1:off x="5616000" y="14886202"/>
            <ns1:ext cx="552663" cy="2311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00" b="1">
                <ns1:solidFill>
                  <ns1:srgbClr val="D27837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00" b="1">
                <ns1:solidFill>
                  <ns1:srgbClr val="D27837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00" b="1">
                <ns1:solidFill>
                  <ns1:srgbClr val="D27837"/>
                </ns1:solidFill>
                <ns1:latin typeface="Malgun Gothic"/>
                <ns1:ea typeface="Malgun Gothic"/>
                <ns1:cs typeface="Malgun Gothic"/>
              </ns1:rPr>
              <ns1:t>S: SCD</ns1:t>
            </ns1:r>
          </ns1:p>
        </ns0:txBody>
      </ns0:sp>
      <ns0:sp>
        <ns0:nvSpPr>
          <ns0:cNvPr id="157" name="03_156">
            <ns1:extLst>
              <ns1:ext uri="{FF2B5EF4-FFF2-40B4-BE49-F238E27FC236}">
                <ns2:creationId id="{94D42915-68DD-419F-9816-26F3CA8B1DE4}"/>
              </ns1:ext>
            </ns1:extLst>
          </ns0:cNvPr>
          <ns0:cNvSpPr>
            <ns1:spLocks noGrp="1"/>
          </ns0:cNvSpPr>
          <ns0:nvPr/>
        </ns0:nvSpPr>
        <ns0:spPr>
          <ns1:xfrm>
            <ns1:off x="864000" y="15269756"/>
            <ns1:ext cx="4079127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60질의 × (2×2×2) = 480개 답변, 0=OFF / 1=ON</ns1:t>
            </ns1:r>
          </ns1:p>
        </ns0:txBody>
      </ns0:sp>
      <ns0:graphicFrame>
        <ns0:nvGraphicFramePr>
          <ns0:cNvPr id="158" name="">
            <ns1:extLst>
              <ns1:ext uri="{FF2B5EF4-FFF2-40B4-BE49-F238E27FC236}">
                <ns2:creationId id="{BABC1909-22A9-43EC-9FA4-08980271239E}"/>
              </ns1:ext>
            </ns1:extLst>
          </ns0:cNvPr>
          <ns0:cNvGraphicFramePr/>
          <ns0:nvPr/>
        </ns0:nvGraphicFramePr>
        <ns0:xfrm>
          <ns1:off x="8100000" y="13104000"/>
          <ns1:ext cx="12564000" cy="2124000"/>
        </ns0:xfrm>
        <ns1:graphic>
          <ns1:graphicData uri="http://schemas.openxmlformats.org/drawingml/2006/table">
            <ns1:tbl>
              <ns1:tblPr firstRow="0" bandRow="0"/>
              <ns1:tblGrid>
                <ns1:gridCol w="2124000"/>
                <ns1:gridCol w="10440000"/>
              </ns1:tblGrid>
              <ns1:tr h="324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문서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RAG Survey[19], CAD[3], RAPTOR[14], Mi:dm K 2.5 Pro[22]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</ns1:tr>
              <ns1:tr h="576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질의 구성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연구자가 초기 질문 3개로 표현과 범위 설정 → LLM 문서 요약을 15개 내용 단위로 구분</ns1:t>
                      </ns1:r>
                    </ns1:p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단위별 한국어 질의 1개 작성 → 문서별 15질의의 원문 페이지와 근거 확인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</ns1:tr>
              <ns1:tr h="306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검색/융합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BGE-M3 + BM25 / RRF 가중치 0.6/0.4, k=60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</ns1:tr>
              <ns1:tr h="306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재정렬/생성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cross-encoder/ms-marco-MiniLM-L-6-v2 / K-intelligence/Midm-2.0-Base-Instruct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</ns1:tr>
              <ns1:tr h="306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후보/청크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검색8 → 재정렬8 → 문맥5 / 청크 최대512단어, 중첩64, 최소50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</ns1:tr>
              <ns1:tr h="306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압축/디코딩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문맥 한도3072단어, 초과 시 압축(비율0.5); argmax, 최대512토큰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159" name="03_158">
            <ns1:extLst>
              <ns1:ext uri="{FF2B5EF4-FFF2-40B4-BE49-F238E27FC236}">
                <ns2:creationId id="{B0988EDA-41D4-439C-84E6-6248D8A42B91}"/>
              </ns1:ext>
            </ns1:extLst>
          </ns0:cNvPr>
          <ns0:cNvSpPr>
            <ns1:spLocks noGrp="1"/>
          </ns0:cNvSpPr>
          <ns0:nvPr/>
        </ns0:nvSpPr>
        <ns0:spPr>
          <ns1:xfrm>
            <ns1:off x="8100000" y="15354202"/>
            <ns1:ext cx="4579797" cy="2311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0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0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0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rPr>
              <ns1:t>질문 유형: 사실/정의8, 방법/절차29, 결과/비교20, 목적/기여3</ns1:t>
            </ns1:r>
          </ns1:p>
        </ns0:txBody>
      </ns0:sp>
      <ns0:sp>
        <ns0:nvSpPr>
          <ns0:cNvPr id="160" name="04_159">
            <ns1:extLst>
              <ns1:ext uri="{FF2B5EF4-FFF2-40B4-BE49-F238E27FC236}">
                <ns2:creationId id="{4090EDB4-2938-459F-8B79-754C2A10098B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15984000"/>
            <ns1:ext cx="9684000" cy="396000"/>
          </ns1:xfrm>
          <ns1:prstGeom prst="rect">
            <ns1:avLst/>
          </ns1:prstGeom>
          <ns1:solidFill>
            <ns1:srgbClr val="6B5087"/>
          </ns1:solidFill>
          <ns1:ln w="0">
            <ns1:noFill/>
          </ns1:ln>
        </ns0:spPr>
      </ns0:sp>
      <ns0:sp>
        <ns0:nvSpPr>
          <ns0:cNvPr id="161" name="04_160">
            <ns1:extLst>
              <ns1:ext uri="{FF2B5EF4-FFF2-40B4-BE49-F238E27FC236}">
                <ns2:creationId id="{D6DB5D35-4A73-4AA8-A6FB-E1CF11AD93E8}"/>
              </ns1:ext>
            </ns1:extLst>
          </ns0:cNvPr>
          <ns0:cNvSpPr>
            <ns1:spLocks noGrp="1"/>
          </ns0:cNvSpPr>
          <ns0:nvPr/>
        </ns0:nvSpPr>
        <ns0:spPr>
          <ns1:xfrm>
            <ns1:off x="828000" y="16001480"/>
            <ns1:ext cx="5683283" cy="355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rPr>
              <ns1:t>04 평가 방법: 답변 품질과 출력 언어의 대응 비교</ns1:t>
            </ns1:r>
          </ns1:p>
        </ns0:txBody>
      </ns0:sp>
      <ns0:sp>
        <ns0:nvSpPr>
          <ns0:cNvPr id="162" name="04_161">
            <ns1:extLst>
              <ns1:ext uri="{FF2B5EF4-FFF2-40B4-BE49-F238E27FC236}">
                <ns2:creationId id="{A156A731-27FA-4AEB-8359-3D052537C1D7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16517310"/>
            <ns1:ext cx="6446771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5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5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5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질의, 답변, 문맥과 정답으로 품질 평가; 한국어 문자 비율로 출력 언어 측정</ns1:t>
            </ns1:r>
          </ns1:p>
        </ns0:txBody>
      </ns0:sp>
      <ns0:sp>
        <ns0:nvSpPr>
          <ns0:cNvPr id="163" name="04_162">
            <ns1:extLst>
              <ns1:ext uri="{FF2B5EF4-FFF2-40B4-BE49-F238E27FC236}">
                <ns2:creationId id="{DC623D69-8672-44EB-8CBC-05D06D65B3E3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16805310"/>
            <ns1:ext cx="5219219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5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5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5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RAGAS[10] 0.2.15: 평가 gpt-4o, 답변 관련성 임베딩 BGE-M3</ns1:t>
            </ns1:r>
          </ns1:p>
        </ns0:txBody>
      </ns0:sp>
      <ns0:graphicFrame>
        <ns0:nvGraphicFramePr>
          <ns0:cNvPr id="164" name="">
            <ns1:extLst>
              <ns1:ext uri="{FF2B5EF4-FFF2-40B4-BE49-F238E27FC236}">
                <ns2:creationId id="{D7B1B77F-88D5-42D0-92F3-A9A592591C74}"/>
              </ns1:ext>
            </ns1:extLst>
          </ns0:cNvPr>
          <ns0:cNvGraphicFramePr/>
          <ns0:nvPr/>
        </ns0:nvGraphicFramePr>
        <ns0:xfrm>
          <ns1:off x="720000" y="17208000"/>
          <ns1:ext cx="9684000" cy="1296000"/>
        </ns0:xfrm>
        <ns1:graphic>
          <ns1:graphicData uri="http://schemas.openxmlformats.org/drawingml/2006/table">
            <ns1:tbl>
              <ns1:tblPr firstRow="0" bandRow="0"/>
              <ns1:tblGrid>
                <ns1:gridCol w="2304000"/>
                <ns1:gridCol w="7380000"/>
              </ns1:tblGrid>
              <ns1:tr h="324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근거 충실도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답변의 주장이 검색 문맥으로 지지되는 정도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</ns1:tr>
              <ns1:tr h="324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답변 관련성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생성 답변이 질문의 요구에 대응하는 정도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</ns1:tr>
              <ns1:tr h="324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문맥 정밀도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관련 근거가 검색 결과 상위에 배치된 정도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</ns1:tr>
              <ns1:tr h="324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문맥 재현율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정답에 필요한 근거가 검색 문맥에 포함된 정도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</ns1:tr>
            </ns1:tbl>
          </ns1:graphicData>
        </ns1:graphic>
      </ns0:graphicFrame>
      <ns0:graphicFrame>
        <ns0:nvGraphicFramePr>
          <ns0:cNvPr id="165" name="">
            <ns1:extLst>
              <ns1:ext uri="{FF2B5EF4-FFF2-40B4-BE49-F238E27FC236}">
                <ns2:creationId id="{EDDFB315-2DC5-4345-9B49-F26A00D295EC}"/>
              </ns1:ext>
            </ns1:extLst>
          </ns0:cNvPr>
          <ns0:cNvGraphicFramePr/>
          <ns0:nvPr/>
        </ns0:nvGraphicFramePr>
        <ns0:xfrm>
          <ns1:off x="720000" y="18792000"/>
          <ns1:ext cx="9684000" cy="648000"/>
        </ns0:xfrm>
        <ns1:graphic>
          <ns1:graphicData uri="http://schemas.openxmlformats.org/drawingml/2006/table">
            <ns1:tbl>
              <ns1:tblPr firstRow="0" bandRow="0"/>
              <ns1:tblGrid>
                <ns1:gridCol w="1944000"/>
                <ns1:gridCol w="7740000"/>
              </ns1:tblGrid>
              <ns1:tr h="324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SCD OFF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저장된 영어 검색 문맥으로 RAGAS 평가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</ns1:tr>
              <ns1:tr h="324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SCD ON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50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gpt-4o로 한국어 변환한 문맥으로 RAGAS 평가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166" name="04_165">
            <ns1:extLst>
              <ns1:ext uri="{FF2B5EF4-FFF2-40B4-BE49-F238E27FC236}">
                <ns2:creationId id="{F89AA457-B384-48E1-B39C-A12D8F836B49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19487979"/>
            <ns1:ext cx="5013408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rPr>
              <ns1:t>답변 생성에는 영어 문맥을 사용하며, 저장된 답변은 그대로 평가</ns1:t>
            </ns1:r>
          </ns1:p>
        </ns0:txBody>
      </ns0:sp>
      <ns0:sp>
        <ns0:nvSpPr>
          <ns0:cNvPr id="167" name="04_166">
            <ns1:extLst>
              <ns1:ext uri="{FF2B5EF4-FFF2-40B4-BE49-F238E27FC236}">
                <ns2:creationId id="{B1AF1E61-660F-472E-9DF2-430C77CDAEC0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19667979"/>
            <ns1:ext cx="5139065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rPr>
              <ns1:t>SCD ON/OFF 품질 평균은 서로 다른 평가 문맥의 기술통계로 해석</ns1:t>
            </ns1:r>
          </ns1:p>
        </ns0:txBody>
      </ns0:sp>
      <ns0:graphicFrame>
        <ns0:nvGraphicFramePr>
          <ns0:cNvPr id="168" name="">
            <ns1:extLst>
              <ns1:ext uri="{FF2B5EF4-FFF2-40B4-BE49-F238E27FC236}">
                <ns2:creationId id="{C96D8C2B-14DB-404F-80D4-11155B26FE24}"/>
              </ns1:ext>
            </ns1:extLst>
          </ns0:cNvPr>
          <ns0:cNvGraphicFramePr/>
          <ns0:nvPr/>
        </ns0:nvGraphicFramePr>
        <ns0:xfrm>
          <ns1:off x="720000" y="19944000"/>
          <ns1:ext cx="9684000" cy="1296000"/>
        </ns0:xfrm>
        <ns1:graphic>
          <ns1:graphicData uri="http://schemas.openxmlformats.org/drawingml/2006/table">
            <ns1:tbl>
              <ns1:tblPr firstRow="0" bandRow="0"/>
              <ns1:tblGrid>
                <ns1:gridCol w="1584000"/>
                <ns1:gridCol w="5400000"/>
                <ns1:gridCol w="2700000"/>
              </ns1:tblGrid>
              <ns1:tr h="324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요인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EEE8F3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비교 조건과 목적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EEE8F3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유효 표본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EEE8F3"/>
                    </ns1:solidFill>
                  </ns1:tcPr>
                </ns1:tc>
              </ns1:tr>
              <ns1:tr h="324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HyDE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CAD와 SCD OFF, 검색 경로 변화 포함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60쌍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</ns1:tr>
              <ns1:tr h="324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CAD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검색/재정렬 ID와 최종 문맥이 동일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60 / 충실도58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</ns1:tr>
              <ns1:tr h="324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SCD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HyDE OFF 동일 문맥 / HyDE와 CAD 상태 일치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4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120 / 240쌍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169" name="04_168">
            <ns1:extLst>
              <ns1:ext uri="{FF2B5EF4-FFF2-40B4-BE49-F238E27FC236}">
                <ns2:creationId id="{2E5EA18E-68C8-4522-A6C2-647A34058290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1323979"/>
            <ns1:ext cx="6757208" cy="24003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rPr>
              <ns1:t>HyDE ON은 가상 문서 재생성으로 문맥이 달라질 수 있어, OFF 120쌍을 주 비교로 사용</ns1:t>
            </ns1:r>
          </ns1:p>
        </ns0:txBody>
      </ns0:sp>
      <ns0:sp>
        <ns0:nvSpPr>
          <ns0:cNvPr id="170" name="04_169">
            <ns1:extLst>
              <ns1:ext uri="{FF2B5EF4-FFF2-40B4-BE49-F238E27FC236}">
                <ns2:creationId id="{EC628BC2-04F9-44B1-8C57-D552AEA0938A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1659087"/>
            <ns1:ext cx="4422929" cy="27559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5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5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55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한국어 문자 비율 = 한글 / (한글 + ASCII 영문자)</ns1:t>
            </ns1:r>
          </ns1:p>
        </ns0:txBody>
      </ns0:sp>
      <ns0:sp>
        <ns0:nvSpPr>
          <ns0:cNvPr id="171" name="04_170">
            <ns1:extLst>
              <ns1:ext uri="{FF2B5EF4-FFF2-40B4-BE49-F238E27FC236}">
                <ns2:creationId id="{D91D78F9-61B8-4A74-AEFB-A0F27BAEF059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1965756"/>
            <ns1:ext cx="5197756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숫자와 기호는 제외하며, 논문 제목과 모델명의 혼합 표기는 포함</ns1:t>
            </ns1:r>
          </ns1:p>
        </ns0:txBody>
      </ns0:sp>
      <ns0:sp>
        <ns0:nvSpPr>
          <ns0:cNvPr id="172" name="04_171">
            <ns1:extLst>
              <ns1:ext uri="{FF2B5EF4-FFF2-40B4-BE49-F238E27FC236}">
                <ns2:creationId id="{009F7E9C-19EB-45A6-AE42-BE69C7000F1B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2325756"/>
            <ns1:ext cx="4912304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평가값 1,920개 중 1,915개 유효, 충실도 결측5개는 결측 유지</ns1:t>
            </ns1:r>
          </ns1:p>
        </ns0:txBody>
      </ns0:sp>
      <ns0:sp>
        <ns0:nvSpPr>
          <ns0:cNvPr id="173" name="04_172">
            <ns1:extLst>
              <ns1:ext uri="{FF2B5EF4-FFF2-40B4-BE49-F238E27FC236}">
                <ns2:creationId id="{4501E133-F731-4B86-A06A-CD0F63E7F562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2613756"/>
            <ns1:ext cx="4947812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평균 변화는 ON - OFF, 질의 단위 대응 부트스트랩 200,000회</ns1:t>
            </ns1:r>
          </ns1:p>
        </ns0:txBody>
      </ns0:sp>
      <ns0:sp>
        <ns0:nvSpPr>
          <ns0:cNvPr id="174" name="04_173">
            <ns1:extLst>
              <ns1:ext uri="{FF2B5EF4-FFF2-40B4-BE49-F238E27FC236}">
                <ns2:creationId id="{D64AF92A-B07E-4140-9DED-E7F5EED9A3C9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2901756"/>
            <ns1:ext cx="4702903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문서4종 고정, seed=20260713; 질의 수준의 95% 신뢰구간</ns1:t>
            </ns1:r>
          </ns1:p>
        </ns0:txBody>
      </ns0:sp>
      <ns0:sp>
        <ns0:nvSpPr>
          <ns0:cNvPr id="175" name="05_174">
            <ns1:extLst>
              <ns1:ext uri="{FF2B5EF4-FFF2-40B4-BE49-F238E27FC236}">
                <ns2:creationId id="{CF779FA2-04F8-4DD3-B4B7-34B05B4936EB}"/>
              </ns1:ext>
            </ns1:extLst>
          </ns0:cNvPr>
          <ns0:cNvSpPr>
            <ns1:spLocks noGrp="1"/>
          </ns0:cNvSpPr>
          <ns0:nvPr/>
        </ns0:nvSpPr>
        <ns0:spPr>
          <ns1:xfrm>
            <ns1:off x="10980000" y="15984000"/>
            <ns1:ext cx="9684000" cy="396000"/>
          </ns1:xfrm>
          <ns1:prstGeom prst="rect">
            <ns1:avLst/>
          </ns1:prstGeom>
          <ns1:solidFill>
            <ns1:srgbClr val="6B5087"/>
          </ns1:solidFill>
          <ns1:ln w="0">
            <ns1:noFill/>
          </ns1:ln>
        </ns0:spPr>
      </ns0:sp>
      <ns0:sp>
        <ns0:nvSpPr>
          <ns0:cNvPr id="176" name="05_175">
            <ns1:extLst>
              <ns1:ext uri="{FF2B5EF4-FFF2-40B4-BE49-F238E27FC236}">
                <ns2:creationId id="{468DFF56-C16F-4D92-8F1B-EA957819D699}"/>
              </ns1:ext>
            </ns1:extLst>
          </ns0:cNvPr>
          <ns0:cNvSpPr>
            <ns1:spLocks noGrp="1"/>
          </ns0:cNvSpPr>
          <ns0:nvPr/>
        </ns0:nvSpPr>
        <ns0:spPr>
          <ns1:xfrm>
            <ns1:off x="11088000" y="16001480"/>
            <ns1:ext cx="4577986" cy="355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rPr>
              <ns1:t>05 실험 결과: 세 기법의 적용 전후 변화</ns1:t>
            </ns1:r>
          </ns1:p>
        </ns0:txBody>
      </ns0:sp>
      <ns0:graphicFrame>
        <ns0:nvGraphicFramePr>
          <ns0:cNvPr id="177" name="">
            <ns1:extLst>
              <ns1:ext uri="{FF2B5EF4-FFF2-40B4-BE49-F238E27FC236}">
                <ns2:creationId id="{3B599861-95CB-44E1-BBA5-2B75C850B925}"/>
              </ns1:ext>
            </ns1:extLst>
          </ns0:cNvPr>
          <ns0:cNvGraphicFramePr/>
          <ns0:nvPr/>
        </ns0:nvGraphicFramePr>
        <ns0:xfrm>
          <ns1:off x="10980000" y="16560000"/>
          <ns1:ext cx="9684000" cy="1440000"/>
        </ns0:xfrm>
        <ns1:graphic>
          <ns1:graphicData uri="http://schemas.openxmlformats.org/drawingml/2006/table">
            <ns1:tbl>
              <ns1:tblPr firstRow="0" bandRow="0"/>
              <ns1:tblGrid>
                <ns1:gridCol w="2340000"/>
                <ns1:gridCol w="3168000"/>
                <ns1:gridCol w="1224000"/>
                <ns1:gridCol w="2952000"/>
              </ns1:tblGrid>
              <ns1:tr h="288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기법과 지표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EEE8F3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비교 조건(쌍수)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EEE8F3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평균 변화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EEE8F3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95% 신뢰구간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EEE8F3"/>
                    </ns1:solidFill>
                  </ns1:tcPr>
                </ns1:tc>
              </ns1:tr>
              <ns1:tr h="288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HyDE 답변 관련성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CAD와 SCD OFF, 60쌍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+0.0805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[+0.0110, +0.1514]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</ns1:tr>
              <ns1:tr h="288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CAD 근거 충실도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HyDE와 SCD OFF, 58쌍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+0.0288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[-0.0367, +0.0934]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</ns1:tr>
              <ns1:tr h="288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SCD 한국어 비율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HyDE OFF 동일 문맥, 120쌍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+0.2182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[+0.1880, +0.2487]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AF8FC"/>
                    </ns1:solidFill>
                  </ns1:tcPr>
                </ns1:tc>
              </ns1:tr>
              <ns1:tr h="288000"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1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SCD 한국어 비율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HyDE와 CAD 상태 일치, 240쌍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+0.2289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  <ns1:tc>
                  <ns1:txBody>
                    <ns1:bodyPr wrap="none" lIns="0" tIns="0" rIns="0" bIns="0"/>
                    <ns1:lstStyle/>
                    <ns1:p>
                      <ns1:pPr algn="l">
                        <ns1:lnSpc>
                          <ns1:spcPct val="100000"/>
                        </ns1:lnSpc>
                        <ns1:buNone/>
                      </ns1:pPr>
                      <ns1:r>
                        <ns1:rPr sz="1350" b="0">
                          <ns1:solidFill>
                            <ns1:srgbClr val="263445"/>
                          </ns1:solidFill>
                          <ns1:latin typeface="Malgun Gothic"/>
                          <ns1:ea typeface="Malgun Gothic"/>
                          <ns1:cs typeface="Malgun Gothic"/>
                        </ns1:rPr>
                        <ns1:t>[+0.2051, +0.2532]</ns1:t>
                      </ns1:r>
                    </ns1:p>
                  </ns1:txBody>
                  <ns1:tcPr marL="108000" marR="108000" marT="0" marB="0" anchor="ctr">
                    <ns1:lnB w="9000">
                      <ns1:solidFill>
                        <ns1:srgbClr val="D8D0E0"/>
                      </ns1:solidFill>
                      <ns1:prstDash val="solid"/>
                    </ns1:lnB>
                    <ns1:lnT w="0">
                      <ns1:noFill/>
                    </ns1:lnT>
                    <ns1:lnR w="0">
                      <ns1:noFill/>
                    </ns1:lnR>
                    <ns1:lnL w="0">
                      <ns1:noFill/>
                    </ns1:lnL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graphicFrame>
        <ns0:nvGraphicFramePr>
          <ns0:cNvPr id="178" name="Chart">
            <ns1:extLst>
              <ns1:ext uri="{FF2B5EF4-FFF2-40B4-BE49-F238E27FC236}">
                <ns2:creationId id="{B18E6802-89A9-42A8-A22E-F10E005C992C}"/>
              </ns1:ext>
            </ns1:extLst>
          </ns0:cNvPr>
          <ns0:cNvGraphicFramePr/>
          <ns0:nvPr/>
        </ns0:nvGraphicFramePr>
        <ns0:xfrm>
          <ns1:off x="10980000" y="18180000"/>
          <ns1:ext cx="9684000" cy="1296000"/>
        </ns0:xfrm>
        <ns1:graphic>
          <ns1:graphicData uri="http://schemas.openxmlformats.org/drawingml/2006/chart">
            <ns3:chart ns4:id="Rd5277c59aefd41b5"/>
          </ns1:graphicData>
        </ns1:graphic>
      </ns0:graphicFrame>
      <ns0:graphicFrame>
        <ns0:nvGraphicFramePr>
          <ns0:cNvPr id="179" name="Chart">
            <ns1:extLst>
              <ns1:ext uri="{FF2B5EF4-FFF2-40B4-BE49-F238E27FC236}">
                <ns2:creationId id="{6A24E3DF-265B-47D3-AAA2-E44AB0EBEF86}"/>
              </ns1:ext>
            </ns1:extLst>
          </ns0:cNvPr>
          <ns0:cNvGraphicFramePr/>
          <ns0:nvPr/>
        </ns0:nvGraphicFramePr>
        <ns0:xfrm>
          <ns1:off x="10980000" y="19620000"/>
          <ns1:ext cx="9684000" cy="1296000"/>
        </ns0:xfrm>
        <ns1:graphic>
          <ns1:graphicData uri="http://schemas.openxmlformats.org/drawingml/2006/chart">
            <ns3:chart ns4:id="R0e3cef9460e74a4a"/>
          </ns1:graphicData>
        </ns1:graphic>
      </ns0:graphicFrame>
      <ns0:sp>
        <ns0:nvSpPr>
          <ns0:cNvPr id="180" name="05_179">
            <ns1:extLst>
              <ns1:ext uri="{FF2B5EF4-FFF2-40B4-BE49-F238E27FC236}">
                <ns2:creationId id="{486ECE70-F8A7-45F3-A1AC-63A42ABCF366}"/>
              </ns1:ext>
            </ns1:extLst>
          </ns0:cNvPr>
          <ns0:cNvSpPr>
            <ns1:spLocks noGrp="1"/>
          </ns0:cNvSpPr>
          <ns0:nvPr/>
        </ns0:nvSpPr>
        <ns0:spPr>
          <ns1:xfrm>
            <ns1:off x="10980000" y="21012425"/>
            <ns1:ext cx="4405966" cy="222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HyDE의 다른 지표: 충실도 +0.0436, 정밀도 -0.0343, 재현율 0</ns1:t>
            </ns1:r>
          </ns1:p>
        </ns0:txBody>
      </ns0:sp>
      <ns0:sp>
        <ns0:nvSpPr>
          <ns0:cNvPr id="181" name="05_180">
            <ns1:extLst>
              <ns1:ext uri="{FF2B5EF4-FFF2-40B4-BE49-F238E27FC236}">
                <ns2:creationId id="{7895D149-A0A5-4654-AE09-AE1B77F248D0}"/>
              </ns1:ext>
            </ns1:extLst>
          </ns0:cNvPr>
          <ns0:cNvSpPr>
            <ns1:spLocks noGrp="1"/>
          </ns0:cNvSpPr>
          <ns0:nvPr/>
        </ns0:nvSpPr>
        <ns0:spPr>
          <ns1:xfrm>
            <ns1:off x="10980000" y="21264425"/>
            <ns1:ext cx="5149486" cy="222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2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CAD 충실도와 관련성 구간은 0 포함; 관련성 -0.0073 [-0.0855, +0.0719]</ns1:t>
            </ns1:r>
          </ns1:p>
        </ns0:txBody>
      </ns0:sp>
      <ns0:sp>
        <ns0:nvSpPr>
          <ns0:cNvPr id="182" name="06_181">
            <ns1:extLst>
              <ns1:ext uri="{FF2B5EF4-FFF2-40B4-BE49-F238E27FC236}">
                <ns2:creationId id="{4FA80C04-5CE0-416D-9506-CB676DE667E6}"/>
              </ns1:ext>
            </ns1:extLst>
          </ns0:cNvPr>
          <ns0:cNvSpPr>
            <ns1:spLocks noGrp="1"/>
          </ns0:cNvSpPr>
          <ns0:nvPr/>
        </ns0:nvSpPr>
        <ns0:spPr>
          <ns1:xfrm>
            <ns1:off x="10980000" y="21960000"/>
            <ns1:ext cx="9684000" cy="396000"/>
          </ns1:xfrm>
          <ns1:prstGeom prst="rect">
            <ns1:avLst/>
          </ns1:prstGeom>
          <ns1:solidFill>
            <ns1:srgbClr val="6B5087"/>
          </ns1:solidFill>
          <ns1:ln w="0">
            <ns1:noFill/>
          </ns1:ln>
        </ns0:spPr>
      </ns0:sp>
      <ns0:sp>
        <ns0:nvSpPr>
          <ns0:cNvPr id="183" name="06_182">
            <ns1:extLst>
              <ns1:ext uri="{FF2B5EF4-FFF2-40B4-BE49-F238E27FC236}">
                <ns2:creationId id="{5831F3CB-5EDB-443C-A7F9-DE2014CB3173}"/>
              </ns1:ext>
            </ns1:extLst>
          </ns0:cNvPr>
          <ns0:cNvSpPr>
            <ns1:spLocks noGrp="1"/>
          </ns0:cNvSpPr>
          <ns0:nvPr/>
        </ns0:nvSpPr>
        <ns0:spPr>
          <ns1:xfrm>
            <ns1:off x="11088000" y="21977480"/>
            <ns1:ext cx="4234689" cy="355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rPr>
              <ns1:t>06 실제 출력: 질의별 적용 전후 비교</ns1:t>
            </ns1:r>
          </ns1:p>
        </ns0:txBody>
      </ns0:sp>
      <ns0:sp>
        <ns0:nvSpPr>
          <ns0:cNvPr id="184" name="06_183">
            <ns1:extLst>
              <ns1:ext uri="{FF2B5EF4-FFF2-40B4-BE49-F238E27FC236}">
                <ns2:creationId id="{80A8AAC3-4A84-43D4-A457-5689BA1CAC1A}"/>
              </ns1:ext>
            </ns1:extLst>
          </ns0:cNvPr>
          <ns0:cNvSpPr>
            <ns1:spLocks noGrp="1"/>
          </ns0:cNvSpPr>
          <ns0:nvPr/>
        </ns0:nvSpPr>
        <ns0:spPr>
          <ns1:xfrm>
            <ns1:off x="10980000" y="23310000"/>
            <ns1:ext cx="9684000" cy="36"/>
          </ns1:xfrm>
          <ns1:custGeom>
            <ns1:pathLst>
              <ns1:path w="9684000" h="36">
                <ns1:moveTo>
                  <ns1:pt x="0" y="0"/>
                </ns1:moveTo>
                <ns1:lnTo>
                  <ns1:pt x="9684000" y="0"/>
                </ns1:lnTo>
              </ns1:path>
            </ns1:pathLst>
          </ns1:custGeom>
          <ns1:noFill/>
          <ns1:ln w="9000">
            <ns1:solidFill>
              <ns1:srgbClr val="D8D0E0"/>
            </ns1:solidFill>
            <ns1:prstDash val="solid"/>
          </ns1:ln>
        </ns0:spPr>
      </ns0:sp>
      <ns0:sp>
        <ns0:nvSpPr>
          <ns0:cNvPr id="185" name="06_184">
            <ns1:extLst>
              <ns1:ext uri="{FF2B5EF4-FFF2-40B4-BE49-F238E27FC236}">
                <ns2:creationId id="{85440600-D1C7-4B62-9CDE-0CDBF8D16DD3}"/>
              </ns1:ext>
            </ns1:extLst>
          </ns0:cNvPr>
          <ns0:cNvSpPr>
            <ns1:spLocks noGrp="1"/>
          </ns0:cNvSpPr>
          <ns0:nvPr/>
        </ns0:nvSpPr>
        <ns0:spPr>
          <ns1:xfrm>
            <ns1:off x="11088000" y="22541756"/>
            <ns1:ext cx="2733212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HyDE ext_midm_004 (문맥 변경)</ns1:t>
            </ns1:r>
          </ns1:p>
        </ns0:txBody>
      </ns0:sp>
      <ns0:sp>
        <ns0:nvSpPr>
          <ns0:cNvPr id="186" name="06_185">
            <ns1:extLst>
              <ns1:ext uri="{FF2B5EF4-FFF2-40B4-BE49-F238E27FC236}">
                <ns2:creationId id="{39F7F21A-AF65-44AC-B1DF-49FDFDA1B83E}"/>
              </ns1:ext>
            </ns1:extLst>
          </ns0:cNvPr>
          <ns0:cNvSpPr>
            <ns1:spLocks noGrp="1"/>
          </ns0:cNvSpPr>
          <ns0:nvPr/>
        </ns0:nvSpPr>
        <ns0:spPr>
          <ns1:xfrm>
            <ns1:off x="11088000" y="22757756"/>
            <ns1:ext cx="3113468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한국어 멀티턴 대화의 설계 기준 3가지</ns1:t>
            </ns1:r>
          </ns1:p>
        </ns0:txBody>
      </ns0:sp>
      <ns0:sp>
        <ns0:nvSpPr>
          <ns0:cNvPr id="187" name="06_186">
            <ns1:extLst>
              <ns1:ext uri="{FF2B5EF4-FFF2-40B4-BE49-F238E27FC236}">
                <ns2:creationId id="{8DDC8F3A-4750-42B2-8D2D-BBE911C5FE02}"/>
              </ns1:ext>
            </ns1:extLst>
          </ns0:cNvPr>
          <ns0:cNvSpPr>
            <ns1:spLocks noGrp="1"/>
          </ns0:cNvSpPr>
          <ns0:nvPr/>
        </ns0:nvSpPr>
        <ns0:spPr>
          <ns1:xfrm>
            <ns1:off x="11088000" y="22973756"/>
            <ns1:ext cx="1594007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H0C0S0 → H1C0S0</ns1:t>
            </ns1:r>
          </ns1:p>
        </ns0:txBody>
      </ns0:sp>
      <ns0:sp>
        <ns0:nvSpPr>
          <ns0:cNvPr id="188" name="06_187">
            <ns1:extLst>
              <ns1:ext uri="{FF2B5EF4-FFF2-40B4-BE49-F238E27FC236}">
                <ns2:creationId id="{D33A80ED-4210-47AE-B037-6AE4068E3443}"/>
              </ns1:ext>
            </ns1:extLst>
          </ns0:cNvPr>
          <ns0:cNvSpPr>
            <ns1:spLocks noGrp="1"/>
          </ns0:cNvSpPr>
          <ns0:nvPr/>
        </ns0:nvSpPr>
        <ns0:spPr>
          <ns1:xfrm>
            <ns1:off x="15120000" y="22541756"/>
            <ns1:ext cx="2563399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관련성 0→0.8531, 재현율 0→1</ns1:t>
            </ns1:r>
          </ns1:p>
        </ns0:txBody>
      </ns0:sp>
      <ns0:sp>
        <ns0:nvSpPr>
          <ns0:cNvPr id="189" name="06_188">
            <ns1:extLst>
              <ns1:ext uri="{FF2B5EF4-FFF2-40B4-BE49-F238E27FC236}">
                <ns2:creationId id="{C790EBD7-21C3-4F4A-8705-CDE511AD57C6}"/>
              </ns1:ext>
            </ns1:extLst>
          </ns0:cNvPr>
          <ns0:cNvSpPr>
            <ns1:spLocks noGrp="1"/>
          </ns0:cNvSpPr>
          <ns0:nvPr/>
        </ns0:nvSpPr>
        <ns0:spPr>
          <ns1:xfrm>
            <ns1:off x="15120000" y="22757756"/>
            <ns1:ext cx="3465074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OFF “구체적인 정보를 확인할 수 없습니다”</ns1:t>
            </ns1:r>
          </ns1:p>
        </ns0:txBody>
      </ns0:sp>
      <ns0:sp>
        <ns0:nvSpPr>
          <ns0:cNvPr id="190" name="06_189">
            <ns1:extLst>
              <ns1:ext uri="{FF2B5EF4-FFF2-40B4-BE49-F238E27FC236}">
                <ns2:creationId id="{97948B4D-89CA-49AF-ADEB-7F3795844850}"/>
              </ns1:ext>
            </ns1:extLst>
          </ns0:cNvPr>
          <ns0:cNvSpPr>
            <ns1:spLocks noGrp="1"/>
          </ns0:cNvSpPr>
          <ns0:nvPr/>
        </ns0:nvSpPr>
        <ns0:spPr>
          <ns1:xfrm>
            <ns1:off x="15120000" y="22973756"/>
            <ns1:ext cx="2952944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ON “상호작용 구조” 등 세 기준 제시</ns1:t>
            </ns1:r>
          </ns1:p>
        </ns0:txBody>
      </ns0:sp>
      <ns0:sp>
        <ns0:nvSpPr>
          <ns0:cNvPr id="191" name="06_190">
            <ns1:extLst>
              <ns1:ext uri="{FF2B5EF4-FFF2-40B4-BE49-F238E27FC236}">
                <ns2:creationId id="{CEA03AA0-883B-4A72-B7E4-95F16DC9318D}"/>
              </ns1:ext>
            </ns1:extLst>
          </ns0:cNvPr>
          <ns0:cNvSpPr>
            <ns1:spLocks noGrp="1"/>
          </ns0:cNvSpPr>
          <ns0:nvPr/>
        </ns0:nvSpPr>
        <ns0:spPr>
          <ns1:xfrm>
            <ns1:off x="10980000" y="24084000"/>
            <ns1:ext cx="9684000" cy="36"/>
          </ns1:xfrm>
          <ns1:custGeom>
            <ns1:pathLst>
              <ns1:path w="9684000" h="36">
                <ns1:moveTo>
                  <ns1:pt x="0" y="0"/>
                </ns1:moveTo>
                <ns1:lnTo>
                  <ns1:pt x="9684000" y="0"/>
                </ns1:lnTo>
              </ns1:path>
            </ns1:pathLst>
          </ns1:custGeom>
          <ns1:noFill/>
          <ns1:ln w="9000">
            <ns1:solidFill>
              <ns1:srgbClr val="D8D0E0"/>
            </ns1:solidFill>
            <ns1:prstDash val="solid"/>
          </ns1:ln>
        </ns0:spPr>
      </ns0:sp>
      <ns0:sp>
        <ns0:nvSpPr>
          <ns0:cNvPr id="192" name="06_191">
            <ns1:extLst>
              <ns1:ext uri="{FF2B5EF4-FFF2-40B4-BE49-F238E27FC236}">
                <ns2:creationId id="{E7C01E5F-D760-4F9A-BC61-348CA883EA4B}"/>
              </ns1:ext>
            </ns1:extLst>
          </ns0:cNvPr>
          <ns0:cNvSpPr>
            <ns1:spLocks noGrp="1"/>
          </ns0:cNvSpPr>
          <ns0:nvPr/>
        </ns0:nvSpPr>
        <ns0:spPr>
          <ns1:xfrm>
            <ns1:off x="11088000" y="23315756"/>
            <ns1:ext cx="2644052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CAD ext_midm_001 (동일 문맥)</ns1:t>
            </ns1:r>
          </ns1:p>
        </ns0:txBody>
      </ns0:sp>
      <ns0:sp>
        <ns0:nvSpPr>
          <ns0:cNvPr id="193" name="06_192">
            <ns1:extLst>
              <ns1:ext uri="{FF2B5EF4-FFF2-40B4-BE49-F238E27FC236}">
                <ns2:creationId id="{4E7D9EC7-B1A7-4DB0-96A7-7537C7A01C04}"/>
              </ns1:ext>
            </ns1:extLst>
          </ns0:cNvPr>
          <ns0:cNvSpPr>
            <ns1:spLocks noGrp="1"/>
          </ns0:cNvSpPr>
          <ns0:nvPr/>
        </ns0:nvSpPr>
        <ns0:spPr>
          <ns1:xfrm>
            <ns1:off x="11088000" y="23531756"/>
            <ns1:ext cx="2775405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Mi:dm K 2.5 Pro 데이터 확보 경로</ns1:t>
            </ns1:r>
          </ns1:p>
        </ns0:txBody>
      </ns0:sp>
      <ns0:sp>
        <ns0:nvSpPr>
          <ns0:cNvPr id="194" name="06_193">
            <ns1:extLst>
              <ns1:ext uri="{FF2B5EF4-FFF2-40B4-BE49-F238E27FC236}">
                <ns2:creationId id="{ABEE8EE4-3BD0-4EC5-8362-F22728AFD190}"/>
              </ns1:ext>
            </ns1:extLst>
          </ns0:cNvPr>
          <ns0:cNvSpPr>
            <ns1:spLocks noGrp="1"/>
          </ns0:cNvSpPr>
          <ns0:nvPr/>
        </ns0:nvSpPr>
        <ns0:spPr>
          <ns1:xfrm>
            <ns1:off x="11088000" y="23747756"/>
            <ns1:ext cx="1594007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H0C0S0 → H0C1S0</ns1:t>
            </ns1:r>
          </ns1:p>
        </ns0:txBody>
      </ns0:sp>
      <ns0:sp>
        <ns0:nvSpPr>
          <ns0:cNvPr id="195" name="06_194">
            <ns1:extLst>
              <ns1:ext uri="{FF2B5EF4-FFF2-40B4-BE49-F238E27FC236}">
                <ns2:creationId id="{2D0D4676-1191-4309-A49E-DACE9DE0D2A4}"/>
              </ns1:ext>
            </ns1:extLst>
          </ns0:cNvPr>
          <ns0:cNvSpPr>
            <ns1:spLocks noGrp="1"/>
          </ns0:cNvSpPr>
          <ns0:nvPr/>
        </ns0:nvSpPr>
        <ns0:spPr>
          <ns1:xfrm>
            <ns1:off x="15120000" y="23315756"/>
            <ns1:ext cx="3480875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충실도 0.8333→1, 관련성 0.8261→0.8124</ns1:t>
            </ns1:r>
          </ns1:p>
        </ns0:txBody>
      </ns0:sp>
      <ns0:sp>
        <ns0:nvSpPr>
          <ns0:cNvPr id="196" name="06_195">
            <ns1:extLst>
              <ns1:ext uri="{FF2B5EF4-FFF2-40B4-BE49-F238E27FC236}">
                <ns2:creationId id="{E03387A3-D5F0-4DEA-9C94-0D60A24ABB2C}"/>
              </ns1:ext>
            </ns1:extLst>
          </ns0:cNvPr>
          <ns0:cNvSpPr>
            <ns1:spLocks noGrp="1"/>
          </ns0:cNvSpPr>
          <ns0:nvPr/>
        </ns0:nvSpPr>
        <ns0:spPr>
          <ns1:xfrm>
            <ns1:off x="15120000" y="23531756"/>
            <ns1:ext cx="3116941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독점, 공개와 자체 합성의 세 경로 제시</ns1:t>
            </ns1:r>
          </ns1:p>
        </ns0:txBody>
      </ns0:sp>
      <ns0:sp>
        <ns0:nvSpPr>
          <ns0:cNvPr id="197" name="06_196">
            <ns1:extLst>
              <ns1:ext uri="{FF2B5EF4-FFF2-40B4-BE49-F238E27FC236}">
                <ns2:creationId id="{9EB50ABC-60CD-41B5-83A8-ACF3B3550476}"/>
              </ns1:ext>
            </ns1:extLst>
          </ns0:cNvPr>
          <ns0:cNvSpPr>
            <ns1:spLocks noGrp="1"/>
          </ns0:cNvSpPr>
          <ns0:nvPr/>
        </ns0:nvSpPr>
        <ns0:spPr>
          <ns1:xfrm>
            <ns1:off x="15120000" y="23747756"/>
            <ns1:ext cx="2827929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ON “라이선스 취득 전용 데이터셋”</ns1:t>
            </ns1:r>
          </ns1:p>
        </ns0:txBody>
      </ns0:sp>
      <ns0:sp>
        <ns0:nvSpPr>
          <ns0:cNvPr id="198" name="06_197">
            <ns1:extLst>
              <ns1:ext uri="{FF2B5EF4-FFF2-40B4-BE49-F238E27FC236}">
                <ns2:creationId id="{CBDB0DC3-3A3A-4474-B174-F23BB946D9C4}"/>
              </ns1:ext>
            </ns1:extLst>
          </ns0:cNvPr>
          <ns0:cNvSpPr>
            <ns1:spLocks noGrp="1"/>
          </ns0:cNvSpPr>
          <ns0:nvPr/>
        </ns0:nvSpPr>
        <ns0:spPr>
          <ns1:xfrm>
            <ns1:off x="10980000" y="24858000"/>
            <ns1:ext cx="9684000" cy="36"/>
          </ns1:xfrm>
          <ns1:custGeom>
            <ns1:pathLst>
              <ns1:path w="9684000" h="36">
                <ns1:moveTo>
                  <ns1:pt x="0" y="0"/>
                </ns1:moveTo>
                <ns1:lnTo>
                  <ns1:pt x="9684000" y="0"/>
                </ns1:lnTo>
              </ns1:path>
            </ns1:pathLst>
          </ns1:custGeom>
          <ns1:noFill/>
          <ns1:ln w="9000">
            <ns1:solidFill>
              <ns1:srgbClr val="D8D0E0"/>
            </ns1:solidFill>
            <ns1:prstDash val="solid"/>
          </ns1:ln>
        </ns0:spPr>
      </ns0:sp>
      <ns0:sp>
        <ns0:nvSpPr>
          <ns0:cNvPr id="199" name="06_198">
            <ns1:extLst>
              <ns1:ext uri="{FF2B5EF4-FFF2-40B4-BE49-F238E27FC236}">
                <ns2:creationId id="{62C58018-133D-4BAA-8127-F34A2DE846A3}"/>
              </ns1:ext>
            </ns1:extLst>
          </ns0:cNvPr>
          <ns0:cNvSpPr>
            <ns1:spLocks noGrp="1"/>
          </ns0:cNvSpPr>
          <ns0:nvPr/>
        </ns0:nvSpPr>
        <ns0:spPr>
          <ns1:xfrm>
            <ns1:off x="11088000" y="24089756"/>
            <ns1:ext cx="2444374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CAD track1_0012 (동일 문맥)</ns1:t>
            </ns1:r>
          </ns1:p>
        </ns0:txBody>
      </ns0:sp>
      <ns0:sp>
        <ns0:nvSpPr>
          <ns0:cNvPr id="200" name="06_199">
            <ns1:extLst>
              <ns1:ext uri="{FF2B5EF4-FFF2-40B4-BE49-F238E27FC236}">
                <ns2:creationId id="{D5C4F380-E5F9-45DF-AE9E-5EE1D07056A2}"/>
              </ns1:ext>
            </ns1:extLst>
          </ns0:cNvPr>
          <ns0:cNvSpPr>
            <ns1:spLocks noGrp="1"/>
          </ns0:cNvSpPr>
          <ns0:nvPr/>
        </ns0:nvSpPr>
        <ns0:spPr>
          <ns1:xfrm>
            <ns1:off x="11088000" y="24305756"/>
            <ns1:ext cx="2832356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RAG의 지식 집약적 작업 관련 장점</ns1:t>
            </ns1:r>
          </ns1:p>
        </ns0:txBody>
      </ns0:sp>
      <ns0:sp>
        <ns0:nvSpPr>
          <ns0:cNvPr id="201" name="06_200">
            <ns1:extLst>
              <ns1:ext uri="{FF2B5EF4-FFF2-40B4-BE49-F238E27FC236}">
                <ns2:creationId id="{1C6A412A-697C-42BA-AF92-FED0EAFC31EE}"/>
              </ns1:ext>
            </ns1:extLst>
          </ns0:cNvPr>
          <ns0:cNvSpPr>
            <ns1:spLocks noGrp="1"/>
          </ns0:cNvSpPr>
          <ns0:nvPr/>
        </ns0:nvSpPr>
        <ns0:spPr>
          <ns1:xfrm>
            <ns1:off x="11088000" y="24521756"/>
            <ns1:ext cx="1594007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H0C0S0 → H0C1S0</ns1:t>
            </ns1:r>
          </ns1:p>
        </ns0:txBody>
      </ns0:sp>
      <ns0:sp>
        <ns0:nvSpPr>
          <ns0:cNvPr id="202" name="06_201">
            <ns1:extLst>
              <ns1:ext uri="{FF2B5EF4-FFF2-40B4-BE49-F238E27FC236}">
                <ns2:creationId id="{15F95156-98C3-44D2-8966-0A16A1BB9ECB}"/>
              </ns1:ext>
            </ns1:extLst>
          </ns0:cNvPr>
          <ns0:cNvSpPr>
            <ns1:spLocks noGrp="1"/>
          </ns0:cNvSpPr>
          <ns0:nvPr/>
        </ns0:nvSpPr>
        <ns0:spPr>
          <ns1:xfrm>
            <ns1:off x="15120000" y="24089756"/>
            <ns1:ext cx="3171722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충실도 0.9375→0.5, 관련성 0.9001→0</ns1:t>
            </ns1:r>
          </ns1:p>
        </ns0:txBody>
      </ns0:sp>
      <ns0:sp>
        <ns0:nvSpPr>
          <ns0:cNvPr id="203" name="06_202">
            <ns1:extLst>
              <ns1:ext uri="{FF2B5EF4-FFF2-40B4-BE49-F238E27FC236}">
                <ns2:creationId id="{79FE63E2-0754-43A7-B607-ECA67703D273}"/>
              </ns1:ext>
            </ns1:extLst>
          </ns0:cNvPr>
          <ns0:cNvSpPr>
            <ns1:spLocks noGrp="1"/>
          </ns0:cNvSpPr>
          <ns0:nvPr/>
        </ns0:nvSpPr>
        <ns0:spPr>
          <ns1:xfrm>
            <ns1:off x="15120000" y="24305756"/>
            <ns1:ext cx="2513567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OFF “외부 지식 활용의 우수성”</ns1:t>
            </ns1:r>
          </ns1:p>
        </ns0:txBody>
      </ns0:sp>
      <ns0:sp>
        <ns0:nvSpPr>
          <ns0:cNvPr id="204" name="06_203">
            <ns1:extLst>
              <ns1:ext uri="{FF2B5EF4-FFF2-40B4-BE49-F238E27FC236}">
                <ns2:creationId id="{32354C7E-83DA-4BCA-90FE-16F447101F8D}"/>
              </ns1:ext>
            </ns1:extLst>
          </ns0:cNvPr>
          <ns0:cNvSpPr>
            <ns1:spLocks noGrp="1"/>
          </ns0:cNvSpPr>
          <ns0:nvPr/>
        </ns0:nvSpPr>
        <ns0:spPr>
          <ns1:xfrm>
            <ns1:off x="15120000" y="24521756"/>
            <ns1:ext cx="1520821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ON “위 내용 참조”</ns1:t>
            </ns1:r>
          </ns1:p>
        </ns0:txBody>
      </ns0:sp>
      <ns0:sp>
        <ns0:nvSpPr>
          <ns0:cNvPr id="205" name="06_204">
            <ns1:extLst>
              <ns1:ext uri="{FF2B5EF4-FFF2-40B4-BE49-F238E27FC236}">
                <ns2:creationId id="{2DD8AEA6-54F5-4D68-88C8-51B6E5FEDB7C}"/>
              </ns1:ext>
            </ns1:extLst>
          </ns0:cNvPr>
          <ns0:cNvSpPr>
            <ns1:spLocks noGrp="1"/>
          </ns0:cNvSpPr>
          <ns0:nvPr/>
        </ns0:nvSpPr>
        <ns0:spPr>
          <ns1:xfrm>
            <ns1:off x="10980000" y="25632000"/>
            <ns1:ext cx="9684000" cy="36"/>
          </ns1:xfrm>
          <ns1:custGeom>
            <ns1:pathLst>
              <ns1:path w="9684000" h="36">
                <ns1:moveTo>
                  <ns1:pt x="0" y="0"/>
                </ns1:moveTo>
                <ns1:lnTo>
                  <ns1:pt x="9684000" y="0"/>
                </ns1:lnTo>
              </ns1:path>
            </ns1:pathLst>
          </ns1:custGeom>
          <ns1:noFill/>
          <ns1:ln w="9000">
            <ns1:solidFill>
              <ns1:srgbClr val="D8D0E0"/>
            </ns1:solidFill>
            <ns1:prstDash val="solid"/>
          </ns1:ln>
        </ns0:spPr>
      </ns0:sp>
      <ns0:sp>
        <ns0:nvSpPr>
          <ns0:cNvPr id="206" name="06_205">
            <ns1:extLst>
              <ns1:ext uri="{FF2B5EF4-FFF2-40B4-BE49-F238E27FC236}">
                <ns2:creationId id="{94ECA4C9-9835-4EE7-8A92-9BF486313B83}"/>
              </ns1:ext>
            </ns1:extLst>
          </ns0:cNvPr>
          <ns0:cNvSpPr>
            <ns1:spLocks noGrp="1"/>
          </ns0:cNvSpPr>
          <ns0:nvPr/>
        </ns0:nvSpPr>
        <ns0:spPr>
          <ns1:xfrm>
            <ns1:off x="11088000" y="24863756"/>
            <ns1:ext cx="2619569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SCD ext_midm_005 (동일 문맥)</ns1:t>
            </ns1:r>
          </ns1:p>
        </ns0:txBody>
      </ns0:sp>
      <ns0:sp>
        <ns0:nvSpPr>
          <ns0:cNvPr id="207" name="06_206">
            <ns1:extLst>
              <ns1:ext uri="{FF2B5EF4-FFF2-40B4-BE49-F238E27FC236}">
                <ns2:creationId id="{4104DA9A-BC9A-4B86-AE6B-3F966EC46477}"/>
              </ns1:ext>
            </ns1:extLst>
          </ns0:cNvPr>
          <ns0:cNvSpPr>
            <ns1:spLocks noGrp="1"/>
          </ns0:cNvSpPr>
          <ns0:nvPr/>
        </ns0:nvSpPr>
        <ns0:spPr>
          <ns1:xfrm>
            <ns1:off x="11088000" y="25079756"/>
            <ns1:ext cx="2733907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Fusion SFT의 non-reasoning 목적</ns1:t>
            </ns1:r>
          </ns1:p>
        </ns0:txBody>
      </ns0:sp>
      <ns0:sp>
        <ns0:nvSpPr>
          <ns0:cNvPr id="208" name="06_207">
            <ns1:extLst>
              <ns1:ext uri="{FF2B5EF4-FFF2-40B4-BE49-F238E27FC236}">
                <ns2:creationId id="{7D6ECB11-2386-40B9-BC7C-32840D5A68FF}"/>
              </ns1:ext>
            </ns1:extLst>
          </ns0:cNvPr>
          <ns0:cNvSpPr>
            <ns1:spLocks noGrp="1"/>
          </ns0:cNvSpPr>
          <ns0:nvPr/>
        </ns0:nvSpPr>
        <ns0:spPr>
          <ns1:xfrm>
            <ns1:off x="11088000" y="25295756"/>
            <ns1:ext cx="1594007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H1C0S0 → H1C0S1</ns1:t>
            </ns1:r>
          </ns1:p>
        </ns0:txBody>
      </ns0:sp>
      <ns0:sp>
        <ns0:nvSpPr>
          <ns0:cNvPr id="209" name="06_208">
            <ns1:extLst>
              <ns1:ext uri="{FF2B5EF4-FFF2-40B4-BE49-F238E27FC236}">
                <ns2:creationId id="{4EDE08DF-CF92-423C-BC81-1700B06DC4BC}"/>
              </ns1:ext>
            </ns1:extLst>
          </ns0:cNvPr>
          <ns0:cNvSpPr>
            <ns1:spLocks noGrp="1"/>
          </ns0:cNvSpPr>
          <ns0:nvPr/>
        </ns0:nvSpPr>
        <ns0:spPr>
          <ns1:xfrm>
            <ns1:off x="15120000" y="24863756"/>
            <ns1:ext cx="2310763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1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한국어 문자 비율 0→0.7713</ns1:t>
            </ns1:r>
          </ns1:p>
        </ns0:txBody>
      </ns0:sp>
      <ns0:sp>
        <ns0:nvSpPr>
          <ns0:cNvPr id="210" name="06_209">
            <ns1:extLst>
              <ns1:ext uri="{FF2B5EF4-FFF2-40B4-BE49-F238E27FC236}">
                <ns2:creationId id="{DBEF7B7E-6AF1-4A58-8B58-123AF4A037BB}"/>
              </ns1:ext>
            </ns1:extLst>
          </ns0:cNvPr>
          <ns0:cNvSpPr>
            <ns1:spLocks noGrp="1"/>
          </ns0:cNvSpPr>
          <ns0:nvPr/>
        </ns0:nvSpPr>
        <ns0:spPr>
          <ns1:xfrm>
            <ns1:off x="15120000" y="25079756"/>
            <ns1:ext cx="2780006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S0 “tasks such as math problems”</ns1:t>
            </ns1:r>
          </ns1:p>
        </ns0:txBody>
      </ns0:sp>
      <ns0:sp>
        <ns0:nvSpPr>
          <ns0:cNvPr id="211" name="06_210">
            <ns1:extLst>
              <ns1:ext uri="{FF2B5EF4-FFF2-40B4-BE49-F238E27FC236}">
                <ns2:creationId id="{1ED144A1-53E2-4BA5-8421-D991EB0B0DB1}"/>
              </ns1:ext>
            </ns1:extLst>
          </ns0:cNvPr>
          <ns0:cNvSpPr>
            <ns1:spLocks noGrp="1"/>
          </ns0:cNvSpPr>
          <ns0:nvPr/>
        </ns0:nvSpPr>
        <ns0:spPr>
          <ns1:xfrm>
            <ns1:off x="15120000" y="25295756"/>
            <ns1:ext cx="2508531" cy="24892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4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S1 “우리는 정기적인 간격으로”</ns1:t>
            </ns1:r>
          </ns1:p>
        </ns0:txBody>
      </ns0:sp>
      <ns0:sp>
        <ns0:nvSpPr>
          <ns0:cNvPr id="212" name="06_211">
            <ns1:extLst>
              <ns1:ext uri="{FF2B5EF4-FFF2-40B4-BE49-F238E27FC236}">
                <ns2:creationId id="{6A0D98B0-98AB-4F69-988A-CD05E6B9BA62}"/>
              </ns1:ext>
            </ns1:extLst>
          </ns0:cNvPr>
          <ns0:cNvSpPr>
            <ns1:spLocks noGrp="1"/>
          </ns0:cNvSpPr>
          <ns0:nvPr/>
        </ns0:nvSpPr>
        <ns0:spPr>
          <ns1:xfrm>
            <ns1:off x="10980000" y="25686202"/>
            <ns1:ext cx="5094606" cy="2311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0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0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0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rPr>
              <ns1:t>CAD는 동일 문맥 비교; SCD의 언어 비율 증가와 내용 정확성은 구분</ns1:t>
            </ns1:r>
          </ns1:p>
        </ns0:txBody>
      </ns0:sp>
      <ns0:sp>
        <ns0:nvSpPr>
          <ns0:cNvPr id="213" name="06_212">
            <ns1:extLst>
              <ns1:ext uri="{FF2B5EF4-FFF2-40B4-BE49-F238E27FC236}">
                <ns2:creationId id="{465B1B1F-F41E-4EF8-B53F-DD07777427B9}"/>
              </ns1:ext>
            </ns1:extLst>
          </ns0:cNvPr>
          <ns0:cNvSpPr>
            <ns1:spLocks noGrp="1"/>
          </ns0:cNvSpPr>
          <ns0:nvPr/>
        </ns0:nvSpPr>
        <ns0:spPr>
          <ns1:xfrm>
            <ns1:off x="10980000" y="25902202"/>
            <ns1:ext cx="5871173" cy="23114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30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30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30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rPr>
              <ns1:t>SCD 사례는 HyDE ON으로 전체240쌍에만 포함, OFF 주 비교120쌍에는 미포함</ns1:t>
            </ns1:r>
          </ns1:p>
        </ns0:txBody>
      </ns0:sp>
      <ns0:sp>
        <ns0:nvSpPr>
          <ns0:cNvPr id="214" name="07_213">
            <ns1:extLst>
              <ns1:ext uri="{FF2B5EF4-FFF2-40B4-BE49-F238E27FC236}">
                <ns2:creationId id="{88F20F06-5E42-4CE9-878E-D5910C993A40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3688000"/>
            <ns1:ext cx="9684000" cy="396000"/>
          </ns1:xfrm>
          <ns1:prstGeom prst="rect">
            <ns1:avLst/>
          </ns1:prstGeom>
          <ns1:solidFill>
            <ns1:srgbClr val="6B5087"/>
          </ns1:solidFill>
          <ns1:ln w="0">
            <ns1:noFill/>
          </ns1:ln>
        </ns0:spPr>
      </ns0:sp>
      <ns0:sp>
        <ns0:nvSpPr>
          <ns0:cNvPr id="215" name="07_214">
            <ns1:extLst>
              <ns1:ext uri="{FF2B5EF4-FFF2-40B4-BE49-F238E27FC236}">
                <ns2:creationId id="{7FF2544E-BAFF-46E9-94E4-72B5150384F5}"/>
              </ns1:ext>
            </ns1:extLst>
          </ns0:cNvPr>
          <ns0:cNvSpPr>
            <ns1:spLocks noGrp="1"/>
          </ns0:cNvSpPr>
          <ns0:nvPr/>
        </ns0:nvSpPr>
        <ns0:spPr>
          <ns1:xfrm>
            <ns1:off x="828000" y="23705480"/>
            <ns1:ext cx="3891393" cy="355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rPr>
              <ns1:t>07 결론: 기법별 결과와 조건 선택</ns1:t>
            </ns1:r>
          </ns1:p>
        </ns0:txBody>
      </ns0:sp>
      <ns0:sp>
        <ns0:nvSpPr>
          <ns0:cNvPr id="216" name="07_215">
            <ns1:extLst>
              <ns1:ext uri="{FF2B5EF4-FFF2-40B4-BE49-F238E27FC236}">
                <ns2:creationId id="{E2D3DA8A-9998-46F3-A9FD-6321CA3F6C3C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4215087"/>
            <ns1:ext cx="4285192" cy="27559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HyDE 적용 후 답변 관련성이 평균 +0.0805 증가</ns1:t>
            </ns1:r>
          </ns1:p>
        </ns0:txBody>
      </ns0:sp>
      <ns0:sp>
        <ns0:nvSpPr>
          <ns0:cNvPr id="217" name="07_216">
            <ns1:extLst>
              <ns1:ext uri="{FF2B5EF4-FFF2-40B4-BE49-F238E27FC236}">
                <ns2:creationId id="{8770ACD5-233C-4CD8-BBED-1861176E89B5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4485087"/>
            <ns1:ext cx="5347970" cy="27559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CAD 충실도는 평균 +0.0288 변화했으며 95% 구간에 0 포함</ns1:t>
            </ns1:r>
          </ns1:p>
        </ns0:txBody>
      </ns0:sp>
      <ns0:sp>
        <ns0:nvSpPr>
          <ns0:cNvPr id="218" name="07_217">
            <ns1:extLst>
              <ns1:ext uri="{FF2B5EF4-FFF2-40B4-BE49-F238E27FC236}">
                <ns2:creationId id="{8EF619AA-CB66-4CF6-949A-2D7BEDF983BE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4755087"/>
            <ns1:ext cx="5698994" cy="27559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CAD 주 비교의 조건 실행 시간은 20.792초에서 63.867초로 증가</ns1:t>
            </ns1:r>
          </ns1:p>
        </ns0:txBody>
      </ns0:sp>
      <ns0:sp>
        <ns0:nvSpPr>
          <ns0:cNvPr id="219" name="07_218">
            <ns1:extLst>
              <ns1:ext uri="{FF2B5EF4-FFF2-40B4-BE49-F238E27FC236}">
                <ns2:creationId id="{5AB65291-2BC8-479B-956D-CCFF4C341824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5025087"/>
            <ns1:ext cx="5751186" cy="27559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SCD 한국어 문자 비율은 동일 문맥120쌍에서 평균 +0.2182 증가</ns1:t>
            </ns1:r>
          </ns1:p>
        </ns0:txBody>
      </ns0:sp>
      <ns0:sp>
        <ns0:nvSpPr>
          <ns0:cNvPr id="220" name="07_219">
            <ns1:extLst>
              <ns1:ext uri="{FF2B5EF4-FFF2-40B4-BE49-F238E27FC236}">
                <ns2:creationId id="{DCEAA381-0470-4AE3-B57C-A6AEC00145EE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5295087"/>
            <ns1:ext cx="6059918" cy="27559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관련성, 충실도, 한국어 문자 비율과 실행 시간을 기준으로 조건 선택</ns1:t>
            </ns1:r>
          </ns1:p>
        </ns0:txBody>
      </ns0:sp>
      <ns0:sp>
        <ns0:nvSpPr>
          <ns0:cNvPr id="221" name="07_220">
            <ns1:extLst>
              <ns1:ext uri="{FF2B5EF4-FFF2-40B4-BE49-F238E27FC236}">
                <ns2:creationId id="{D535EBA7-2738-4815-8550-AACC7F895296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5565087"/>
            <ns1:ext cx="6300597" cy="27559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55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평가 범위: 영어 문서4종, 한국어 질의60개, 단일 생성 모델과 자동 평가</ns1:t>
            </ns1:r>
          </ns1:p>
        </ns0:txBody>
      </ns0:sp>
      <ns0:sp>
        <ns0:nvSpPr>
          <ns0:cNvPr id="222" name="08_221">
            <ns1:extLst>
              <ns1:ext uri="{FF2B5EF4-FFF2-40B4-BE49-F238E27FC236}">
                <ns2:creationId id="{83C1DD57-8F59-4659-B670-09D1679EAF61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6244000"/>
            <ns1:ext cx="19944000" cy="396000"/>
          </ns1:xfrm>
          <ns1:prstGeom prst="rect">
            <ns1:avLst/>
          </ns1:prstGeom>
          <ns1:solidFill>
            <ns1:srgbClr val="6B5087"/>
          </ns1:solidFill>
          <ns1:ln w="0">
            <ns1:noFill/>
          </ns1:ln>
        </ns0:spPr>
      </ns0:sp>
      <ns0:sp>
        <ns0:nvSpPr>
          <ns0:cNvPr id="223" name="08_222">
            <ns1:extLst>
              <ns1:ext uri="{FF2B5EF4-FFF2-40B4-BE49-F238E27FC236}">
                <ns2:creationId id="{376DE94A-9A9D-47EB-9540-0C2470BEF978}"/>
              </ns1:ext>
            </ns1:extLst>
          </ns0:cNvPr>
          <ns0:cNvSpPr>
            <ns1:spLocks noGrp="1"/>
          </ns0:cNvSpPr>
          <ns0:nvPr/>
        </ns0:nvSpPr>
        <ns0:spPr>
          <ns1:xfrm>
            <ns1:off x="828000" y="26261480"/>
            <ns1:ext cx="1435729" cy="355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2000" b="1">
                <ns1:solidFill>
                  <ns1:srgbClr val="FFFFFF"/>
                </ns1:solidFill>
                <ns1:latin typeface="Malgun Gothic"/>
                <ns1:ea typeface="Malgun Gothic"/>
                <ns1:cs typeface="Malgun Gothic"/>
              </ns1:rPr>
              <ns1:t>08 참고문헌</ns1:t>
            </ns1:r>
          </ns1:p>
        </ns0:txBody>
      </ns0:sp>
      <ns0:sp>
        <ns0:nvSpPr>
          <ns0:cNvPr id="224" name="08_223">
            <ns1:extLst>
              <ns1:ext uri="{FF2B5EF4-FFF2-40B4-BE49-F238E27FC236}">
                <ns2:creationId id="{C0A7BA5A-2526-4982-85A0-74A8FEFA13D4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6827094"/>
            <ns1:ext cx="6342145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[1] P. Lewis et al., “Retrieval-Augmented Generation for Knowledge-Intensive NLP Tasks,” Advances</ns1:t>
            </ns1:r>
          </ns1:p>
        </ns0:txBody>
      </ns0:sp>
      <ns0:sp>
        <ns0:nvSpPr>
          <ns0:cNvPr id="225" name="08_224">
            <ns1:extLst>
              <ns1:ext uri="{FF2B5EF4-FFF2-40B4-BE49-F238E27FC236}">
                <ns2:creationId id="{064E3369-3489-4657-870B-30A7326C613F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7003494"/>
            <ns1:ext cx="3628091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in Neural Information Processing Systems, Vol. 33, 2020.</ns1:t>
            </ns1:r>
          </ns1:p>
        </ns0:txBody>
      </ns0:sp>
      <ns0:sp>
        <ns0:nvSpPr>
          <ns0:cNvPr id="226" name="08_225">
            <ns1:extLst>
              <ns1:ext uri="{FF2B5EF4-FFF2-40B4-BE49-F238E27FC236}">
                <ns2:creationId id="{FB2B0727-4E20-4126-9635-E109BF71E4DE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7201494"/>
            <ns1:ext cx="6354355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[2] L. Gao et al., “Precise Zero-Shot Dense Retrieval without Relevance Labels,” Proceedings of ACL,</ns1:t>
            </ns1:r>
          </ns1:p>
        </ns0:txBody>
      </ns0:sp>
      <ns0:sp>
        <ns0:nvSpPr>
          <ns0:cNvPr id="227" name="08_226">
            <ns1:extLst>
              <ns1:ext uri="{FF2B5EF4-FFF2-40B4-BE49-F238E27FC236}">
                <ns2:creationId id="{3EE0161D-5A1C-4C85-9E31-C2458CD1D654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7377894"/>
            <ns1:ext cx="1388730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pp. 1762–1777, 2023.</ns1:t>
            </ns1:r>
          </ns1:p>
        </ns0:txBody>
      </ns0:sp>
      <ns0:sp>
        <ns0:nvSpPr>
          <ns0:cNvPr id="228" name="08_227">
            <ns1:extLst>
              <ns1:ext uri="{FF2B5EF4-FFF2-40B4-BE49-F238E27FC236}">
                <ns2:creationId id="{BEFEBB4F-7E70-4029-8F61-9D8B1FB75964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7575894"/>
            <ns1:ext cx="5735937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[3] W. Shi et al., “Trusting Your Evidence: Hallucinate Less with Context-Aware Decoding,”</ns1:t>
            </ns1:r>
          </ns1:p>
        </ns0:txBody>
      </ns0:sp>
      <ns0:sp>
        <ns0:nvSpPr>
          <ns0:cNvPr id="229" name="08_228">
            <ns1:extLst>
              <ns1:ext uri="{FF2B5EF4-FFF2-40B4-BE49-F238E27FC236}">
                <ns2:creationId id="{5B5BC171-0069-4442-BB17-755B1CDC843C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7752294"/>
            <ns1:ext cx="2759400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Proceedings of NAACL, pp. 783–791, 2024.</ns1:t>
            </ns1:r>
          </ns1:p>
        </ns0:txBody>
      </ns0:sp>
      <ns0:sp>
        <ns0:nvSpPr>
          <ns0:cNvPr id="230" name="08_229">
            <ns1:extLst>
              <ns1:ext uri="{FF2B5EF4-FFF2-40B4-BE49-F238E27FC236}">
                <ns2:creationId id="{02A43457-C4C6-48A6-BD75-EA42D9F9F200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7950294"/>
            <ns1:ext cx="5842486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[4] B. Li, Z. Xu, and R. Xie, “Language Drift in Multilingual Retrieval-Augmented Generation:</ns1:t>
            </ns1:r>
          </ns1:p>
        </ns0:txBody>
      </ns0:sp>
      <ns0:sp>
        <ns0:nvSpPr>
          <ns0:cNvPr id="231" name="08_230">
            <ns1:extLst>
              <ns1:ext uri="{FF2B5EF4-FFF2-40B4-BE49-F238E27FC236}">
                <ns2:creationId id="{7A8BE151-36C6-483E-AA3F-4A2506C40004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8126694"/>
            <ns1:ext cx="6299580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Characterization and Decoding-Time Mitigation,” Proceedings of the AAAI Conference on Artificial</ns1:t>
            </ns1:r>
          </ns1:p>
        </ns0:txBody>
      </ns0:sp>
      <ns0:sp>
        <ns0:nvSpPr>
          <ns0:cNvPr id="232" name="08_231">
            <ns1:extLst>
              <ns1:ext uri="{FF2B5EF4-FFF2-40B4-BE49-F238E27FC236}">
                <ns2:creationId id="{CBC1A622-1B04-46B7-B83F-112A9B9EDADA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8303094"/>
            <ns1:ext cx="3370996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Intelligence, Vol. 40, No. 37, pp. 31519–31526, 2026.</ns1:t>
            </ns1:r>
          </ns1:p>
        </ns0:txBody>
      </ns0:sp>
      <ns0:sp>
        <ns0:nvSpPr>
          <ns0:cNvPr id="233" name="08_232">
            <ns1:extLst>
              <ns1:ext uri="{FF2B5EF4-FFF2-40B4-BE49-F238E27FC236}">
                <ns2:creationId id="{E6E554AD-C482-4366-8C94-DE8A904A26B6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8501094"/>
            <ns1:ext cx="5974341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[5] J. Chen et al., “M3-Embedding: Multi-Linguality, Multi-Functionality, Multi-Granularity Text</ns1:t>
            </ns1:r>
          </ns1:p>
        </ns0:txBody>
      </ns0:sp>
      <ns0:sp>
        <ns0:nvSpPr>
          <ns0:cNvPr id="234" name="08_233">
            <ns1:extLst>
              <ns1:ext uri="{FF2B5EF4-FFF2-40B4-BE49-F238E27FC236}">
                <ns2:creationId id="{C9882EA5-B142-44E7-AF05-D26AD1212F74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8677494"/>
            <ns1:ext cx="6220999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Embeddings Through Self-Knowledge Distillation,” Findings of the Association for Computational</ns1:t>
            </ns1:r>
          </ns1:p>
        </ns0:txBody>
      </ns0:sp>
      <ns0:sp>
        <ns0:nvSpPr>
          <ns0:cNvPr id="235" name="08_234">
            <ns1:extLst>
              <ns1:ext uri="{FF2B5EF4-FFF2-40B4-BE49-F238E27FC236}">
                <ns2:creationId id="{DB706278-B244-474E-B313-F911EF8C7651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8853894"/>
            <ns1:ext cx="5323318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Linguistics: ACL 2024, pp. 2318–2335, 2024, doi: 10.18653/v1/2024.findings-acl.137.</ns1:t>
            </ns1:r>
          </ns1:p>
        </ns0:txBody>
      </ns0:sp>
      <ns0:sp>
        <ns0:nvSpPr>
          <ns0:cNvPr id="236" name="08_235">
            <ns1:extLst>
              <ns1:ext uri="{FF2B5EF4-FFF2-40B4-BE49-F238E27FC236}">
                <ns2:creationId id="{CC9EED9C-F418-4C0E-8DE3-244287A6BA4C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9051894"/>
            <ns1:ext cx="4907901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[6] S. E. Robertson et al., “Okapi at TREC-3,” Text REtrieval Conference, 1994.</ns1:t>
            </ns1:r>
          </ns1:p>
        </ns0:txBody>
      </ns0:sp>
      <ns0:sp>
        <ns0:nvSpPr>
          <ns0:cNvPr id="237" name="08_236">
            <ns1:extLst>
              <ns1:ext uri="{FF2B5EF4-FFF2-40B4-BE49-F238E27FC236}">
                <ns2:creationId id="{B285BBA2-3D50-48BF-8C1D-6790F949913C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9249894"/>
            <ns1:ext cx="6319021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[7] G. V. Cormack, C. L. A. Clarke, and S. Büttcher, “Reciprocal Rank Fusion Outperforms Condorcet</ns1:t>
            </ns1:r>
          </ns1:p>
        </ns0:txBody>
      </ns0:sp>
      <ns0:sp>
        <ns0:nvSpPr>
          <ns0:cNvPr id="238" name="08_237">
            <ns1:extLst>
              <ns1:ext uri="{FF2B5EF4-FFF2-40B4-BE49-F238E27FC236}">
                <ns2:creationId id="{979F0CF7-F8B1-416D-8914-EE9E4E0811AD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29426294"/>
            <ns1:ext cx="5238597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and Individual Rank Learning Methods,” Proceedings of SIGIR, pp. 758–759, 2009.</ns1:t>
            </ns1:r>
          </ns1:p>
        </ns0:txBody>
      </ns0:sp>
      <ns0:sp>
        <ns0:nvSpPr>
          <ns0:cNvPr id="239" name="08_238">
            <ns1:extLst>
              <ns1:ext uri="{FF2B5EF4-FFF2-40B4-BE49-F238E27FC236}">
                <ns2:creationId id="{ECEE036E-6806-44D7-B74A-7428F7C7CEBB}"/>
              </ns1:ext>
            </ns1:extLst>
          </ns0:cNvPr>
          <ns0:cNvSpPr>
            <ns1:spLocks noGrp="1"/>
          </ns0:cNvSpPr>
          <ns0:nvPr/>
        </ns0:nvSpPr>
        <ns0:spPr>
          <ns1:xfrm>
            <ns1:off x="7488000" y="26827094"/>
            <ns1:ext cx="5417042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[8] R. Nogueira and K. Cho, “Passage Re-ranking with BERT,” arXiv:1901.04085, 2019.</ns1:t>
            </ns1:r>
          </ns1:p>
        </ns0:txBody>
      </ns0:sp>
      <ns0:sp>
        <ns0:nvSpPr>
          <ns0:cNvPr id="240" name="08_239">
            <ns1:extLst>
              <ns1:ext uri="{FF2B5EF4-FFF2-40B4-BE49-F238E27FC236}">
                <ns2:creationId id="{AE47EFBF-F719-4B8B-9557-0A06CF52E5E7}"/>
              </ns1:ext>
            </ns1:extLst>
          </ns0:cNvPr>
          <ns0:cNvSpPr>
            <ns1:spLocks noGrp="1"/>
          </ns0:cNvSpPr>
          <ns0:nvPr/>
        </ns0:nvSpPr>
        <ns0:spPr>
          <ns1:xfrm>
            <ns1:off x="7488000" y="27025094"/>
            <ns1:ext cx="6309881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[9] N. F. Liu et al., “Lost in the Middle: How Language Models Use Long Contexts,” Transactions of</ns1:t>
            </ns1:r>
          </ns1:p>
        </ns0:txBody>
      </ns0:sp>
      <ns0:sp>
        <ns0:nvSpPr>
          <ns0:cNvPr id="241" name="08_240">
            <ns1:extLst>
              <ns1:ext uri="{FF2B5EF4-FFF2-40B4-BE49-F238E27FC236}">
                <ns2:creationId id="{9657EFD7-EF21-4446-924B-BA8726B79658}"/>
              </ns1:ext>
            </ns1:extLst>
          </ns0:cNvPr>
          <ns0:cNvSpPr>
            <ns1:spLocks noGrp="1"/>
          </ns0:cNvSpPr>
          <ns0:nvPr/>
        </ns0:nvSpPr>
        <ns0:spPr>
          <ns1:xfrm>
            <ns1:off x="7488000" y="27201494"/>
            <ns1:ext cx="4714449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the Association for Computational Linguistics, Vol. 12, pp. 157–173, 2024.</ns1:t>
            </ns1:r>
          </ns1:p>
        </ns0:txBody>
      </ns0:sp>
      <ns0:sp>
        <ns0:nvSpPr>
          <ns0:cNvPr id="242" name="08_241">
            <ns1:extLst>
              <ns1:ext uri="{FF2B5EF4-FFF2-40B4-BE49-F238E27FC236}">
                <ns2:creationId id="{F63A102E-0C84-415A-A21E-DD15B5DD3EF7}"/>
              </ns1:ext>
            </ns1:extLst>
          </ns0:cNvPr>
          <ns0:cNvSpPr>
            <ns1:spLocks noGrp="1"/>
          </ns0:cNvSpPr>
          <ns0:nvPr/>
        </ns0:nvSpPr>
        <ns0:spPr>
          <ns1:xfrm>
            <ns1:off x="7488000" y="27399494"/>
            <ns1:ext cx="6225638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[10] S. Es et al., “RAGAs: Automated Evaluation of Retrieval Augmented Generation,” Proceedings</ns1:t>
            </ns1:r>
          </ns1:p>
        </ns0:txBody>
      </ns0:sp>
      <ns0:sp>
        <ns0:nvSpPr>
          <ns0:cNvPr id="243" name="08_242">
            <ns1:extLst>
              <ns1:ext uri="{FF2B5EF4-FFF2-40B4-BE49-F238E27FC236}">
                <ns2:creationId id="{8D11D073-CA1B-454F-88F5-9E3C89F9CFE4}"/>
              </ns1:ext>
            </ns1:extLst>
          </ns0:cNvPr>
          <ns0:cNvSpPr>
            <ns1:spLocks noGrp="1"/>
          </ns0:cNvSpPr>
          <ns0:nvPr/>
        </ns0:nvSpPr>
        <ns0:spPr>
          <ns1:xfrm>
            <ns1:off x="7488000" y="27575894"/>
            <ns1:ext cx="3361242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of EACL System Demonstrations, pp. 150–158, 2024.</ns1:t>
            </ns1:r>
          </ns1:p>
        </ns0:txBody>
      </ns0:sp>
      <ns0:sp>
        <ns0:nvSpPr>
          <ns0:cNvPr id="244" name="08_243">
            <ns1:extLst>
              <ns1:ext uri="{FF2B5EF4-FFF2-40B4-BE49-F238E27FC236}">
                <ns2:creationId id="{C7251F60-C8A8-42BE-95A8-7E6EFE92BB68}"/>
              </ns1:ext>
            </ns1:extLst>
          </ns0:cNvPr>
          <ns0:cNvSpPr>
            <ns1:spLocks noGrp="1"/>
          </ns0:cNvSpPr>
          <ns0:nvPr/>
        </ns0:nvSpPr>
        <ns0:spPr>
          <ns1:xfrm>
            <ns1:off x="7488000" y="27773894"/>
            <ns1:ext cx="5742622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[11] V. Karpukhin et al., “Dense Passage Retrieval for Open-Domain Question Answering,”</ns1:t>
            </ns1:r>
          </ns1:p>
        </ns0:txBody>
      </ns0:sp>
      <ns0:sp>
        <ns0:nvSpPr>
          <ns0:cNvPr id="245" name="08_244">
            <ns1:extLst>
              <ns1:ext uri="{FF2B5EF4-FFF2-40B4-BE49-F238E27FC236}">
                <ns2:creationId id="{D5C57408-F89C-4002-8E9B-DC83D1D53E77}"/>
              </ns1:ext>
            </ns1:extLst>
          </ns0:cNvPr>
          <ns0:cNvSpPr>
            <ns1:spLocks noGrp="1"/>
          </ns0:cNvSpPr>
          <ns0:nvPr/>
        </ns0:nvSpPr>
        <ns0:spPr>
          <ns1:xfrm>
            <ns1:off x="7488000" y="27950294"/>
            <ns1:ext cx="2920791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Proceedings of EMNLP, pp. 6769–6781, 2020.</ns1:t>
            </ns1:r>
          </ns1:p>
        </ns0:txBody>
      </ns0:sp>
      <ns0:sp>
        <ns0:nvSpPr>
          <ns0:cNvPr id="246" name="08_245">
            <ns1:extLst>
              <ns1:ext uri="{FF2B5EF4-FFF2-40B4-BE49-F238E27FC236}">
                <ns2:creationId id="{4F434A0B-FEDE-4C07-B5E8-F70447BBFCFF}"/>
              </ns1:ext>
            </ns1:extLst>
          </ns0:cNvPr>
          <ns0:cNvSpPr>
            <ns1:spLocks noGrp="1"/>
          </ns0:cNvSpPr>
          <ns0:nvPr/>
        </ns0:nvSpPr>
        <ns0:spPr>
          <ns1:xfrm>
            <ns1:off x="7488000" y="28148294"/>
            <ns1:ext cx="5944805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[12] G. Izacard and E. Grave, “Leveraging Passage Retrieval with Generative Models for Open</ns1:t>
            </ns1:r>
          </ns1:p>
        </ns0:txBody>
      </ns0:sp>
      <ns0:sp>
        <ns0:nvSpPr>
          <ns0:cNvPr id="247" name="08_246">
            <ns1:extLst>
              <ns1:ext uri="{FF2B5EF4-FFF2-40B4-BE49-F238E27FC236}">
                <ns2:creationId id="{6B0B881B-2F76-42EE-B7CD-432BE02673F8}"/>
              </ns1:ext>
            </ns1:extLst>
          </ns0:cNvPr>
          <ns0:cNvSpPr>
            <ns1:spLocks noGrp="1"/>
          </ns0:cNvSpPr>
          <ns0:nvPr/>
        </ns0:nvSpPr>
        <ns0:spPr>
          <ns1:xfrm>
            <ns1:off x="7488000" y="28324694"/>
            <ns1:ext cx="4588801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Domain Question Answering,” Proceedings of EACL, pp. 874–880, 2021.</ns1:t>
            </ns1:r>
          </ns1:p>
        </ns0:txBody>
      </ns0:sp>
      <ns0:sp>
        <ns0:nvSpPr>
          <ns0:cNvPr id="248" name="08_247">
            <ns1:extLst>
              <ns1:ext uri="{FF2B5EF4-FFF2-40B4-BE49-F238E27FC236}">
                <ns2:creationId id="{584074DC-A1EF-4015-B39C-73D595CA897E}"/>
              </ns1:ext>
            </ns1:extLst>
          </ns0:cNvPr>
          <ns0:cNvSpPr>
            <ns1:spLocks noGrp="1"/>
          </ns0:cNvSpPr>
          <ns0:nvPr/>
        </ns0:nvSpPr>
        <ns0:spPr>
          <ns1:xfrm>
            <ns1:off x="7488000" y="28522694"/>
            <ns1:ext cx="5665405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[13] X. L. Li et al., “Contrastive Decoding: Open-ended Text Generation as Optimization,”</ns1:t>
            </ns1:r>
          </ns1:p>
        </ns0:txBody>
      </ns0:sp>
      <ns0:sp>
        <ns0:nvSpPr>
          <ns0:cNvPr id="249" name="08_248">
            <ns1:extLst>
              <ns1:ext uri="{FF2B5EF4-FFF2-40B4-BE49-F238E27FC236}">
                <ns2:creationId id="{9009B95A-923D-4F81-99C3-F2AAC1EAA8D9}"/>
              </ns1:ext>
            </ns1:extLst>
          </ns0:cNvPr>
          <ns0:cNvSpPr>
            <ns1:spLocks noGrp="1"/>
          </ns0:cNvSpPr>
          <ns0:nvPr/>
        </ns0:nvSpPr>
        <ns0:spPr>
          <ns1:xfrm>
            <ns1:off x="7488000" y="28699094"/>
            <ns1:ext cx="2868336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Proceedings of ACL, pp. 12286–12312, 2023.</ns1:t>
            </ns1:r>
          </ns1:p>
        </ns0:txBody>
      </ns0:sp>
      <ns0:sp>
        <ns0:nvSpPr>
          <ns0:cNvPr id="250" name="08_249">
            <ns1:extLst>
              <ns1:ext uri="{FF2B5EF4-FFF2-40B4-BE49-F238E27FC236}">
                <ns2:creationId id="{57841480-2896-4BF9-9FAE-A89C754B9564}"/>
              </ns1:ext>
            </ns1:extLst>
          </ns0:cNvPr>
          <ns0:cNvSpPr>
            <ns1:spLocks noGrp="1"/>
          </ns0:cNvSpPr>
          <ns0:nvPr/>
        </ns0:nvSpPr>
        <ns0:spPr>
          <ns1:xfrm>
            <ns1:off x="7488000" y="28897094"/>
            <ns1:ext cx="5937779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[14] P. Sarthi et al., “RAPTOR: Recursive Abstractive Processing for Tree-Organized Retrieval,”</ns1:t>
            </ns1:r>
          </ns1:p>
        </ns0:txBody>
      </ns0:sp>
      <ns0:sp>
        <ns0:nvSpPr>
          <ns0:cNvPr id="251" name="08_250">
            <ns1:extLst>
              <ns1:ext uri="{FF2B5EF4-FFF2-40B4-BE49-F238E27FC236}">
                <ns2:creationId id="{A03ADBC6-2CAA-4417-805F-AA05B87670F6}"/>
              </ns1:ext>
            </ns1:extLst>
          </ns0:cNvPr>
          <ns0:cNvSpPr>
            <ns1:spLocks noGrp="1"/>
          </ns0:cNvSpPr>
          <ns0:nvPr/>
        </ns0:nvSpPr>
        <ns0:spPr>
          <ns1:xfrm>
            <ns1:off x="7488000" y="29073494"/>
            <ns1:ext cx="1731022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Proceedings of ICLR, 2024.</ns1:t>
            </ns1:r>
          </ns1:p>
        </ns0:txBody>
      </ns0:sp>
      <ns0:sp>
        <ns0:nvSpPr>
          <ns0:cNvPr id="252" name="08_251">
            <ns1:extLst>
              <ns1:ext uri="{FF2B5EF4-FFF2-40B4-BE49-F238E27FC236}">
                <ns2:creationId id="{9C2F79E9-1189-4165-B0AB-9BBBF211004F}"/>
              </ns1:ext>
            </ns1:extLst>
          </ns0:cNvPr>
          <ns0:cNvSpPr>
            <ns1:spLocks noGrp="1"/>
          </ns0:cNvSpPr>
          <ns0:nvPr/>
        </ns0:nvSpPr>
        <ns0:spPr>
          <ns1:xfrm>
            <ns1:off x="14256000" y="26827094"/>
            <ns1:ext cx="6287507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[15] A. Asai et al., “Self-RAG: Learning to Retrieve, Generate, and Critique through Self-Reflection,”</ns1:t>
            </ns1:r>
          </ns1:p>
        </ns0:txBody>
      </ns0:sp>
      <ns0:sp>
        <ns0:nvSpPr>
          <ns0:cNvPr id="253" name="08_252">
            <ns1:extLst>
              <ns1:ext uri="{FF2B5EF4-FFF2-40B4-BE49-F238E27FC236}">
                <ns2:creationId id="{FE4FD333-6602-4841-A0DE-953E6DA67D7A}"/>
              </ns1:ext>
            </ns1:extLst>
          </ns0:cNvPr>
          <ns0:cNvSpPr>
            <ns1:spLocks noGrp="1"/>
          </ns0:cNvSpPr>
          <ns0:nvPr/>
        </ns0:nvSpPr>
        <ns0:spPr>
          <ns1:xfrm>
            <ns1:off x="14256000" y="27003494"/>
            <ns1:ext cx="1731022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Proceedings of ICLR, 2024.</ns1:t>
            </ns1:r>
          </ns1:p>
        </ns0:txBody>
      </ns0:sp>
      <ns0:sp>
        <ns0:nvSpPr>
          <ns0:cNvPr id="254" name="08_253">
            <ns1:extLst>
              <ns1:ext uri="{FF2B5EF4-FFF2-40B4-BE49-F238E27FC236}">
                <ns2:creationId id="{E2D61D64-72BE-462B-B669-1F41EEEF037E}"/>
              </ns1:ext>
            </ns1:extLst>
          </ns0:cNvPr>
          <ns0:cNvSpPr>
            <ns1:spLocks noGrp="1"/>
          </ns0:cNvSpPr>
          <ns0:nvPr/>
        </ns0:nvSpPr>
        <ns0:spPr>
          <ns1:xfrm>
            <ns1:off x="14256000" y="27201494"/>
            <ns1:ext cx="5777752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[16] S.-Q. Yan et al., “Corrective Retrieval Augmented Generation,” arXiv:2401.15884, 2024.</ns1:t>
            </ns1:r>
          </ns1:p>
        </ns0:txBody>
      </ns0:sp>
      <ns0:sp>
        <ns0:nvSpPr>
          <ns0:cNvPr id="255" name="08_254">
            <ns1:extLst>
              <ns1:ext uri="{FF2B5EF4-FFF2-40B4-BE49-F238E27FC236}">
                <ns2:creationId id="{7EFCC248-942C-4BFA-A649-50D4178D2B96}"/>
              </ns1:ext>
            </ns1:extLst>
          </ns0:cNvPr>
          <ns0:cNvSpPr>
            <ns1:spLocks noGrp="1"/>
          </ns0:cNvSpPr>
          <ns0:nvPr/>
        </ns0:nvSpPr>
        <ns0:spPr>
          <ns1:xfrm>
            <ns1:off x="14256000" y="27399494"/>
            <ns1:ext cx="6119840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[17] P. Zhao et al., “Retrieval-Augmented Generation for AI-Generated Content: A Survey,” Data</ns1:t>
            </ns1:r>
          </ns1:p>
        </ns0:txBody>
      </ns0:sp>
      <ns0:sp>
        <ns0:nvSpPr>
          <ns0:cNvPr id="256" name="08_255">
            <ns1:extLst>
              <ns1:ext uri="{FF2B5EF4-FFF2-40B4-BE49-F238E27FC236}">
                <ns2:creationId id="{6E7B5F43-1078-40AC-9445-DC390FC829B2}"/>
              </ns1:ext>
            </ns1:extLst>
          </ns0:cNvPr>
          <ns0:cNvSpPr>
            <ns1:spLocks noGrp="1"/>
          </ns0:cNvSpPr>
          <ns0:nvPr/>
        </ns0:nvSpPr>
        <ns0:spPr>
          <ns1:xfrm>
            <ns1:off x="14256000" y="27575894"/>
            <ns1:ext cx="5381026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Science and Engineering, Vol. 11, pp. 1–29, 2026, doi: 10.1007/s41019-025-00335-5.</ns1:t>
            </ns1:r>
          </ns1:p>
        </ns0:txBody>
      </ns0:sp>
      <ns0:sp>
        <ns0:nvSpPr>
          <ns0:cNvPr id="257" name="08_256">
            <ns1:extLst>
              <ns1:ext uri="{FF2B5EF4-FFF2-40B4-BE49-F238E27FC236}">
                <ns2:creationId id="{0645F00B-CAF7-4B5A-B60F-7DF959CF6560}"/>
              </ns1:ext>
            </ns1:extLst>
          </ns0:cNvPr>
          <ns0:cNvSpPr>
            <ns1:spLocks noGrp="1"/>
          </ns0:cNvSpPr>
          <ns0:nvPr/>
        </ns0:nvSpPr>
        <ns0:spPr>
          <ns1:xfrm>
            <ns1:off x="14256000" y="27773894"/>
            <ns1:ext cx="6169430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[18] D. Shin et al., “Mi:dm 2.0 Korea-centric Bilingual Language Models,” arXiv:2601.09066, 2026.</ns1:t>
            </ns1:r>
          </ns1:p>
        </ns0:txBody>
      </ns0:sp>
      <ns0:sp>
        <ns0:nvSpPr>
          <ns0:cNvPr id="258" name="08_257">
            <ns1:extLst>
              <ns1:ext uri="{FF2B5EF4-FFF2-40B4-BE49-F238E27FC236}">
                <ns2:creationId id="{8D3DE0EB-CAF5-4495-933A-134A39B35C29}"/>
              </ns1:ext>
            </ns1:extLst>
          </ns0:cNvPr>
          <ns0:cNvSpPr>
            <ns1:spLocks noGrp="1"/>
          </ns0:cNvSpPr>
          <ns0:nvPr/>
        </ns0:nvSpPr>
        <ns0:spPr>
          <ns1:xfrm>
            <ns1:off x="14256000" y="27971894"/>
            <ns1:ext cx="5842008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[19] Y. Gao et al., “Retrieval-Augmented Generation for Large Language Models: A Survey,”</ns1:t>
            </ns1:r>
          </ns1:p>
        </ns0:txBody>
      </ns0:sp>
      <ns0:sp>
        <ns0:nvSpPr>
          <ns0:cNvPr id="259" name="08_258">
            <ns1:extLst>
              <ns1:ext uri="{FF2B5EF4-FFF2-40B4-BE49-F238E27FC236}">
                <ns2:creationId id="{AC99D4DF-638F-40FD-AB78-1F2D5A1F0940}"/>
              </ns1:ext>
            </ns1:extLst>
          </ns0:cNvPr>
          <ns0:cNvSpPr>
            <ns1:spLocks noGrp="1"/>
          </ns0:cNvSpPr>
          <ns0:nvPr/>
        </ns0:nvSpPr>
        <ns0:spPr>
          <ns1:xfrm>
            <ns1:off x="14256000" y="28148294"/>
            <ns1:ext cx="1516083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arXiv:2312.10997, 2023.</ns1:t>
            </ns1:r>
          </ns1:p>
        </ns0:txBody>
      </ns0:sp>
      <ns0:sp>
        <ns0:nvSpPr>
          <ns0:cNvPr id="260" name="08_259">
            <ns1:extLst>
              <ns1:ext uri="{FF2B5EF4-FFF2-40B4-BE49-F238E27FC236}">
                <ns2:creationId id="{A98A1C67-DFCB-4C8A-9FC5-6D9B4E4F5CAD}"/>
              </ns1:ext>
            </ns1:extLst>
          </ns0:cNvPr>
          <ns0:cNvSpPr>
            <ns1:spLocks noGrp="1"/>
          </ns0:cNvSpPr>
          <ns0:nvPr/>
        </ns0:nvSpPr>
        <ns0:spPr>
          <ns1:xfrm>
            <ns1:off x="14256000" y="28346294"/>
            <ns1:ext cx="6204833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[20] N. Thakur et al., “BEIR: A Heterogeneous Benchmark for Zero-shot Evaluation of Information</ns1:t>
            </ns1:r>
          </ns1:p>
        </ns0:txBody>
      </ns0:sp>
      <ns0:sp>
        <ns0:nvSpPr>
          <ns0:cNvPr id="261" name="08_260">
            <ns1:extLst>
              <ns1:ext uri="{FF2B5EF4-FFF2-40B4-BE49-F238E27FC236}">
                <ns2:creationId id="{53D8C2D0-4F1B-4830-A969-435EA92820AD}"/>
              </ns1:ext>
            </ns1:extLst>
          </ns0:cNvPr>
          <ns0:cNvSpPr>
            <ns1:spLocks noGrp="1"/>
          </ns0:cNvSpPr>
          <ns0:nvPr/>
        </ns0:nvSpPr>
        <ns0:spPr>
          <ns1:xfrm>
            <ns1:off x="14256000" y="28522694"/>
            <ns1:ext cx="5211380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Retrieval Models,” Proceedings of NeurIPS Datasets and Benchmarks Track, 2021.</ns1:t>
            </ns1:r>
          </ns1:p>
        </ns0:txBody>
      </ns0:sp>
      <ns0:sp>
        <ns0:nvSpPr>
          <ns0:cNvPr id="262" name="08_261">
            <ns1:extLst>
              <ns1:ext uri="{FF2B5EF4-FFF2-40B4-BE49-F238E27FC236}">
                <ns2:creationId id="{220DE42E-EBFC-487F-A171-BD29D0A4DE21}"/>
              </ns1:ext>
            </ns1:extLst>
          </ns0:cNvPr>
          <ns0:cNvSpPr>
            <ns1:spLocks noGrp="1"/>
          </ns0:cNvSpPr>
          <ns0:nvPr/>
        </ns0:nvSpPr>
        <ns0:spPr>
          <ns1:xfrm>
            <ns1:off x="14256000" y="28720694"/>
            <ns1:ext cx="6313155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[21] N. Muennighoff et al., “MTEB: Massive Text Embedding Benchmark,” Proceedings of EACL, pp.</ns1:t>
            </ns1:r>
          </ns1:p>
        </ns0:txBody>
      </ns0:sp>
      <ns0:sp>
        <ns0:nvSpPr>
          <ns0:cNvPr id="263" name="08_262">
            <ns1:extLst>
              <ns1:ext uri="{FF2B5EF4-FFF2-40B4-BE49-F238E27FC236}">
                <ns2:creationId id="{A4DCB744-C759-42DF-B777-33B75394FAE5}"/>
              </ns1:ext>
            </ns1:extLst>
          </ns0:cNvPr>
          <ns0:cNvSpPr>
            <ns1:spLocks noGrp="1"/>
          </ns0:cNvSpPr>
          <ns0:nvPr/>
        </ns0:nvSpPr>
        <ns0:spPr>
          <ns1:xfrm>
            <ns1:off x="14256000" y="28897094"/>
            <ns1:ext cx="1141253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2014–2037, 2023.</ns1:t>
            </ns1:r>
          </ns1:p>
        </ns0:txBody>
      </ns0:sp>
      <ns0:sp>
        <ns0:nvSpPr>
          <ns0:cNvPr id="264" name="08_263">
            <ns1:extLst>
              <ns1:ext uri="{FF2B5EF4-FFF2-40B4-BE49-F238E27FC236}">
                <ns2:creationId id="{AD521BD9-8F4F-42BF-B6CA-B28A614737C2}"/>
              </ns1:ext>
            </ns1:extLst>
          </ns0:cNvPr>
          <ns0:cNvSpPr>
            <ns1:spLocks noGrp="1"/>
          </ns0:cNvSpPr>
          <ns0:nvPr/>
        </ns0:nvSpPr>
        <ns0:spPr>
          <ns1:xfrm>
            <ns1:off x="14256000" y="29095094"/>
            <ns1:ext cx="5984642" cy="19558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100" b="0">
                <ns1:solidFill>
                  <ns1:srgbClr val="263445"/>
                </ns1:solidFill>
                <ns1:latin typeface="Malgun Gothic"/>
                <ns1:ea typeface="Malgun Gothic"/>
                <ns1:cs typeface="Malgun Gothic"/>
              </ns1:rPr>
              <ns1:t>[22] KT Tech Innovation Group, “Mi:dm K 2.5 Pro,” technical report, arXiv:2603.18788v2, 2026.</ns1:t>
            </ns1:r>
          </ns1:p>
        </ns0:txBody>
      </ns0:sp>
      <ns0:sp>
        <ns0:nvSpPr>
          <ns0:cNvPr id="265" name="08_264">
            <ns1:extLst>
              <ns1:ext uri="{FF2B5EF4-FFF2-40B4-BE49-F238E27FC236}">
                <ns2:creationId id="{4DCC6438-F6B1-406B-B9F1-49D7A17B0023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30001317"/>
            <ns1:ext cx="2944502" cy="18669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0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0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0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rPr>
              <ns1:t>한국어 질의–영어 학술·기술 문서 RAG 조합 실험</ns1:t>
            </ns1:r>
          </ns1:p>
        </ns0:txBody>
      </ns0:sp>
      <ns0:sp>
        <ns0:nvSpPr>
          <ns0:cNvPr id="266" name="08_265">
            <ns1:extLst>
              <ns1:ext uri="{FF2B5EF4-FFF2-40B4-BE49-F238E27FC236}">
                <ns2:creationId id="{CC619176-0BAD-4E08-9110-99A1422AFA0C}"/>
              </ns1:ext>
            </ns1:extLst>
          </ns0:cNvPr>
          <ns0:cNvSpPr>
            <ns1:spLocks noGrp="1"/>
          </ns0:cNvSpPr>
          <ns0:nvPr/>
        </ns0:nvSpPr>
        <ns0:spPr>
          <ns1:xfrm>
            <ns1:off x="19118299" y="30001317"/>
            <ns1:ext cx="1581701" cy="186690"/>
          </ns1:xfrm>
          <ns1:prstGeom prst="rect">
            <ns1:avLst/>
          </ns1:prstGeom>
          <ns1:noFill/>
          <ns1:ln w="0">
            <ns1:noFill/>
          </ns1:ln>
        </ns0:spPr>
        <ns0:txBody>
          <ns1:bodyPr wrap="none" lIns="0" tIns="0" rIns="0" bIns="0" anchor="t">
            <ns1:noAutofit/>
          </ns1:bodyPr>
          <ns1:lstStyle>
            <ns1:defPPr algn="l">
              <ns1:defRPr sz="10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defPPr>
          </ns1:lstStyle>
          <ns1:p>
            <ns1:pPr algn="l">
              <ns1:lnSpc>
                <ns1:spcPct val="100000"/>
              </ns1:lnSpc>
              <ns1:buNone/>
              <ns1:defRPr sz="10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defRPr>
            </ns1:pPr>
            <ns1:r>
              <ns1:rPr sz="1050" b="0">
                <ns1:solidFill>
                  <ns1:srgbClr val="596579"/>
                </ns1:solidFill>
                <ns1:latin typeface="Malgun Gothic"/>
                <ns1:ea typeface="Malgun Gothic"/>
                <ns1:cs typeface="Malgun Gothic"/>
              </ns1:rPr>
              <ns1:t>A1 · 593.99 × 840.98 mm</ns1:t>
            </ns1:r>
          </ns1:p>
        </ns0:txBody>
      </ns0:sp>
    </ns0:spTree>
    <ns0:extLst>
      <ns0:ext uri="{BB962C8B-B14F-4D97-AF65-F5344CB8AC3E}">
        <ns5:creationId val="1863662838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2026-10-10T08:02:16.4770000Z</dcterms:created>
  <dcterms:modified xsi:type="dcterms:W3CDTF">2026-10-10T08:02:16.4770000Z</dcterms:modified>
</coreProperties>
</file>