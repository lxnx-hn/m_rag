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b0538133bc4b1c" /><Relationship Type="http://schemas.openxmlformats.org/officeDocument/2006/relationships/extended-properties" Target="/docProps/app.xml" Id="R1e9ecf25f0d64ccb" /><Relationship Type="http://schemas.openxmlformats.org/officeDocument/2006/relationships/officeDocument" Target="/ppt/presentation.xml" Id="R74b11af206f24db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84b91cfcdea4d7a"/>
  </p:sldMasterIdLst>
  <p:notesMasterIdLst>
    <p:notesMasterId xmlns:r="http://schemas.openxmlformats.org/officeDocument/2006/relationships" r:id="Rc4ca206ce9304477"/>
  </p:notesMasterIdLst>
  <p:sldIdLst>
    <p:sldId xmlns:r="http://schemas.openxmlformats.org/officeDocument/2006/relationships" id="256" r:id="R21b8fa34b89d4f48"/>
  </p:sldIdLst>
  <p:sldSz cx="2138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69e6479f4540a9" /><Relationship Type="http://schemas.openxmlformats.org/officeDocument/2006/relationships/slideMaster" Target="/ppt/slideMasters/slideMaster1.xml" Id="R384b91cfcdea4d7a" /><Relationship Type="http://schemas.openxmlformats.org/officeDocument/2006/relationships/notesMaster" Target="/ppt/notesMasters/notesMaster1.xml" Id="Rc4ca206ce9304477" /><Relationship Type="http://schemas.openxmlformats.org/officeDocument/2006/relationships/presProps" Target="/ppt/presProps.xml" Id="R75ed9948fe244492" /><Relationship Type="http://schemas.openxmlformats.org/officeDocument/2006/relationships/tableStyles" Target="/ppt/tableStyles.xml" Id="R1521d13cfe1843d4" /><Relationship Type="http://schemas.openxmlformats.org/officeDocument/2006/relationships/slide" Target="/ppt/slides/slide1.xml" Id="R21b8fa34b89d4f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9788558a5d40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895504a1f6549b7" /><Relationship Type="http://schemas.openxmlformats.org/officeDocument/2006/relationships/notesMaster" Target="/ppt/notesMasters/notesMaster1.xml" Id="R44f44ebbd87742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sources and full statistics: FINALDOCS/DATA/TTEST_ANOVA_60Q.json; FINALDOCS/MANUSCRIPT/GRADUATION_REPORT_TRANSFER_KO_60Q.md. The exploratory analysis uses query-level paired t-tests and repeated-measures ANOVA with two-sided alpha 0.05 and no multiplicity adjustment. Editable tables follow explicit data-type alignment. Reference [4] https://ojs.aaai.org/index.php/AAAI/article/view/40417; [8] https://doi.org/10.1145/3331184.3331317 is conceptual ranking background, not the implemented CEDR architecture. [M1] https://huggingface.co/K-intelligence/Midm-2.0-Base-Instruct; [M2] https://huggingface.co/cross-encoder/ms-marco-MiniLM-L6-v2. The English case evidence is a contiguous saved context excerpt (PDF p.9), reference evidence is on PDF p.20. References follow manuscript numbering.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990921f56f456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b65587f019464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12971e257a46f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43c926ec70473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2d220a363742c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7081100f9441c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C96F6B4-55E3-4274-B911-18FE359FA5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1437600"/>
            <a:ext cx="17107200" cy="437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AACB9B9-6BD2-42D9-865C-653991384C5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207600" y="16651800"/>
            <a:ext cx="14968800" cy="33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CE9E248-4CCC-46B3-AA09-977E62B8E6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2615000"/>
            <a:ext cx="17107200" cy="504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CE874D7-964A-4D82-B6D2-CD6E74797A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CA17C00-DE63-4334-B9A8-872D67E92E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189783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AA15563-599B-4919-AF0A-846C84CD29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706D22C-BDD9-44B4-9293-D499F43FD8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B510E8B-B468-44F0-B60A-97B7EFE4C19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3602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B1F5638-DFBC-4C9B-8EE0-BD3EDEC5D7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8D7D895-8EE3-4269-BD22-61C8E6BAFD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26b00d47be4859" /><Relationship Type="http://schemas.openxmlformats.org/officeDocument/2006/relationships/slideLayout" Target="/ppt/slideLayouts/slideLayout1.xml" Id="R6543d032034d4c8f" /><Relationship Type="http://schemas.openxmlformats.org/officeDocument/2006/relationships/slideLayout" Target="/ppt/slideLayouts/slideLayout2.xml" Id="R5cd30cb2624d4a8c" /><Relationship Type="http://schemas.openxmlformats.org/officeDocument/2006/relationships/slideLayout" Target="/ppt/slideLayouts/slideLayout3.xml" Id="R37d4214cf38d4ece" /><Relationship Type="http://schemas.openxmlformats.org/officeDocument/2006/relationships/slideLayout" Target="/ppt/slideLayouts/slideLayout4.xml" Id="R55f31ccb64f847b2" /><Relationship Type="http://schemas.openxmlformats.org/officeDocument/2006/relationships/slideLayout" Target="/ppt/slideLayouts/slideLayout5.xml" Id="R9a85a067869f41d5" /><Relationship Type="http://schemas.openxmlformats.org/officeDocument/2006/relationships/slideLayout" Target="/ppt/slideLayouts/slideLayout6.xml" Id="Rf8db2a51d3ba4ca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43d032034d4c8f"/>
    <p:sldLayoutId xmlns:r="http://schemas.openxmlformats.org/officeDocument/2006/relationships" id="2147483650" r:id="R5cd30cb2624d4a8c"/>
    <p:sldLayoutId xmlns:r="http://schemas.openxmlformats.org/officeDocument/2006/relationships" id="2147483651" r:id="R37d4214cf38d4ece"/>
    <p:sldLayoutId xmlns:r="http://schemas.openxmlformats.org/officeDocument/2006/relationships" id="2147483652" r:id="R55f31ccb64f847b2"/>
    <p:sldLayoutId xmlns:r="http://schemas.openxmlformats.org/officeDocument/2006/relationships" id="2147483653" r:id="R9a85a067869f41d5"/>
    <p:sldLayoutId xmlns:r="http://schemas.openxmlformats.org/officeDocument/2006/relationships" id="2147483654" r:id="Rf8db2a51d3ba4ca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afc9c4a364459a" /><Relationship Type="http://schemas.openxmlformats.org/officeDocument/2006/relationships/notesSlide" Target="/ppt/notesSlides/notesSlide1.xml" Id="R451a50faf0b84f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FFCBA37-F8D8-413A-A9E5-1B2FBDFA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3840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한국어 질의로 영어 학술·기술 문서를 검색하는">
            <a:extLst xmlns:a="http://schemas.openxmlformats.org/drawingml/2006/main">
              <a:ext uri="{FF2B5EF4-FFF2-40B4-BE49-F238E27FC236}">
                <a16:creationId xmlns:a16="http://schemas.microsoft.com/office/drawing/2014/main" id="{CF6A9EFE-9309-41D9-B0E6-08CBC2A0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한국어 질의로 영어 학술·기술 문서를 검색하는</a:t>
            </a:r>
          </a:p>
        </p:txBody>
      </p:sp>
      <p:sp>
        <p:nvSpPr>
          <p:cNvPr id="3" name="RAG에서의 HyDE·CAD·SCD 조합 실험">
            <a:extLst xmlns:a="http://schemas.openxmlformats.org/drawingml/2006/main">
              <a:ext uri="{FF2B5EF4-FFF2-40B4-BE49-F238E27FC236}">
                <a16:creationId xmlns:a16="http://schemas.microsoft.com/office/drawing/2014/main" id="{8229CE57-BF15-49C3-80FE-4CA3BBE8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RAG에서의 HyDE·CAD·SCD 조합 실험</a:t>
            </a:r>
          </a:p>
        </p:txBody>
      </p:sp>
      <p:sp>
        <p:nvSpPr>
          <p:cNvPr id="4" name="문종건 · 동국대학교 WISE캠퍼스 컴퓨터공학과 · 지도교수 김진석 · 2026.10.15">
            <a:extLst xmlns:a="http://schemas.openxmlformats.org/drawingml/2006/main">
              <a:ext uri="{FF2B5EF4-FFF2-40B4-BE49-F238E27FC236}">
                <a16:creationId xmlns:a16="http://schemas.microsoft.com/office/drawing/2014/main" id="{8121914F-3FC7-47FC-B553-17AF6151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86025"/>
            <a:ext cx="2031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문종건 · 동국대학교 WISE캠퍼스 컴퓨터공학과 · 지도교수 김진석 · 2026.10.15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B09A36-D7BA-420F-B178-6486DBFE3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01 연구 배경과 목적">
            <a:extLst xmlns:a="http://schemas.openxmlformats.org/drawingml/2006/main">
              <a:ext uri="{FF2B5EF4-FFF2-40B4-BE49-F238E27FC236}">
                <a16:creationId xmlns:a16="http://schemas.microsoft.com/office/drawing/2014/main" id="{A82D139F-A585-4C95-8778-0CA0C6DF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 연구 배경과 목적</a:t>
            </a:r>
          </a:p>
        </p:txBody>
      </p:sp>
      <p:sp>
        <p:nvSpPr>
          <p:cNvPr id="7" name="검색 증강 생성(Retrieval-Augmented Generation, RAG)은 관련 문서 구간을 검색하고 그 텍">
            <a:extLst xmlns:a="http://schemas.openxmlformats.org/drawingml/2006/main">
              <a:ext uri="{FF2B5EF4-FFF2-40B4-BE49-F238E27FC236}">
                <a16:creationId xmlns:a16="http://schemas.microsoft.com/office/drawing/2014/main" id="{EB6A7530-B94A-4EF1-90B3-61CB5257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9729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증강 생성(Retrieval-Augmented Generation, RAG)은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 문서 구간을 검색하고 그 텍스트로 답변을 생성한다[1].</a:t>
            </a:r>
          </a:p>
        </p:txBody>
      </p:sp>
      <p:sp>
        <p:nvSpPr>
          <p:cNvPr id="8" name="HyDE: 가상 문서 임베딩(Hypothetical Document Embeddings) 가상 문서 검색 입력 구성[">
            <a:extLst xmlns:a="http://schemas.openxmlformats.org/drawingml/2006/main">
              <a:ext uri="{FF2B5EF4-FFF2-40B4-BE49-F238E27FC236}">
                <a16:creationId xmlns:a16="http://schemas.microsoft.com/office/drawing/2014/main" id="{9AF43210-6670-4D94-A512-60E4E6B8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5350"/>
            <a:ext cx="97299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가상 문서 임베딩(Hypothetical Document Embeddings)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가상 문서 검색 입력 구성[2]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CAD: 문맥 인식 디코딩(Context-Aware Decoding)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근거의 영향 조정[3]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SCD: 소프트 제약 디코딩(Soft Constrained Decoding)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출력 언어 제어[4]</a:t>
            </a:r>
          </a:p>
        </p:txBody>
      </p:sp>
      <p:sp>
        <p:nvSpPr>
          <p:cNvPr id="9" name="한국어 질의–영어 문서 RAG는 검색 어휘 차이, 근거 반영, 영어 출력(언어 이탈)의 문제를 함께 겪는다. 세 기법">
            <a:extLst xmlns:a="http://schemas.openxmlformats.org/drawingml/2006/main">
              <a:ext uri="{FF2B5EF4-FFF2-40B4-BE49-F238E27FC236}">
                <a16:creationId xmlns:a16="http://schemas.microsoft.com/office/drawing/2014/main" id="{05CB1B7C-BA96-4FBE-9C4D-C6B3BC62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질의–영어 문서 RAG는 검색 어휘 차이, 근거 반영,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영어 출력(언어 이탈)의 문제를 함께 겪는다. 세 기법의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단독 효과와 조합 효과를 같은 파이프라인에서 비교하였다.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29337B-1C3E-4E8A-A20B-25BCA4D2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3628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02 Paper-RAG 구조와 기법 적용 위치">
            <a:extLst xmlns:a="http://schemas.openxmlformats.org/drawingml/2006/main">
              <a:ext uri="{FF2B5EF4-FFF2-40B4-BE49-F238E27FC236}">
                <a16:creationId xmlns:a16="http://schemas.microsoft.com/office/drawing/2014/main" id="{2892CED4-99A6-4385-BD92-D7FDD088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3914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02 Paper-RAG 구조와 기법 적용 위치</a:t>
            </a:r>
          </a:p>
        </p:txBody>
      </p:sp>
      <p:sp>
        <p:nvSpPr>
          <p:cNvPr id="12" name="Paper-RAG는 실험에 사용한 고정 검색·생성 파이프라인이다.">
            <a:extLst xmlns:a="http://schemas.openxmlformats.org/drawingml/2006/main">
              <a:ext uri="{FF2B5EF4-FFF2-40B4-BE49-F238E27FC236}">
                <a16:creationId xmlns:a16="http://schemas.microsoft.com/office/drawing/2014/main" id="{13A10CF4-65B0-49FC-A74D-89376105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72425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Paper-RAG는 실험에 사용한 고정 검색·생성 파이프라인이다.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E41FC7-0000-4C3C-BEB4-DCE88E03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4" name="한국어 질의 HyDE OFF: 원질의 HyDE ON: 영어 번역·가상 문서">
            <a:extLst xmlns:a="http://schemas.openxmlformats.org/drawingml/2006/main">
              <a:ext uri="{FF2B5EF4-FFF2-40B4-BE49-F238E27FC236}">
                <a16:creationId xmlns:a16="http://schemas.microsoft.com/office/drawing/2014/main" id="{795980B4-227C-42FB-A623-F1056DA6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OFF: 원질의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ON: 영어 번역·가상 문서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C758B2-E228-43FE-BA10-AECD8326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16" name="BM25 희소 검색[6] 한국어 원질의 사용">
            <a:extLst xmlns:a="http://schemas.openxmlformats.org/drawingml/2006/main">
              <a:ext uri="{FF2B5EF4-FFF2-40B4-BE49-F238E27FC236}">
                <a16:creationId xmlns:a16="http://schemas.microsoft.com/office/drawing/2014/main" id="{980EF8C8-B2E1-4568-AB51-E366E17B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BM25 희소 검색[6]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원질의 사용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C85F8A-1885-4837-A756-64BAF5E6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63150"/>
            <a:ext cx="465543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8" name="BGE-M3 밀집 검색[5]">
            <a:extLst xmlns:a="http://schemas.openxmlformats.org/drawingml/2006/main">
              <a:ext uri="{FF2B5EF4-FFF2-40B4-BE49-F238E27FC236}">
                <a16:creationId xmlns:a16="http://schemas.microsoft.com/office/drawing/2014/main" id="{E79DB14E-7872-48D6-836E-2E6B3595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077450"/>
            <a:ext cx="450303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BGE-M3 밀집 검색[5]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79877C-BC1F-48A9-A684-457C75D6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9963150"/>
            <a:ext cx="4655438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0" name="가중 RRF[7] 0.6 / 0.4, k=60">
            <a:extLst xmlns:a="http://schemas.openxmlformats.org/drawingml/2006/main">
              <a:ext uri="{FF2B5EF4-FFF2-40B4-BE49-F238E27FC236}">
                <a16:creationId xmlns:a16="http://schemas.microsoft.com/office/drawing/2014/main" id="{5F4E13D4-09F5-4FF5-9ED4-D1107D7F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10077450"/>
            <a:ext cx="45030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가중 RRF[7]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0.6 / 0.4, k=60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0EA997-5400-4A4F-A43A-AF16996C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946844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E4E3E8-67ED-45D4-8ED4-C5B5FE70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6488" y="10115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541AF2-3412-49F4-93F8-9AE4EFE1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21381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36B8BC-4E9A-4C21-9FEB-09AE5EC6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10900"/>
            <a:ext cx="97299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5" name="원질의·구간 쌍 CrossEncoder 재정렬[8][M2] 상위 5개 구간 선택·입력 길이 관리">
            <a:extLst xmlns:a="http://schemas.openxmlformats.org/drawingml/2006/main">
              <a:ext uri="{FF2B5EF4-FFF2-40B4-BE49-F238E27FC236}">
                <a16:creationId xmlns:a16="http://schemas.microsoft.com/office/drawing/2014/main" id="{9C29ECE3-36F5-48C7-8DBD-F6494453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125200"/>
            <a:ext cx="95775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원질의·구간 쌍 CrossEncoder 재정렬[8][M2]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상위 5개 구간 선택·입력 길이 관리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8EC72F-991D-4D8A-8AC6-AB92F94E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134850"/>
            <a:ext cx="97299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16846F"/>
            </a:solidFill>
            <a:prstDash val="solid"/>
          </a:ln>
        </p:spPr>
      </p:sp>
      <p:sp>
        <p:nvSpPr>
          <p:cNvPr id="27" name="Mi:dm 2.0 Base Instruct[M1] CAD 로짓 결합 후 SCD 언어별 조정, 최종 답변 생성">
            <a:extLst xmlns:a="http://schemas.openxmlformats.org/drawingml/2006/main">
              <a:ext uri="{FF2B5EF4-FFF2-40B4-BE49-F238E27FC236}">
                <a16:creationId xmlns:a16="http://schemas.microsoft.com/office/drawing/2014/main" id="{386CB12E-7775-4250-8935-730C1362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249150"/>
            <a:ext cx="95775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Mi:dm 2.0 Base Instruct[M1]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로짓 결합 후 SCD 언어별 조정, 최종 답변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213171-B882-4476-BE6E-85A35C55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0772775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CECB89-D444-434C-A688-9DEDEF25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1887200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23C963-8242-4C34-BFA3-ED8F9DB7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2397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03 3요인 완전요인 실험 설계">
            <a:extLst xmlns:a="http://schemas.openxmlformats.org/drawingml/2006/main">
              <a:ext uri="{FF2B5EF4-FFF2-40B4-BE49-F238E27FC236}">
                <a16:creationId xmlns:a16="http://schemas.microsoft.com/office/drawing/2014/main" id="{4B0C7AC3-600C-46B2-AC18-8E09B277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2683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03 3요인 완전요인 실험 설계</a:t>
            </a:r>
          </a:p>
        </p:txBody>
      </p:sp>
      <p:sp>
        <p:nvSpPr>
          <p:cNvPr id="32" name="H=HyDE, C=CAD, S=SCD   0=미적용, 1=적용">
            <a:extLst xmlns:a="http://schemas.openxmlformats.org/drawingml/2006/main">
              <a:ext uri="{FF2B5EF4-FFF2-40B4-BE49-F238E27FC236}">
                <a16:creationId xmlns:a16="http://schemas.microsoft.com/office/drawing/2014/main" id="{F7296614-64AC-4133-8F1B-7C78554D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H=HyDE, C=CAD, S=SCD   0=미적용, 1=적용</a:t>
            </a:r>
          </a:p>
        </p:txBody>
      </p:sp>
      <p:graphicFrame>
        <p:nvGraphicFrame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38EC8E-C0DE-4102-B6A4-FE68EF3AB2AE}"/>
              </a:ext>
            </a:extLst>
          </p:cNvPr>
          <p:cNvGraphicFramePr/>
          <p:nvPr/>
        </p:nvGraphicFramePr>
        <p:xfrm>
          <a:off xmlns:a="http://schemas.openxmlformats.org/drawingml/2006/main" x="704850" y="14258925"/>
          <a:ext xmlns:a="http://schemas.openxmlformats.org/drawingml/2006/main" cx="9729975" cy="3086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5789"/>
                <a:gridCol w="1751396"/>
                <a:gridCol w="1751396"/>
                <a:gridCol w="1751396"/>
              </a:tblGrid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34" name="같은 질의 60개 × 8조건 반복측정 = 480개 생성 기록">
            <a:extLst xmlns:a="http://schemas.openxmlformats.org/drawingml/2006/main">
              <a:ext uri="{FF2B5EF4-FFF2-40B4-BE49-F238E27FC236}">
                <a16:creationId xmlns:a16="http://schemas.microsoft.com/office/drawing/2014/main" id="{C00A9B81-3677-4337-8A34-32E9D8DB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같은 질의 60개 × 8조건 반복측정 = 480개 생성 기록</a:t>
            </a:r>
          </a:p>
        </p:txBody>
      </p:sp>
      <p:sp>
        <p:nvSpPr>
          <p:cNvPr id="35" name="생성 512토큰, CAD α=0.5, SCD α=1.1·β=0.9·Tstart=5">
            <a:extLst xmlns:a="http://schemas.openxmlformats.org/drawingml/2006/main">
              <a:ext uri="{FF2B5EF4-FFF2-40B4-BE49-F238E27FC236}">
                <a16:creationId xmlns:a16="http://schemas.microsoft.com/office/drawing/2014/main" id="{31E06A9F-EFAD-4722-A4AA-B2664CBC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451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512토큰, CAD α=0.5, SCD α=1.1·β=0.9·Tstart=5</a:t>
            </a:r>
          </a:p>
        </p:txBody>
      </p:sp>
      <p:sp>
        <p:nvSpPr>
          <p:cNvPr id="36" name="문서마다 주요 내용을 15개 단위로 요약해 단위별 질의를 작성하고, 총 60개 질의의 원문 페이지·정답 근거·답변 가">
            <a:extLst xmlns:a="http://schemas.openxmlformats.org/drawingml/2006/main">
              <a:ext uri="{FF2B5EF4-FFF2-40B4-BE49-F238E27FC236}">
                <a16:creationId xmlns:a16="http://schemas.microsoft.com/office/drawing/2014/main" id="{8A5A6229-6977-4288-90AB-2022F9442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383250"/>
            <a:ext cx="97299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문서마다 주요 내용을 15개 단위로 요약해 단위별 질의를 작성하고,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총 60개 질의의 원문 페이지·정답 근거·답변 가능성을 확인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538A734-E8FC-45E0-B051-76F6BE12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1452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04 평가 지표 및 실험·통계 방법">
            <a:extLst xmlns:a="http://schemas.openxmlformats.org/drawingml/2006/main">
              <a:ext uri="{FF2B5EF4-FFF2-40B4-BE49-F238E27FC236}">
                <a16:creationId xmlns:a16="http://schemas.microsoft.com/office/drawing/2014/main" id="{42350E51-28E2-4290-87E7-5CCC12CF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1738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04 평가 지표 및 실험·통계 방법</a:t>
            </a:r>
          </a:p>
        </p:txBody>
      </p:sp>
      <p:sp>
        <p:nvSpPr>
          <p:cNvPr id="39" name="근거 충실도: 높을수록 검색 결과가 뒷받침하는 답변 주장 비율이 크다. 답변 관련성: 높을수록 답변 기반 질문과 원질">
            <a:extLst xmlns:a="http://schemas.openxmlformats.org/drawingml/2006/main">
              <a:ext uri="{FF2B5EF4-FFF2-40B4-BE49-F238E27FC236}">
                <a16:creationId xmlns:a16="http://schemas.microsoft.com/office/drawing/2014/main" id="{0FC12234-BB8E-42E8-BDD8-10CCFAE0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716750"/>
            <a:ext cx="97299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근거 충실도: 높을수록 검색 결과가 뒷받침하는 답변 주장 비율이 크다.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답변 관련성: 높을수록 답변 기반 질문과 원질문의 의미가 가깝다.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정밀도: 높을수록 참조 답변에 유용한 구간이 상위에 놓인다.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재현율: 높을수록 검색 근거가 포괄하는 참조 답변 비중이 크다.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비율: 한글 / (한글 + ASCII 영문자), 높을수록 한글 비중이 크다.</a:t>
            </a:r>
          </a:p>
        </p:txBody>
      </p:sp>
      <p:sp>
        <p:nvSpPr>
          <p:cNvPr id="40" name="품질 관측값은 0~1이다. 차이 = ON − OFF 평균. 한국어 비율 0.700은 70.0%, 차이 +0.218은 ">
            <a:extLst xmlns:a="http://schemas.openxmlformats.org/drawingml/2006/main">
              <a:ext uri="{FF2B5EF4-FFF2-40B4-BE49-F238E27FC236}">
                <a16:creationId xmlns:a16="http://schemas.microsoft.com/office/drawing/2014/main" id="{052DBE33-B6D7-4FF5-BC2E-FE9919F45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93125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관측값은 0~1이다. 차이 = ON − OFF 평균.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 0.700은 70.0%, 차이 +0.218은 +21.8%p다.</a:t>
            </a:r>
          </a:p>
        </p:txBody>
      </p:sp>
      <p:sp>
        <p:nvSpPr>
          <p:cNvPr id="41" name="평가 예시  ext_raptor_011, H0C0S0">
            <a:extLst xmlns:a="http://schemas.openxmlformats.org/drawingml/2006/main">
              <a:ext uri="{FF2B5EF4-FFF2-40B4-BE49-F238E27FC236}">
                <a16:creationId xmlns:a16="http://schemas.microsoft.com/office/drawing/2014/main" id="{42463BC7-C840-4FFE-9853-E1E98292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98000"/>
            <a:ext cx="9729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 예시  ext_raptor_011, H0C0S0</a:t>
            </a:r>
          </a:p>
        </p:txBody>
      </p:sp>
      <p:sp>
        <p:nvSpPr>
          <p:cNvPr id="42" name="질문: Cinderella 사례의 정성 분석에서 RAPTOR의 tree-based retrieval이 DPR보다 주제">
            <a:extLst xmlns:a="http://schemas.openxmlformats.org/drawingml/2006/main">
              <a:ext uri="{FF2B5EF4-FFF2-40B4-BE49-F238E27FC236}">
                <a16:creationId xmlns:a16="http://schemas.microsoft.com/office/drawing/2014/main" id="{D3195CCF-9D16-4A11-8D07-41D84178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02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질문: Cinderella 사례의 정성 분석에서 RAPTOR의 tree-based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retrieval이 DPR보다 주제형·멀티홉 질문에 유리했던 이유는 무엇입니까?</a:t>
            </a:r>
          </a:p>
        </p:txBody>
      </p:sp>
      <p:sp>
        <p:nvSpPr>
          <p:cNvPr id="43" name="검색 근거(PDF p.9): “By providing both the original text and higher-l">
            <a:extLst xmlns:a="http://schemas.openxmlformats.org/drawingml/2006/main">
              <a:ext uri="{FF2B5EF4-FFF2-40B4-BE49-F238E27FC236}">
                <a16:creationId xmlns:a16="http://schemas.microsoft.com/office/drawing/2014/main" id="{8759FD28-866F-42A1-A29E-61ED7741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9933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근거(PDF p.9): “By providing both the original text and higher-level summaries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for retrieval, RAPTOR can effectively handle a wider range of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questions, from higher-order thematic queries to detail-oriented questions.”</a:t>
            </a:r>
          </a:p>
        </p:txBody>
      </p:sp>
      <p:sp>
        <p:nvSpPr>
          <p:cNvPr id="44" name="참조 답변 요지(PDF p.20): RAPTOR는 이야기의 주요 부분을, DPR은 이야기의 좁은 일부를 자세히 검색한">
            <a:extLst xmlns:a="http://schemas.openxmlformats.org/drawingml/2006/main">
              <a:ext uri="{FF2B5EF4-FFF2-40B4-BE49-F238E27FC236}">
                <a16:creationId xmlns:a16="http://schemas.microsoft.com/office/drawing/2014/main" id="{154FEC9A-6A38-417F-9D52-30F629604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791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참조 답변 요지(PDF p.20): RAPTOR는 이야기의 주요 부분을,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DPR은 이야기의 좁은 일부를 자세히 검색한다.</a:t>
            </a:r>
          </a:p>
        </p:txBody>
      </p:sp>
      <p:sp>
        <p:nvSpPr>
          <p:cNvPr id="45" name="생성 답변 발췌: “질문의 요구사항에 따라 서로 다른 층위(layer)에서 노드를 선택할 수 있습니다.”">
            <a:extLst xmlns:a="http://schemas.openxmlformats.org/drawingml/2006/main">
              <a:ext uri="{FF2B5EF4-FFF2-40B4-BE49-F238E27FC236}">
                <a16:creationId xmlns:a16="http://schemas.microsoft.com/office/drawing/2014/main" id="{A5843330-FCC8-473E-B9C8-72232576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46972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답변 발췌: “질문의 요구사항에 따라 서로 다른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층위(layer)에서 노드를 선택할 수 있습니다.”</a:t>
            </a:r>
          </a:p>
        </p:txBody>
      </p:sp>
      <p:sp>
        <p:nvSpPr>
          <p:cNvPr id="46" name="충실도 1.000: 추출된 답변 주장을 검색 결과가 모두 지지 관련성 0.937: 답변 기반 질문과 원질문의 평균 의">
            <a:extLst xmlns:a="http://schemas.openxmlformats.org/drawingml/2006/main">
              <a:ext uri="{FF2B5EF4-FFF2-40B4-BE49-F238E27FC236}">
                <a16:creationId xmlns:a16="http://schemas.microsoft.com/office/drawing/2014/main" id="{C7D6F98D-F8B2-4BCD-8DB6-5D8BD9C1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069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1.000: 추출된 답변 주장을 검색 결과가 모두 지지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관련성 0.937: 답변 기반 질문과 원질문의 평균 의미 유사도</a:t>
            </a:r>
          </a:p>
        </p:txBody>
      </p:sp>
      <p:sp>
        <p:nvSpPr>
          <p:cNvPr id="47" name="평가: RAGAS 0.2.15[10]·gpt-4o·BGE-M3, 저장 답변 평가 평가 언어: S0 영어 / S1 한국">
            <a:extLst xmlns:a="http://schemas.openxmlformats.org/drawingml/2006/main">
              <a:ext uri="{FF2B5EF4-FFF2-40B4-BE49-F238E27FC236}">
                <a16:creationId xmlns:a16="http://schemas.microsoft.com/office/drawing/2014/main" id="{5071E758-DA13-4CB7-8950-D2EC90A99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6698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평가: RAGAS 0.2.15[10]·gpt-4o·BGE-M3, 저장 답변 평가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 언어: S0 영어 / S1 한국어 번역, 생성 입력은 모두 영어</a:t>
            </a:r>
          </a:p>
        </p:txBody>
      </p:sp>
      <p:sp>
        <p:nvSpPr>
          <p:cNvPr id="48" name="반복측정 분산분석(ANOVA)·대응 t-검정, 양측 α=0.05 품질: SCD 상태별 H×C / 한국어 비율·시간: ">
            <a:extLst xmlns:a="http://schemas.openxmlformats.org/drawingml/2006/main">
              <a:ext uri="{FF2B5EF4-FFF2-40B4-BE49-F238E27FC236}">
                <a16:creationId xmlns:a16="http://schemas.microsoft.com/office/drawing/2014/main" id="{5E57602E-2261-42A2-9DB3-1EFC285C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반복측정 분산분석(ANOVA)·대응 t-검정, 양측 α=0.05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품질: SCD 상태별 H×C / 한국어 비율·시간: H×C×S, SCD 대응쌍은 질의별 평균(n=60)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AD37014-39C4-4F6D-BAE7-0DECC6DE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05 조합별 결과와 통계 검정">
            <a:extLst xmlns:a="http://schemas.openxmlformats.org/drawingml/2006/main">
              <a:ext uri="{FF2B5EF4-FFF2-40B4-BE49-F238E27FC236}">
                <a16:creationId xmlns:a16="http://schemas.microsoft.com/office/drawing/2014/main" id="{17283022-CED4-43EC-A4A4-3DCE02B09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05 조합별 결과와 통계 검정</a:t>
            </a:r>
          </a:p>
        </p:txBody>
      </p:sp>
      <p:sp>
        <p:nvSpPr>
          <p:cNvPr id="51" name="HyDE·CAD·SCD 8조합의 품질·한국어 비율·시간 평균(SD)">
            <a:extLst xmlns:a="http://schemas.openxmlformats.org/drawingml/2006/main">
              <a:ext uri="{FF2B5EF4-FFF2-40B4-BE49-F238E27FC236}">
                <a16:creationId xmlns:a16="http://schemas.microsoft.com/office/drawing/2014/main" id="{F1BBD6C3-D66C-4D86-B241-5F385271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4095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HyDE·CAD·SCD 8조합의 품질·한국어 비율·시간 평균(SD)</a:t>
            </a:r>
          </a:p>
        </p:txBody>
      </p:sp>
      <p:graphicFrame>
        <p:nvGraphicFrame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4A0EB5B-A82B-45D7-AF25-903592368B34}"/>
              </a:ext>
            </a:extLst>
          </p:cNvPr>
          <p:cNvGraphicFramePr/>
          <p:nvPr/>
        </p:nvGraphicFramePr>
        <p:xfrm>
          <a:off xmlns:a="http://schemas.openxmlformats.org/drawingml/2006/main" x="10949175" y="4610100"/>
          <a:ext xmlns:a="http://schemas.openxmlformats.org/drawingml/2006/main" cx="9729975" cy="617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56796"/>
                <a:gridCol w="1362197"/>
                <a:gridCol w="1362197"/>
                <a:gridCol w="1362197"/>
                <a:gridCol w="1362197"/>
                <a:gridCol w="1362197"/>
                <a:gridCol w="1362197"/>
              </a:tblGrid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충실도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관련성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정밀도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0.791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0.683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0.494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20.792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(23.404)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0.675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63.867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(25.312)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0.556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23.440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(4.707)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0.705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0.503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73.532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(21.584)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0.787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0.637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0.699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18.898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(5.085)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0.850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55.159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(26.465)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0.822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0.807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24.892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(5.196)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0.667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64.125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(21.675)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A4F8771-8813-4F9F-A387-3EE67CBB3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8024813"/>
            <a:ext cx="9729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S0: 영어로 평가 / S1: 한국어 번역으로 평가 충실도 H0C1S0 n=58, H0C0S1 n=57, 나머지 n=">
            <a:extLst xmlns:a="http://schemas.openxmlformats.org/drawingml/2006/main">
              <a:ext uri="{FF2B5EF4-FFF2-40B4-BE49-F238E27FC236}">
                <a16:creationId xmlns:a16="http://schemas.microsoft.com/office/drawing/2014/main" id="{314DD4E3-DD82-4F16-9D78-EC57094D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0963275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S0: 영어로 평가 / S1: 한국어 번역으로 평가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H0C1S0 n=58, H0C0S1 n=57, 나머지 n=60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비율·시간(초)은 RAGAS를 거치지 않고 직접 계산</a:t>
            </a:r>
          </a:p>
        </p:txBody>
      </p:sp>
      <p:sp>
        <p:nvSpPr>
          <p:cNvPr id="55" name="3요인 반복측정 ANOVA  ·  각 효과 df=(1,59)">
            <a:extLst xmlns:a="http://schemas.openxmlformats.org/drawingml/2006/main">
              <a:ext uri="{FF2B5EF4-FFF2-40B4-BE49-F238E27FC236}">
                <a16:creationId xmlns:a16="http://schemas.microsoft.com/office/drawing/2014/main" id="{6BF9FBDC-A32F-4789-AACC-54C2D484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21158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3요인 반복측정 ANOVA  ·  각 효과 df=(1,59)</a:t>
            </a:r>
          </a:p>
        </p:txBody>
      </p:sp>
      <p:graphicFrame>
        <p:nvGraphicFrame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DDDF60B-3C9A-47EA-83CD-A6842FECA7C9}"/>
              </a:ext>
            </a:extLst>
          </p:cNvPr>
          <p:cNvGraphicFramePr/>
          <p:nvPr/>
        </p:nvGraphicFramePr>
        <p:xfrm>
          <a:off xmlns:a="http://schemas.openxmlformats.org/drawingml/2006/main" x="10949175" y="12601575"/>
          <a:ext xmlns:a="http://schemas.openxmlformats.org/drawingml/2006/main" cx="9729975" cy="4010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48695"/>
                <a:gridCol w="2140595"/>
                <a:gridCol w="1751396"/>
                <a:gridCol w="2140595"/>
                <a:gridCol w="1848695"/>
              </a:tblGrid>
              <a:tr h="6096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요인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 시간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2.924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0.093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16.362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0.072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423.765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341.302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6.097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0.016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4.417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0.138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0.384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0.529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12.080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1.035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p&lt;0.05: 한국어 비율 S·H×C* / 실행 시간 H·C·S*·C×S (*유의수준 근처의 탐색적 결과) RAGAS">
            <a:extLst xmlns:a="http://schemas.openxmlformats.org/drawingml/2006/main">
              <a:ext uri="{FF2B5EF4-FFF2-40B4-BE49-F238E27FC236}">
                <a16:creationId xmlns:a16="http://schemas.microsoft.com/office/drawing/2014/main" id="{2C380E27-FBC0-4C2D-90F9-B53370C82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6764000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p&lt;0.05: 한국어 비율 S·H×C* / 실행 시간 H·C·S*·C×S (*유의수준 근처의 탐색적 결과)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RAGAS H×C 검정은 평가 언어별로 수행했으며,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4지표 24검정의 p는 모두 0.05 이상이었다.</a:t>
            </a:r>
          </a:p>
        </p:txBody>
      </p:sp>
      <p:sp>
        <p:nvSpPr>
          <p:cNvPr id="58" name="기법별 대응 비교  ·  질의별 평균 차이, 양측 검정">
            <a:extLst xmlns:a="http://schemas.openxmlformats.org/drawingml/2006/main">
              <a:ext uri="{FF2B5EF4-FFF2-40B4-BE49-F238E27FC236}">
                <a16:creationId xmlns:a16="http://schemas.microsoft.com/office/drawing/2014/main" id="{A9FDAFE2-6273-4DDF-8593-E035E823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7811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기법별 대응 비교  ·  질의별 평균 차이, 양측 검정</a:t>
            </a:r>
          </a:p>
        </p:txBody>
      </p:sp>
      <p:graphicFrame>
        <p:nvGraphicFrame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F6A9977-4B0B-4527-B348-A389D9023DE4}"/>
              </a:ext>
            </a:extLst>
          </p:cNvPr>
          <p:cNvGraphicFramePr/>
          <p:nvPr/>
        </p:nvGraphicFramePr>
        <p:xfrm>
          <a:off xmlns:a="http://schemas.openxmlformats.org/drawingml/2006/main" x="10949175" y="18316575"/>
          <a:ext xmlns:a="http://schemas.openxmlformats.org/drawingml/2006/main" cx="9729975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32494"/>
                <a:gridCol w="2237894"/>
                <a:gridCol w="1945995"/>
                <a:gridCol w="1556796"/>
                <a:gridCol w="1556796"/>
              </a:tblGrid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비교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(SD)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t(df)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dz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HyDE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 관련성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0.080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2.236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0.289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CAD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 충실도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0.393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SCD H0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0.218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13.951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1.801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HyDE: C0S0, CAD: H0S0, SCD: H0의 CAD 상태 평균 p: 다중비교 보정 없는 양측 p, dz:">
            <a:extLst xmlns:a="http://schemas.openxmlformats.org/drawingml/2006/main">
              <a:ext uri="{FF2B5EF4-FFF2-40B4-BE49-F238E27FC236}">
                <a16:creationId xmlns:a16="http://schemas.microsoft.com/office/drawing/2014/main" id="{1E2E695C-A79C-4009-B989-D09346E7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156460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C0S0, CAD: H0S0, SCD: H0의 CAD 상태 평균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p: 다중비교 보정 없는 양측 p, dz: 차이 평균/차이 SD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평균표 SD는 점수의 산포, 대응표 SD는 ON−OFF 차이의 산포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75C7A03-AEDB-454E-B226-0987C1C2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252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06 결과 해석">
            <a:extLst xmlns:a="http://schemas.openxmlformats.org/drawingml/2006/main">
              <a:ext uri="{FF2B5EF4-FFF2-40B4-BE49-F238E27FC236}">
                <a16:creationId xmlns:a16="http://schemas.microsoft.com/office/drawing/2014/main" id="{7E6AD3EF-65F1-4B1C-9845-DB45F2C9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255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06 결과 해석</a:t>
            </a:r>
          </a:p>
        </p:txBody>
      </p:sp>
      <p:sp>
        <p:nvSpPr>
          <p:cNvPr id="63" name="HyDE: 기본 조건에서 관련성이 유의하게 높았으나(p=0.029), SCD 적용 조건의 추가 비교에서는 p=0.11">
            <a:extLst xmlns:a="http://schemas.openxmlformats.org/drawingml/2006/main">
              <a:ext uri="{FF2B5EF4-FFF2-40B4-BE49-F238E27FC236}">
                <a16:creationId xmlns:a16="http://schemas.microsoft.com/office/drawing/2014/main" id="{391FEC8D-D043-4DE0-90DC-C32E507BC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3050500"/>
            <a:ext cx="97299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기본 조건에서 관련성이 유의하게 높았으나(p=0.029),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 적용 조건의 추가 비교에서는 p=0.114였다.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CAD: 충실도 차이는 작았고(p=0.393), 실행 시간은 약 2.9배였다.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SCD: 네 조합 모두에서 한국어 문자 비율이 높았고, CAD와 함께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쓰면 CAD의 추가 시간이 약 9초 줄었다(C×S, p&lt;0.001).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E4E6D9F-FF64-426C-9282-B1292F0E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45935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07 결론">
            <a:extLst xmlns:a="http://schemas.openxmlformats.org/drawingml/2006/main">
              <a:ext uri="{FF2B5EF4-FFF2-40B4-BE49-F238E27FC236}">
                <a16:creationId xmlns:a16="http://schemas.microsoft.com/office/drawing/2014/main" id="{2FC9ABC9-3D15-44CE-81B0-0F678545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46221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07 결론</a:t>
            </a:r>
          </a:p>
        </p:txBody>
      </p:sp>
      <p:sp>
        <p:nvSpPr>
          <p:cNvPr id="66" name="한국어 답변이 필요하면 SCD가 비용이 작은 선택지다. HyDE의 관련성 향상은 기본 조건(C0S0)에서 관측되었고,">
            <a:extLst xmlns:a="http://schemas.openxmlformats.org/drawingml/2006/main">
              <a:ext uri="{FF2B5EF4-FFF2-40B4-BE49-F238E27FC236}">
                <a16:creationId xmlns:a16="http://schemas.microsoft.com/office/drawing/2014/main" id="{CC87F262-3418-49C9-A3A1-B0D141AA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5193625"/>
            <a:ext cx="9729975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답변이 필요하면 SCD가 비용이 작은 선택지다.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HyDE의 관련성 향상은 기본 조건(C0S0)에서 관측되었고,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이 차이에는 질의 번역과 가상 문서 생성이 함께 포함되었다.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CAD는 시간 비용이 커서(약 2.9배; SCD 미적용 3.1배, 적용 2.7배),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지식 충돌형 질의처럼 효과가 기대될 때 선택적으로 검토한다.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후속 실험: 번역 단독 조건, 반복 생성·평가, 한국어 사람 평가.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6F16CB1-C36A-4429-A2D3-54C3A5D4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0"/>
            <a:ext cx="1997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08 주요 참고문헌">
            <a:extLst xmlns:a="http://schemas.openxmlformats.org/drawingml/2006/main">
              <a:ext uri="{FF2B5EF4-FFF2-40B4-BE49-F238E27FC236}">
                <a16:creationId xmlns:a16="http://schemas.microsoft.com/office/drawing/2014/main" id="{0D58FB18-D2FD-4165-BC4A-9C5E5403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79575"/>
            <a:ext cx="1978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08 주요 참고문헌</a:t>
            </a:r>
          </a:p>
        </p:txBody>
      </p:sp>
      <p:sp>
        <p:nvSpPr>
          <p:cNvPr id="69" name="[1] Lewis et al. RAG. NeurIPS, 2020. [2] Gao et al. HyDE. ACL, 20">
            <a:extLst xmlns:a="http://schemas.openxmlformats.org/drawingml/2006/main">
              <a:ext uri="{FF2B5EF4-FFF2-40B4-BE49-F238E27FC236}">
                <a16:creationId xmlns:a16="http://schemas.microsoft.com/office/drawing/2014/main" id="{E164C105-BD18-402E-BEED-BA5D4C47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[1] Lewis et al. RAG. NeurIPS, 2020.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[2] Gao et al. HyDE. ACL, 2023.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[3] Shi et al. Context-Aware Decoding. NAACL, 2024.</a:t>
            </a:r>
          </a:p>
        </p:txBody>
      </p:sp>
      <p:sp>
        <p:nvSpPr>
          <p:cNvPr id="70" name="[4] Li et al. Language Drift and SCD. AAAI, 2026. [5] Chen et al.">
            <a:extLst xmlns:a="http://schemas.openxmlformats.org/drawingml/2006/main">
              <a:ext uri="{FF2B5EF4-FFF2-40B4-BE49-F238E27FC236}">
                <a16:creationId xmlns:a16="http://schemas.microsoft.com/office/drawing/2014/main" id="{8DBAD3F8-7E2B-4D1C-AA17-F50456C9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[4] Li et al. Language Drift and SCD. AAAI, 2026.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[5] Chen et al. M3-Embedding. ACL Findings, 2024.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[10] Es et al. RAGAs. EACL Demonstrations, 2024.</a:t>
            </a:r>
          </a:p>
        </p:txBody>
      </p:sp>
      <p:sp>
        <p:nvSpPr>
          <p:cNvPr id="71" name="[6] Robertson et al. Okapi at TREC-3. NIST, 1995. [7] Cormack et ">
            <a:extLst xmlns:a="http://schemas.openxmlformats.org/drawingml/2006/main">
              <a:ext uri="{FF2B5EF4-FFF2-40B4-BE49-F238E27FC236}">
                <a16:creationId xmlns:a16="http://schemas.microsoft.com/office/drawing/2014/main" id="{1CFB87A3-25F3-4CF6-A411-DD9B3CF8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[6] Robertson et al. Okapi at TREC-3. NIST, 1995.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[7] Cormack et al. Reciprocal Rank Fusion. SIGIR, 2009.</a:t>
            </a:r>
          </a:p>
        </p:txBody>
      </p:sp>
      <p:sp>
        <p:nvSpPr>
          <p:cNvPr id="72" name="[8] MacAvaney et al. CEDR. SIGIR, 2019. 공식 모델  [M1] KT Mi:dm 2.0 ">
            <a:extLst xmlns:a="http://schemas.openxmlformats.org/drawingml/2006/main">
              <a:ext uri="{FF2B5EF4-FFF2-40B4-BE49-F238E27FC236}">
                <a16:creationId xmlns:a16="http://schemas.microsoft.com/office/drawing/2014/main" id="{FA0D2E31-FAB9-45E3-A944-0B173814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[8] MacAvaney et al. CEDR. SIGIR, 2019.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공식 모델  [M1] KT Mi:dm 2.0 / [M2] MiniLM CrossEncoder</a:t>
            </a:r>
          </a:p>
        </p:txBody>
      </p:sp>
      <p:sp>
        <p:nvSpPr>
          <p:cNvPr id="73" name="전체 참고문헌 22편과 모델·자료 출처는 논문의 참고문헌에 수록">
            <a:extLst xmlns:a="http://schemas.openxmlformats.org/drawingml/2006/main">
              <a:ext uri="{FF2B5EF4-FFF2-40B4-BE49-F238E27FC236}">
                <a16:creationId xmlns:a16="http://schemas.microsoft.com/office/drawing/2014/main" id="{E40C1743-BE43-4DD1-A944-0F2A948C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56050"/>
            <a:ext cx="19974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전체 참고문헌 22편과 모델·자료 출처는 논문의 참고문헌에 수록</a:t>
            </a:r>
          </a:p>
        </p:txBody>
      </p:sp>
      <p:sp>
        <p:nvSpPr>
          <p:cNvPr id="74" name="영어 문서 4종 · 질의 60개 · 생성 모델 1종 · 질의별 반복측정">
            <a:extLst xmlns:a="http://schemas.openxmlformats.org/drawingml/2006/main">
              <a:ext uri="{FF2B5EF4-FFF2-40B4-BE49-F238E27FC236}">
                <a16:creationId xmlns:a16="http://schemas.microsoft.com/office/drawing/2014/main" id="{4DC9917E-4A31-4AA2-B2DC-BE7BBA24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670375"/>
            <a:ext cx="1997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영어 문서 4종 · 질의 60개 · 생성 모델 1종 · 질의별 반복측정</a:t>
            </a:r>
          </a:p>
        </p:txBody>
      </p:sp>
      <p:sp>
        <p:nvSpPr>
          <p:cNvPr id="75" name="A1 594 × 841 mm">
            <a:extLst xmlns:a="http://schemas.openxmlformats.org/drawingml/2006/main">
              <a:ext uri="{FF2B5EF4-FFF2-40B4-BE49-F238E27FC236}">
                <a16:creationId xmlns:a16="http://schemas.microsoft.com/office/drawing/2014/main" id="{500B2A7D-9923-424D-B433-089D3CB2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889450"/>
            <a:ext cx="19974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A1 594 × 841 mm</a:t>
            </a:r>
          </a:p>
        </p:txBody>
      </p:sp>
    </p:spTree>
    <p:extLst>
      <p:ext uri="{BB962C8B-B14F-4D97-AF65-F5344CB8AC3E}">
        <p14:creationId xmlns:p14="http://schemas.microsoft.com/office/powerpoint/2010/main" val="18734061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2026-10-18T10:10:08.1620000Z</dcterms:created>
  <dcterms:modified xsi:type="dcterms:W3CDTF">2026-10-18T10:10:08.1630000Z</dcterms:modified>
</coreProperties>
</file>