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1384000" cy="3027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1384000" cy="3312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2000" y="468000"/>
            <a:ext cx="19800000" cy="1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6400" b="1">
                <a:solidFill>
                  <a:srgbClr val="FFFFFF"/>
                </a:solidFill>
                <a:latin typeface="Malgun Gothic"/>
                <a:ea typeface="Malgun Gothic"/>
              </a:rPr>
              <a:t>한국어 질의로 영어 학술·기술 문서를 검색하는</a:t>
            </a:r>
          </a:p>
          <a:p>
            <a:pPr algn="ctr">
              <a:lnSpc>
                <a:spcPct val="105000"/>
              </a:lnSpc>
            </a:pPr>
            <a:r>
              <a:rPr sz="6400" b="1">
                <a:solidFill>
                  <a:srgbClr val="FFFFFF"/>
                </a:solidFill>
                <a:latin typeface="Malgun Gothic"/>
                <a:ea typeface="Malgun Gothic"/>
              </a:rPr>
              <a:t>RAG에서의 HyDE·CAD·SCD 조합 실험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2520000"/>
            <a:ext cx="19800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0">
                <a:solidFill>
                  <a:srgbClr val="FFFFFF"/>
                </a:solidFill>
                <a:latin typeface="Malgun Gothic"/>
                <a:ea typeface="Malgun Gothic"/>
              </a:rPr>
              <a:t>질문 유형별 점수 변화와 실제 검색·답변 분석</a:t>
            </a:r>
          </a:p>
        </p:txBody>
      </p:sp>
      <p:sp>
        <p:nvSpPr>
          <p:cNvPr id="5" name="Rectangle 4"/>
          <p:cNvSpPr/>
          <p:nvPr/>
        </p:nvSpPr>
        <p:spPr>
          <a:xfrm>
            <a:off x="792000" y="3672000"/>
            <a:ext cx="9612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6000" y="3697200"/>
            <a:ext cx="9324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01 연구 배경과 목적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4284000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한국어 질문으로 영어 논문을 검색해 한국어로 답하는 RAG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00" y="4726066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검색 입력(HyDE), 근거 반영(CAD), 출력 언어(SCD)를 조정하는 세 기법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5168132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같은 질문 60개에 여덟 조건을 적용해 질문 유형별 변화를 비교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2000" y="5754198"/>
            <a:ext cx="9612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6000" y="5779398"/>
            <a:ext cx="9324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02 파이프라인과 기법 적용 위치</a:t>
            </a:r>
          </a:p>
        </p:txBody>
      </p:sp>
      <p:pic>
        <p:nvPicPr>
          <p:cNvPr id="12" name="Picture 11" descr="poster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6366198"/>
            <a:ext cx="9612000" cy="3661714"/>
          </a:xfrm>
          <a:prstGeom prst="rect">
            <a:avLst/>
          </a:prstGeom>
        </p:spPr>
      </p:pic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92000" y="10135912"/>
          <a:ext cx="9611996" cy="3008871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428810"/>
                <a:gridCol w="1428810"/>
                <a:gridCol w="1428810"/>
                <a:gridCol w="1428810"/>
                <a:gridCol w="3896756"/>
              </a:tblGrid>
              <a:tr h="334319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3044"/>
                          </a:solidFill>
                          <a:latin typeface="Malgun Gothic"/>
                        </a:rPr>
                        <a:t>조건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3044"/>
                          </a:solidFill>
                          <a:latin typeface="Malgun Gothic"/>
                        </a:rPr>
                        <a:t>HyDE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3044"/>
                          </a:solidFill>
                          <a:latin typeface="Malgun Gothic"/>
                        </a:rPr>
                        <a:t>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3044"/>
                          </a:solidFill>
                          <a:latin typeface="Malgun Gothic"/>
                        </a:rPr>
                        <a:t>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3044"/>
                          </a:solidFill>
                          <a:latin typeface="Malgun Gothic"/>
                        </a:rPr>
                        <a:t>조건 이름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34319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미적용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34319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34319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HyDE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34319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HyDE+CAD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34319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34319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CAD+SCD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34319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HyDE+SCD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34319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HyDE+CAD+SCD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792000" y="13252789"/>
            <a:ext cx="9612000" cy="6370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63044"/>
                </a:solidFill>
                <a:latin typeface="Malgun Gothic"/>
                <a:ea typeface="Malgun Gothic"/>
              </a:rPr>
              <a:t>- HyDE: Hypothetical Document Embeddings
  CAD: Context-Aware Decoding · SCD: Soft Constrained Decoding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13979861"/>
            <a:ext cx="9612000" cy="318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63044"/>
                </a:solidFill>
                <a:latin typeface="Malgun Gothic"/>
                <a:ea typeface="Malgun Gothic"/>
              </a:rPr>
              <a:t>- 품질 평가 근거: 조건 1~4 영어, 조건 5~8 한국어 번역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2000" y="14532397"/>
            <a:ext cx="9612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6000" y="14557597"/>
            <a:ext cx="9324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03 질문 60개와 평가 지표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2000" y="15144397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영어 문서 4종 × 15문항, 질문 60개 × 조건 8개 = 답변 480개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2000" y="15586463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사실·정의 8 · 방법·절차 29 · 결과·비교 20 · 목적·기여 3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792000" y="16064529"/>
          <a:ext cx="9611999" cy="2816429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57363"/>
                <a:gridCol w="4878818"/>
                <a:gridCol w="2475818"/>
              </a:tblGrid>
              <a:tr h="367200"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지표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무엇을 측정하는가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값의 방향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7200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근거 충실도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답변 주장 중 입력 구간이 뒷받침하는 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높을수록 근거 일치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613229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답변 관련성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답변에서 만든 질문과 원질문의 유사도</a:t>
                      </a:r>
                    </a:p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회피·모호 응답은 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높을수록 질문에 부합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7200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문맥 정밀도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유용한 검색 구간이 상위에 있는 정도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높을수록 순위 정확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7200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문맥 재현율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참조 답변을 검색 구간이 뒷받침하는 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높을수록 근거 확보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7200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한국어 문자 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한글 ÷ (한글 + ASCII 영문자)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높을수록 한국어 출력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7200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처리 시간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질문 하나의 검색·생성 시간(초)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낮을수록 비용 감소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792000" y="18952958"/>
            <a:ext cx="9612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777777"/>
                </a:solidFill>
                <a:latin typeface="Malgun Gothic"/>
                <a:ea typeface="Malgun Gothic"/>
              </a:rPr>
              <a:t>점수 지표는 0~1 범위(관련성의 이론 범위는 −1~1, 관측값은 0~1)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980000" y="3672000"/>
            <a:ext cx="9612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124000" y="3697200"/>
            <a:ext cx="9324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04 질문 유형별 HyDE의 답변 관련성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80000" y="4248000"/>
            <a:ext cx="9612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263044"/>
                </a:solidFill>
                <a:latin typeface="Malgun Gothic"/>
                <a:ea typeface="Malgun Gothic"/>
              </a:rPr>
              <a:t>영어 근거 평가</a:t>
            </a:r>
            <a:r>
              <a:rPr sz="1700" b="0">
                <a:solidFill>
                  <a:srgbClr val="263044"/>
                </a:solidFill>
                <a:latin typeface="Malgun Gothic"/>
                <a:ea typeface="Malgun Gothic"/>
              </a:rPr>
              <a:t>(미적용 → HyDE)  ·  </a:t>
            </a:r>
            <a:r>
              <a:rPr sz="1700" b="1">
                <a:solidFill>
                  <a:srgbClr val="263044"/>
                </a:solidFill>
                <a:latin typeface="Malgun Gothic"/>
                <a:ea typeface="Malgun Gothic"/>
              </a:rPr>
              <a:t>한국어 번역 근거 평가</a:t>
            </a:r>
            <a:r>
              <a:rPr sz="1700" b="0">
                <a:solidFill>
                  <a:srgbClr val="263044"/>
                </a:solidFill>
                <a:latin typeface="Malgun Gothic"/>
                <a:ea typeface="Malgun Gothic"/>
              </a:rPr>
              <a:t>(SCD → HyDE+SCD)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10980000" y="4536000"/>
          <a:ext cx="9611998" cy="247076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875512"/>
                <a:gridCol w="937756"/>
                <a:gridCol w="1172195"/>
                <a:gridCol w="1125307"/>
                <a:gridCol w="1125307"/>
                <a:gridCol w="1078419"/>
                <a:gridCol w="1172195"/>
                <a:gridCol w="1125307"/>
              </a:tblGrid>
              <a:tr h="644219"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질문 유형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질문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수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미적용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HyDE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변화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HyDE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변화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사실·정의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0.82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+0.05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+0.09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방법·절차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29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0.58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+0.17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0.53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0.69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+0.16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결과·비교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20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-0.02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-0.01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목적·기여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0.82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-0.03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0.81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0.59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-0.21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전체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60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0.68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+0.08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0.64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+0.07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10980000" y="7114766"/>
            <a:ext cx="9612000" cy="318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63044"/>
                </a:solidFill>
                <a:latin typeface="Malgun Gothic"/>
                <a:ea typeface="Malgun Gothic"/>
              </a:rPr>
              <a:t>- 방법·절차: 두 평가 언어 모두 가장 크게 상승(+0.17, +0.16), 개선 14 · 악화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80000" y="7523303"/>
            <a:ext cx="9612000" cy="318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63044"/>
                </a:solidFill>
                <a:latin typeface="Malgun Gothic"/>
                <a:ea typeface="Malgun Gothic"/>
              </a:rPr>
              <a:t>- 방법·절차 6개는 회피 응답(0점)에서 답변으로 바뀜 · 결과·비교는 −0.02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980000" y="8075839"/>
            <a:ext cx="9612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124000" y="8101039"/>
            <a:ext cx="9324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05 기법을 더했을 때의 변화 (60개)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10980000" y="8687839"/>
          <a:ext cx="9611999" cy="3566691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602000"/>
                <a:gridCol w="4436307"/>
                <a:gridCol w="1602000"/>
                <a:gridCol w="1971692"/>
              </a:tblGrid>
              <a:tr h="644219"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추가한 기법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기준 → 적용 조건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관련성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변화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개선/악화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/비슷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HyDE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미적용 → HyDE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+0.08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22/7/31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HyDE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CAD → HyDE+CAD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+0.03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15/13/32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HyDE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SCD → HyDE+SCD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+0.07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20/14/26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HyDE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CAD+SCD → HyDE+CAD+SCD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+0.07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21/14/25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미적용 → 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-0.01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14/19/27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HyDE → HyDE+CAD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-0.06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7/22/31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SCD → CAD+SCD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-0.04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12/20/28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HyDE+SCD → HyDE+CAD+SCD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-0.04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7/18/35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10980000" y="12362534"/>
            <a:ext cx="9612000" cy="318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63044"/>
                </a:solidFill>
                <a:latin typeface="Malgun Gothic"/>
                <a:ea typeface="Malgun Gothic"/>
              </a:rPr>
              <a:t>- HyDE를 더한 네 비교는 개선이 악화보다 많음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80000" y="12771070"/>
            <a:ext cx="9612000" cy="318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63044"/>
                </a:solidFill>
                <a:latin typeface="Malgun Gothic"/>
                <a:ea typeface="Malgun Gothic"/>
              </a:rPr>
              <a:t>- CAD를 더한 네 비교는 모두 악화가 더 많음(예: HyDE → HyDE+CAD 7/22)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980000" y="13323606"/>
            <a:ext cx="9612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124000" y="13348806"/>
            <a:ext cx="9324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06 SCD의 한국어 문자 비율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10980000" y="13935606"/>
          <a:ext cx="9612000" cy="1826545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819520"/>
                <a:gridCol w="1666080"/>
                <a:gridCol w="1666080"/>
                <a:gridCol w="1537920"/>
                <a:gridCol w="1922400"/>
              </a:tblGrid>
              <a:tr h="365309"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설정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SCD 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SCD 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변화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증가 질문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미적용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0.49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+0.20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50/60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HyDE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0.56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0.81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+0.25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56/60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0.49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+0.23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53/60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HyDE+CAD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0.50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+0.23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54/60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6" name="TextBox 35"/>
          <p:cNvSpPr txBox="1"/>
          <p:nvPr/>
        </p:nvSpPr>
        <p:spPr>
          <a:xfrm>
            <a:off x="10980000" y="15870154"/>
            <a:ext cx="9612000" cy="318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63044"/>
                </a:solidFill>
                <a:latin typeface="Malgun Gothic"/>
                <a:ea typeface="Malgun Gothic"/>
              </a:rPr>
              <a:t>- 네 설정 모두 한국어 비율 상승, HyDE+SCD가 0.81로 최고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80000" y="16278690"/>
            <a:ext cx="9612000" cy="318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63044"/>
                </a:solidFill>
                <a:latin typeface="Malgun Gothic"/>
                <a:ea typeface="Malgun Gothic"/>
              </a:rPr>
              <a:t>- 영어 원문을 이어 쓴 답변은 SCD 후에도 영어로 남음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980000" y="16831226"/>
            <a:ext cx="9612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124000" y="16856426"/>
            <a:ext cx="9324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07 단일 기법의 처리 시간 (60개)</a:t>
            </a:r>
          </a:p>
        </p:txBody>
      </p:sp>
      <p:graphicFrame>
        <p:nvGraphicFramePr>
          <p:cNvPr id="40" name="Table 39"/>
          <p:cNvGraphicFramePr>
            <a:graphicFrameLocks noGrp="1"/>
          </p:cNvGraphicFramePr>
          <p:nvPr/>
        </p:nvGraphicFramePr>
        <p:xfrm>
          <a:off x="10980000" y="17443226"/>
          <a:ext cx="9611998" cy="146123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897105"/>
                <a:gridCol w="2023578"/>
                <a:gridCol w="1897105"/>
                <a:gridCol w="1897105"/>
                <a:gridCol w="1897105"/>
              </a:tblGrid>
              <a:tr h="365309"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기법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미적용(초)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적용(초)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변화(초)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증가 질문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HyDE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20.79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23.44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+2.65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52/60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20.79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63.87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+43.07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56/60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20.79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18.90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-1.89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44/60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1" name="TextBox 40"/>
          <p:cNvSpPr txBox="1"/>
          <p:nvPr/>
        </p:nvSpPr>
        <p:spPr>
          <a:xfrm>
            <a:off x="10980000" y="19012465"/>
            <a:ext cx="9612000" cy="318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63044"/>
                </a:solidFill>
                <a:latin typeface="Malgun Gothic"/>
                <a:ea typeface="Malgun Gothic"/>
              </a:rPr>
              <a:t>- CAD는 토큰마다 로짓을 두 번 계산해 약 3.1배 · 굵은 값은 가장 긴 시간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92000" y="19565001"/>
            <a:ext cx="19800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6000" y="19590201"/>
            <a:ext cx="19512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08 질문 60개의 원점수 평행좌표: 미적용과 HyDE</a:t>
            </a:r>
          </a:p>
        </p:txBody>
      </p:sp>
      <p:pic>
        <p:nvPicPr>
          <p:cNvPr id="44" name="Picture 43" descr="poster_parall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000" y="20177001"/>
            <a:ext cx="19800000" cy="602212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792000" y="26271121"/>
            <a:ext cx="19800000" cy="318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63044"/>
                </a:solidFill>
                <a:latin typeface="Malgun Gothic"/>
                <a:ea typeface="Malgun Gothic"/>
              </a:rPr>
              <a:t>- 선 하나가 질문 하나 · 미적용에서 답변 관련성 0에 모인 방법·절차 질문이 HyDE 적용 후 위로 이동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92000" y="26787657"/>
            <a:ext cx="9612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36000" y="26812857"/>
            <a:ext cx="9324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09 결론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92000" y="27399657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방법·절차 질문: HyDE 적용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92000" y="27824958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한국어 답변이 필요할 때: SCD 추가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2000" y="28250259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수치 질문: 정답 수치가 담긴 구간이 입력됐는지 확인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92000" y="28675560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CAD: 시간 3.1배, 관련성 변화 −0.01 → 지식 충돌 질문에서 별도 검토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0980000" y="26787657"/>
            <a:ext cx="9612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1124000" y="26812857"/>
            <a:ext cx="9324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10 실제 답변에서 확인한 점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980000" y="27399657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BIC 질문: HyDE가 근거 구간을 찾아 관련성 0.00→0.89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980000" y="27824958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QuALITY 질문: 73.68이 빠져 관련성 0.87→0.00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980000" y="28250259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XSUM 질문: 다른 행 수치를 옮겼는데 충실도 0.53→0.87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92000" y="29208861"/>
            <a:ext cx="19800000" cy="50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777777"/>
                </a:solidFill>
                <a:latin typeface="Malgun Gothic"/>
                <a:ea typeface="Malgun Gothic"/>
              </a:rPr>
              <a:t>[1] Lewis et al., RAG, NeurIPS 2020  [2] Gao et al., HyDE, ACL 2023  [3] Shi et al., CAD, NAACL 2024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777777"/>
                </a:solidFill>
                <a:latin typeface="Malgun Gothic"/>
                <a:ea typeface="Malgun Gothic"/>
              </a:rPr>
              <a:t>[4] Li et al., Language Drift and SCD, AAAI 2026  [5] Es et al., RAGAs, EACL 2024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