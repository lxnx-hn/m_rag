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1384000" cy="3027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1384000" cy="3312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468000"/>
            <a:ext cx="19800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한국어 질의로 영어 학술 및 기술 문서를 검색하는</a:t>
            </a:r>
          </a:p>
          <a:p>
            <a:pPr algn="ctr">
              <a:lnSpc>
                <a:spcPct val="105000"/>
              </a:lnSpc>
            </a:pPr>
            <a:r>
              <a:rPr sz="6200" b="1">
                <a:solidFill>
                  <a:srgbClr val="FFFFFF"/>
                </a:solidFill>
                <a:latin typeface="Malgun Gothic"/>
                <a:ea typeface="Malgun Gothic"/>
              </a:rPr>
              <a:t>RAG에서의 HyDE, CAD, SCD 조합 실험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520000"/>
            <a:ext cx="19800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0">
                <a:solidFill>
                  <a:srgbClr val="FFFFFF"/>
                </a:solidFill>
                <a:latin typeface="Malgun Gothic"/>
                <a:ea typeface="Malgun Gothic"/>
              </a:rPr>
              <a:t>질문 유형별 원점수와 실제 답변 분석</a:t>
            </a:r>
          </a:p>
        </p:txBody>
      </p:sp>
      <p:sp>
        <p:nvSpPr>
          <p:cNvPr id="5" name="Rectangle 4"/>
          <p:cNvSpPr/>
          <p:nvPr/>
        </p:nvSpPr>
        <p:spPr>
          <a:xfrm>
            <a:off x="792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6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01 연구 배경과 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000" y="4284000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한국어 질문으로 영어 논문을 검색해 한국어로 답하는 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472606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HyDE는 검색 입력, CAD는 근거 반영, SCD는 출력 언어를 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5168132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같은 질문 60개로 유형마다 유리한 기법을 비교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" y="6042198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6000" y="6067398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02 파이프라인과 실험 조건</a:t>
            </a:r>
          </a:p>
        </p:txBody>
      </p:sp>
      <p:pic>
        <p:nvPicPr>
          <p:cNvPr id="12" name="Picture 11" descr="poster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6654198"/>
            <a:ext cx="9612000" cy="3661714"/>
          </a:xfrm>
          <a:prstGeom prst="rect">
            <a:avLst/>
          </a:prstGeom>
        </p:spPr>
      </p:pic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92000" y="10423912"/>
          <a:ext cx="9612000" cy="314832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332160"/>
                <a:gridCol w="1281600"/>
                <a:gridCol w="1281600"/>
                <a:gridCol w="1281600"/>
                <a:gridCol w="2435040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품질 평가 근거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영어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−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+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번역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92000" y="13680243"/>
            <a:ext cx="9612000" cy="90531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63044"/>
                </a:solidFill>
                <a:latin typeface="Malgun Gothic"/>
                <a:ea typeface="Malgun Gothic"/>
              </a:rPr>
              <a:t>- HyDE는 Hypothetical Document Embeddings, CAD는
  Context-Aware Decoding, SCD는 Soft Constrained Decoding
  표의 +는 적용, −는 미적용을 뜻함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000" y="15107556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6000" y="15132756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03 질문 60개와 평가 지표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15719556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영어 문서 4종에서 15개씩 질문 60개, 조건 8개, 답변 480개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16161623"/>
            <a:ext cx="9612000" cy="35206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0">
                <a:solidFill>
                  <a:srgbClr val="263044"/>
                </a:solidFill>
                <a:latin typeface="Malgun Gothic"/>
                <a:ea typeface="Malgun Gothic"/>
              </a:rPr>
              <a:t>- 수치 질문 18개, 방법 질문 25개, 개념과 결과 질문 17개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792000" y="16639689"/>
          <a:ext cx="9611999" cy="2712113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57363"/>
                <a:gridCol w="4878818"/>
                <a:gridCol w="2475818"/>
              </a:tblGrid>
              <a:tr h="349814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지표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무엇을 측정하는가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263044"/>
                          </a:solidFill>
                          <a:latin typeface="Malgun Gothic"/>
                        </a:rPr>
                        <a:t>값의 방향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주장 중 입력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일치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613229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답변에서 만든 질문과 원래 질문의 유사도</a:t>
                      </a:r>
                    </a:p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회피하거나 모호한 응답은 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질문에 부합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유용한 검색 구간이 위쪽에 놓인 정도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순위 정확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참조 답변을 검색 구간이 뒷받침하는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근거 확보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한글 ÷ (한글 + ASCII 영문자)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높을수록 한국어 출력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49814"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처리 시간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질문 하나의 검색과 생성 시간(초)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700" b="0">
                          <a:solidFill>
                            <a:srgbClr val="263044"/>
                          </a:solidFill>
                          <a:latin typeface="Malgun Gothic"/>
                        </a:rPr>
                        <a:t>낮을수록 비용 감소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792000" y="19423805"/>
            <a:ext cx="961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777777"/>
                </a:solidFill>
                <a:latin typeface="Malgun Gothic"/>
                <a:ea typeface="Malgun Gothic"/>
              </a:rPr>
              <a:t>점수 지표는 0에서 1 사이이며 관련성의 이론 범위는 −1에서 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980000" y="3672000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24000" y="3697200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04 조건별 평균 점수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10980000" y="4284000"/>
          <a:ext cx="9611996" cy="3566691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930487"/>
                <a:gridCol w="1289414"/>
                <a:gridCol w="1289414"/>
                <a:gridCol w="1289414"/>
                <a:gridCol w="1289414"/>
                <a:gridCol w="1523853"/>
              </a:tblGrid>
              <a:tr h="64421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0.49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0.92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10980000" y="7958695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두 기법 이상 결합한 조건의 관련성은 모두 HyDE보다 낮음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80000" y="8367231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조건 4, 6, 7, 8의 품질 지표는 한국어 번역 근거로 평가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980000" y="8847767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24000" y="8872967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05 질문 유형별 평균 점수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10980000" y="9459767"/>
          <a:ext cx="9611998" cy="359111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3308"/>
                <a:gridCol w="1258115"/>
                <a:gridCol w="1258115"/>
                <a:gridCol w="1258115"/>
                <a:gridCol w="1258115"/>
                <a:gridCol w="1258115"/>
                <a:gridCol w="1258115"/>
              </a:tblGrid>
              <a:tr h="334319">
                <a:tc rowSpan="2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근거 충실도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답변 관련성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582239">
                <a:tc v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10980000" y="13104883"/>
          <a:ext cx="9611995" cy="359111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063308"/>
                <a:gridCol w="838743"/>
                <a:gridCol w="838743"/>
                <a:gridCol w="838743"/>
                <a:gridCol w="838743"/>
                <a:gridCol w="838743"/>
                <a:gridCol w="838743"/>
                <a:gridCol w="838743"/>
                <a:gridCol w="838743"/>
                <a:gridCol w="838743"/>
              </a:tblGrid>
              <a:tr h="334319">
                <a:tc rowSpan="2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조건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문맥 정밀도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문맥 재현율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gridSpan="3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한국어 문자 비율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582239">
                <a:tc vMerge="1"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/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수치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방법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개념과</a:t>
                      </a:r>
                    </a:p>
                    <a:p>
                      <a:pPr algn="ct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1 미적용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2 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3 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0.42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4 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5 HyDE+CAD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0.52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0.46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0.55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6 HyDE+SCD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0.71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7 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0.83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0.94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34319">
                <a:tc>
                  <a:txBody>
                    <a:bodyPr wrap="square"/>
                    <a:lstStyle/>
                    <a:p>
                      <a:pPr algn="l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8 HyDE+CAD+SCD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0.76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0.81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0.78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0.96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1">
                          <a:solidFill>
                            <a:srgbClr val="263044"/>
                          </a:solidFill>
                          <a:latin typeface="Malgun Gothic"/>
                        </a:rPr>
                        <a:t>1.00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0.69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600" b="0">
                          <a:solidFill>
                            <a:srgbClr val="263044"/>
                          </a:solidFill>
                          <a:latin typeface="Malgun Gothic"/>
                        </a:rPr>
                        <a:t>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0980000" y="16803999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관련성은 방법 질문에서 HyDE, 충실도는 수치 질문에서 CAD가 크게 높임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980000" y="17284535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124000" y="17309735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06 단일 기법의 처리 시간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10980000" y="17896535"/>
          <a:ext cx="9611998" cy="146123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63606"/>
                <a:gridCol w="2521180"/>
                <a:gridCol w="2363606"/>
                <a:gridCol w="2363606"/>
              </a:tblGrid>
              <a:tr h="365309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기법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미적용(초)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적용(초)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변화(초)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HyDE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23.44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+2.65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CAD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63.87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1">
                          <a:solidFill>
                            <a:srgbClr val="263044"/>
                          </a:solidFill>
                          <a:latin typeface="Malgun Gothic"/>
                        </a:rPr>
                        <a:t>+43.07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  <a:tr h="365309">
                <a:tc>
                  <a:txBody>
                    <a:bodyPr wrap="square"/>
                    <a:lstStyle/>
                    <a:p>
                      <a:pPr algn="l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SCD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20.79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18.90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800" b="0">
                          <a:solidFill>
                            <a:srgbClr val="263044"/>
                          </a:solidFill>
                          <a:latin typeface="Malgun Gothic"/>
                        </a:rPr>
                        <a:t>−1.89</a:t>
                      </a:r>
                    </a:p>
                  </a:txBody>
                  <a:tcPr marL="57600" marR="57600" marT="21600" marB="21600" anchor="ctr">
                    <a:solidFill>
                      <a:srgbClr val="FFFFFF"/>
                    </a:solidFill>
                    <a:lnL w="9525">
                      <a:solidFill>
                        <a:srgbClr val="777777"/>
                      </a:solidFill>
                    </a:lnL>
                    <a:lnR w="9525">
                      <a:solidFill>
                        <a:srgbClr val="777777"/>
                      </a:solidFill>
                    </a:lnR>
                    <a:lnT w="9525">
                      <a:solidFill>
                        <a:srgbClr val="777777"/>
                      </a:solidFill>
                    </a:lnT>
                    <a:lnB w="9525">
                      <a:solidFill>
                        <a:srgbClr val="77777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10980000" y="19465773"/>
            <a:ext cx="9612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CAD는 토큰마다 로짓을 두 번 계산해 처리 시간이 약 세 배(굵은 값은 가장 긴 시간)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2000" y="19946309"/>
            <a:ext cx="19800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36000" y="19971509"/>
            <a:ext cx="19512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07 방법 질문 25개의 조건별 원점수 평행좌표</a:t>
            </a:r>
          </a:p>
        </p:txBody>
      </p:sp>
      <p:pic>
        <p:nvPicPr>
          <p:cNvPr id="37" name="Picture 36" descr="poster_parall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000" y="20558309"/>
            <a:ext cx="19800000" cy="574838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92000" y="26342696"/>
            <a:ext cx="19800000" cy="318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>
                <a:solidFill>
                  <a:srgbClr val="263044"/>
                </a:solidFill>
                <a:latin typeface="Malgun Gothic"/>
                <a:ea typeface="Malgun Gothic"/>
              </a:rPr>
              <a:t>- HyDE 적용 후 관련성 축의 선이 위로 모이고 관련성 0점 답변이 5개에서 1개로 줄어듦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2000" y="26823232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36000" y="26848432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08 결론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2000" y="2743523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한 지표가 중요하면 기법 하나(관련성, 개념과 결과 질문은 HyDE)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000" y="2786053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수치 질문은 정답 구간의 검색을 확인하고 충실도는 HyDE+CAD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2000" y="2828583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고루 지키려면 세 기법, 방법 질문에서 네 품질 지표가 모두 상승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2000" y="2871113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세 기법은 최고값 없이 한국어 비율 0.73, 처리 시간은 약 세 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980000" y="26823232"/>
            <a:ext cx="9612000" cy="468000"/>
          </a:xfrm>
          <a:prstGeom prst="rect">
            <a:avLst/>
          </a:prstGeom>
          <a:solidFill>
            <a:srgbClr val="6951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124000" y="26848432"/>
            <a:ext cx="9324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Malgun Gothic"/>
                <a:ea typeface="Malgun Gothic"/>
              </a:rPr>
              <a:t>09 실제 답변에서 확인한 점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80000" y="27435232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BIC 질문은 HyDE가 근거 구간을 찾아 관련성이 0.00에서 0.89로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80000" y="27860533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QuALITY 질문은 HyDE 후 73.68이 빠져 관련성이 0.87에서 0.00으로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80000" y="28285835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XSUM 질문은 CAD가 다른 행 수치를 옮겼는데 충실도가 0.53에서 0.87로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80000" y="28711136"/>
            <a:ext cx="9612000" cy="33530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263044"/>
                </a:solidFill>
                <a:latin typeface="Malgun Gothic"/>
                <a:ea typeface="Malgun Gothic"/>
              </a:rPr>
              <a:t>- RAG 이점 질문은 CAD 후 지시문만 남아 관련성이 0.90에서 0.00으로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2000" y="29208437"/>
            <a:ext cx="9612000" cy="61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[1] Lewis et al., RAG, NeurIPS 2020  [2] Gao et al., HyDE, ACL 2023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[3] Shi et al., CAD, NAACL 2024  [4] Li et al., SCD, AAAI 2026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777777"/>
                </a:solidFill>
                <a:latin typeface="Malgun Gothic"/>
                <a:ea typeface="Malgun Gothic"/>
              </a:rPr>
              <a:t>[5] Es et al., RAGAs, EACL 2024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