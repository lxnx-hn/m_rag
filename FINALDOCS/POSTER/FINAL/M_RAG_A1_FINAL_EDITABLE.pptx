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60c1d596794e33" /><Relationship Type="http://schemas.openxmlformats.org/officeDocument/2006/relationships/extended-properties" Target="/docProps/app.xml" Id="R32c4c8c09ce94152" /><Relationship Type="http://schemas.openxmlformats.org/officeDocument/2006/relationships/officeDocument" Target="/ppt/presentation.xml" Id="R83091ba58d3348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c36bcd48a9477e"/>
  </p:sldMasterIdLst>
  <p:notesMasterIdLst>
    <p:notesMasterId xmlns:r="http://schemas.openxmlformats.org/officeDocument/2006/relationships" r:id="R06343fae3fb64c23"/>
  </p:notesMasterIdLst>
  <p:sldIdLst>
    <p:sldId xmlns:r="http://schemas.openxmlformats.org/officeDocument/2006/relationships" id="256" r:id="R1781b0e238cd45a8"/>
  </p:sldIdLst>
  <p:sldSz cx="21384000" cy="3027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5ccc5095fa4d9f" /><Relationship Type="http://schemas.openxmlformats.org/officeDocument/2006/relationships/slideMaster" Target="/ppt/slideMasters/slideMaster1.xml" Id="Ra2c36bcd48a9477e" /><Relationship Type="http://schemas.openxmlformats.org/officeDocument/2006/relationships/notesMaster" Target="/ppt/notesMasters/notesMaster1.xml" Id="R06343fae3fb64c23" /><Relationship Type="http://schemas.openxmlformats.org/officeDocument/2006/relationships/presProps" Target="/ppt/presProps.xml" Id="R4f29e4d8f2de4e80" /><Relationship Type="http://schemas.openxmlformats.org/officeDocument/2006/relationships/tableStyles" Target="/ppt/tableStyles.xml" Id="R24bd46ccc1ea4fd1" /><Relationship Type="http://schemas.openxmlformats.org/officeDocument/2006/relationships/slide" Target="/ppt/slides/slide1.xml" Id="R1781b0e238cd45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5b81f4afee41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67099056d643c2" /><Relationship Type="http://schemas.openxmlformats.org/officeDocument/2006/relationships/notesMaster" Target="/ppt/notesMasters/notesMaster1.xml" Id="Rbec76ae1b5bb4c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sources and full statistics: FINALDOCS/DATA/TTEST_ANOVA_60Q.json; FINALDOCS/MANUSCRIPT/GRADUATION_REPORT_TRANSFER_KO_60Q.md. The exploratory analysis uses query-level paired t-tests and repeated-measures ANOVA with two-sided alpha 0.05 and no multiplicity adjustment. Editable tables follow explicit data-type alignment. Reference [4] https://ojs.aaai.org/index.php/AAAI/article/view/40417; [8] https://doi.org/10.1145/3331184.3331317 is conceptual ranking background, not the implemented CEDR architecture. [M1] https://huggingface.co/K-intelligence/Midm-2.0-Base-Instruct; [M2] https://huggingface.co/cross-encoder/ms-marco-MiniLM-L6-v2. The English case evidence is a contiguous saved context excerpt (PDF p.9), reference evidence is on PDF p.20. References follow manuscript numbering.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b5d4506f6d44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af034223f74e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02484fa50f44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6d61f93461461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856bd7c70f4a0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d5dc2cdbc148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F0FC80-33EF-4042-BD27-217C47BB66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38400" y="11437600"/>
            <a:ext cx="17107200" cy="437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879261E-DE5F-490E-8673-8206B58A17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207600" y="16651800"/>
            <a:ext cx="14968800" cy="33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044AF0A-1A94-429A-9D80-F6D58E8674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38400" y="12615000"/>
            <a:ext cx="17107200" cy="504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62F454-E1ED-4642-9A86-050B066F47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02850" y="2354800"/>
            <a:ext cx="18978300" cy="37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E2662AB-790A-4212-969F-F6A246AE15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02850" y="8410000"/>
            <a:ext cx="18978300" cy="188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009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9355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4701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0047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5393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30739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6085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41431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6777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F9CD04D-6A29-4CCF-B3E1-B345337DCA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02850" y="2354800"/>
            <a:ext cx="18978300" cy="37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11E2B2-623A-402D-A036-EA8AF17C46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02850" y="8410000"/>
            <a:ext cx="8820900" cy="188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009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9355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4701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0047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5393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30739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6085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41431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6777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F2B4204-233D-496B-82C2-FCEEC07520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1360250" y="8410000"/>
            <a:ext cx="8820900" cy="188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009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9355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4701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0047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5393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30739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6085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41431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6777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697E72-E511-4986-BA80-805A34F6C3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02850" y="2354800"/>
            <a:ext cx="18978300" cy="37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43CEBD-C7FA-44F0-9F0A-7186832BBF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02850" y="8410000"/>
            <a:ext cx="8820900" cy="188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009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9355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4701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0047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5393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30739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6085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41431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6777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29d12a13384215" /><Relationship Type="http://schemas.openxmlformats.org/officeDocument/2006/relationships/slideLayout" Target="/ppt/slideLayouts/slideLayout1.xml" Id="Red1039956fa94ce6" /><Relationship Type="http://schemas.openxmlformats.org/officeDocument/2006/relationships/slideLayout" Target="/ppt/slideLayouts/slideLayout2.xml" Id="Re1811be2820c4590" /><Relationship Type="http://schemas.openxmlformats.org/officeDocument/2006/relationships/slideLayout" Target="/ppt/slideLayouts/slideLayout3.xml" Id="Ra72ff968aa954554" /><Relationship Type="http://schemas.openxmlformats.org/officeDocument/2006/relationships/slideLayout" Target="/ppt/slideLayouts/slideLayout4.xml" Id="R61735ee285bc4135" /><Relationship Type="http://schemas.openxmlformats.org/officeDocument/2006/relationships/slideLayout" Target="/ppt/slideLayouts/slideLayout5.xml" Id="Rf484aaf6ff5145fc" /><Relationship Type="http://schemas.openxmlformats.org/officeDocument/2006/relationships/slideLayout" Target="/ppt/slideLayouts/slideLayout6.xml" Id="R8ed2df2b204149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1039956fa94ce6"/>
    <p:sldLayoutId xmlns:r="http://schemas.openxmlformats.org/officeDocument/2006/relationships" id="2147483650" r:id="Re1811be2820c4590"/>
    <p:sldLayoutId xmlns:r="http://schemas.openxmlformats.org/officeDocument/2006/relationships" id="2147483651" r:id="Ra72ff968aa954554"/>
    <p:sldLayoutId xmlns:r="http://schemas.openxmlformats.org/officeDocument/2006/relationships" id="2147483652" r:id="R61735ee285bc4135"/>
    <p:sldLayoutId xmlns:r="http://schemas.openxmlformats.org/officeDocument/2006/relationships" id="2147483653" r:id="Rf484aaf6ff5145fc"/>
    <p:sldLayoutId xmlns:r="http://schemas.openxmlformats.org/officeDocument/2006/relationships" id="2147483654" r:id="R8ed2df2b204149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3e977d24574f28" /><Relationship Type="http://schemas.openxmlformats.org/officeDocument/2006/relationships/notesSlide" Target="/ppt/notesSlides/notesSlide1.xml" Id="R29704569657d45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395722E-0320-4928-8250-988BC7EA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3840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한국어 질의로 영어 학술·기술 문서를 검색하는">
            <a:extLst xmlns:a="http://schemas.openxmlformats.org/drawingml/2006/main">
              <a:ext uri="{FF2B5EF4-FFF2-40B4-BE49-F238E27FC236}">
                <a16:creationId xmlns:a16="http://schemas.microsoft.com/office/drawing/2014/main" id="{AB9618D4-BFA7-4F4D-8076-D0E1D2C7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20317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한국어 질의로 영어 학술·기술 문서를 검색하는</a:t>
            </a:r>
          </a:p>
        </p:txBody>
      </p:sp>
      <p:sp>
        <p:nvSpPr>
          <p:cNvPr id="3" name="RAG에서의 HyDE·CAD·SCD 조합 실험">
            <a:extLst xmlns:a="http://schemas.openxmlformats.org/drawingml/2006/main">
              <a:ext uri="{FF2B5EF4-FFF2-40B4-BE49-F238E27FC236}">
                <a16:creationId xmlns:a16="http://schemas.microsoft.com/office/drawing/2014/main" id="{ECDAF47B-5C67-44D7-BE8A-84F59BDB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20317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RAG에서의 HyDE·CAD·SCD 조합 실험</a:t>
            </a:r>
          </a:p>
        </p:txBody>
      </p:sp>
      <p:sp>
        <p:nvSpPr>
          <p:cNvPr id="4" name="문종건 · 동국대학교 WISE캠퍼스 컴퓨터공학과 · 지도교수 김진석 · 2026.10.15">
            <a:extLst xmlns:a="http://schemas.openxmlformats.org/drawingml/2006/main">
              <a:ext uri="{FF2B5EF4-FFF2-40B4-BE49-F238E27FC236}">
                <a16:creationId xmlns:a16="http://schemas.microsoft.com/office/drawing/2014/main" id="{4297F5BD-F081-4226-8199-39790737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86025"/>
            <a:ext cx="2031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문종건 · 동국대학교 WISE캠퍼스 컴퓨터공학과 · 지도교수 김진석 · 2026.10.15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471D1-4109-42E2-BBCF-714202F8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972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01 연구 배경과 목적">
            <a:extLst xmlns:a="http://schemas.openxmlformats.org/drawingml/2006/main">
              <a:ext uri="{FF2B5EF4-FFF2-40B4-BE49-F238E27FC236}">
                <a16:creationId xmlns:a16="http://schemas.microsoft.com/office/drawing/2014/main" id="{E2DA5D83-0888-4563-944F-F26D139B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9539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 연구 배경과 목적</a:t>
            </a:r>
          </a:p>
        </p:txBody>
      </p:sp>
      <p:sp>
        <p:nvSpPr>
          <p:cNvPr id="7" name="검색 증강 생성(Retrieval-Augmented Generation, RAG)은 관련 문서 구간을 검색하고 그 텍">
            <a:extLst xmlns:a="http://schemas.openxmlformats.org/drawingml/2006/main">
              <a:ext uri="{FF2B5EF4-FFF2-40B4-BE49-F238E27FC236}">
                <a16:creationId xmlns:a16="http://schemas.microsoft.com/office/drawing/2014/main" id="{AC9E3F68-78AB-4EF4-A307-EFE9528A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97299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검색 증강 생성(Retrieval-Augmented Generation, RAG)은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관련 문서 구간을 검색하고 그 텍스트로 답변을 생성한다[1].</a:t>
            </a:r>
          </a:p>
        </p:txBody>
      </p:sp>
      <p:sp>
        <p:nvSpPr>
          <p:cNvPr id="8" name="HyDE: 가상 문서 임베딩(Hypothetical Document Embeddings) 가상 문서 검색 입력 구성[">
            <a:extLst xmlns:a="http://schemas.openxmlformats.org/drawingml/2006/main">
              <a:ext uri="{FF2B5EF4-FFF2-40B4-BE49-F238E27FC236}">
                <a16:creationId xmlns:a16="http://schemas.microsoft.com/office/drawing/2014/main" id="{FA53EF0D-05F1-48BE-8ED6-1A5D975C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97299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HyDE: 가상 문서 임베딩(Hypothetical Document Embeddings)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가상 문서 검색 입력 구성[2]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CAD: 문맥 인식 디코딩(Context-Aware Decoding)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검색 근거의 영향 조정[3]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SCD: 소프트 제약 디코딩(Soft Constrained Decoding)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출력 언어 제어[4]</a:t>
            </a:r>
          </a:p>
        </p:txBody>
      </p:sp>
      <p:sp>
        <p:nvSpPr>
          <p:cNvPr id="9" name="한국어 질의–영어 문서 RAG는 검색 어휘 차이, 근거 반영, 영어 출력(언어 이탈)의 문제를 함께 겪는다. 세 기법">
            <a:extLst xmlns:a="http://schemas.openxmlformats.org/drawingml/2006/main">
              <a:ext uri="{FF2B5EF4-FFF2-40B4-BE49-F238E27FC236}">
                <a16:creationId xmlns:a16="http://schemas.microsoft.com/office/drawing/2014/main" id="{0ECA771E-89F8-4C64-90F6-8CBAF4EB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97299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한국어 질의–영어 문서 RAG는 검색 어휘 차이, 근거 반영,</a:t>
            </a:r>
          </a:p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영어 출력(언어 이탈)의 문제를 함께 겪는다. 세 기법의</a:t>
            </a:r>
          </a:p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단독 효과와 조합 효과를 같은 파이프라인에서 비교하였다.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79545-A96C-4FC4-97D7-F0D2D431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62825"/>
            <a:ext cx="972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02 Paper-RAG 구조와 기법 적용 위치">
            <a:extLst xmlns:a="http://schemas.openxmlformats.org/drawingml/2006/main">
              <a:ext uri="{FF2B5EF4-FFF2-40B4-BE49-F238E27FC236}">
                <a16:creationId xmlns:a16="http://schemas.microsoft.com/office/drawing/2014/main" id="{7A248187-DE65-46BD-A6AC-2BE83F33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91400"/>
            <a:ext cx="9539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 Paper-RAG 구조와 기법 적용 위치</a:t>
            </a:r>
          </a:p>
        </p:txBody>
      </p:sp>
      <p:sp>
        <p:nvSpPr>
          <p:cNvPr id="12" name="Paper-RAG는 실험에 사용한 고정 검색·생성 파이프라인이다.">
            <a:extLst xmlns:a="http://schemas.openxmlformats.org/drawingml/2006/main">
              <a:ext uri="{FF2B5EF4-FFF2-40B4-BE49-F238E27FC236}">
                <a16:creationId xmlns:a16="http://schemas.microsoft.com/office/drawing/2014/main" id="{CEB0B2CA-8A61-4FBE-B1BC-2EB891E5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72425"/>
            <a:ext cx="9729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Paper-RAG는 실험에 사용한 고정 검색·생성 파이프라인이다.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6A3D45-18C9-4C90-BC40-E4CF50E9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515350"/>
            <a:ext cx="4655438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19050">
            <a:solidFill>
              <a:srgbClr val="2F6DF6"/>
            </a:solidFill>
            <a:prstDash val="solid"/>
          </a:ln>
        </p:spPr>
      </p:sp>
      <p:sp>
        <p:nvSpPr>
          <p:cNvPr id="14" name="한국어 질의 HyDE OFF: 원질의 HyDE ON: 영어 번역·가상 문서">
            <a:extLst xmlns:a="http://schemas.openxmlformats.org/drawingml/2006/main">
              <a:ext uri="{FF2B5EF4-FFF2-40B4-BE49-F238E27FC236}">
                <a16:creationId xmlns:a16="http://schemas.microsoft.com/office/drawing/2014/main" id="{08A5248D-BB03-4DC2-8E7C-2F925D9F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629650"/>
            <a:ext cx="4503038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한국어 질의</a:t>
            </a:r>
          </a:p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HyDE OFF: 원질의</a:t>
            </a:r>
          </a:p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HyDE ON: 영어 번역·가상 문서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9178C6-C1DD-4AFA-830B-2335478E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388" y="8515350"/>
            <a:ext cx="4655438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19050">
            <a:solidFill>
              <a:srgbClr val="695184"/>
            </a:solidFill>
            <a:prstDash val="solid"/>
          </a:ln>
        </p:spPr>
      </p:sp>
      <p:sp>
        <p:nvSpPr>
          <p:cNvPr id="16" name="BM25 희소 검색[6] 한국어 원질의 사용">
            <a:extLst xmlns:a="http://schemas.openxmlformats.org/drawingml/2006/main">
              <a:ext uri="{FF2B5EF4-FFF2-40B4-BE49-F238E27FC236}">
                <a16:creationId xmlns:a16="http://schemas.microsoft.com/office/drawing/2014/main" id="{4AB568C2-B6FB-4971-9D7D-1DBEC816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588" y="8629650"/>
            <a:ext cx="4503038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BM25 희소 검색[6]</a:t>
            </a:r>
          </a:p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한국어 원질의 사용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49C74A-5070-4157-BAF7-EC83A59A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63150"/>
            <a:ext cx="465543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19050">
            <a:solidFill>
              <a:srgbClr val="2F6DF6"/>
            </a:solidFill>
            <a:prstDash val="solid"/>
          </a:ln>
        </p:spPr>
      </p:sp>
      <p:sp>
        <p:nvSpPr>
          <p:cNvPr id="18" name="BGE-M3 밀집 검색[5]">
            <a:extLst xmlns:a="http://schemas.openxmlformats.org/drawingml/2006/main">
              <a:ext uri="{FF2B5EF4-FFF2-40B4-BE49-F238E27FC236}">
                <a16:creationId xmlns:a16="http://schemas.microsoft.com/office/drawing/2014/main" id="{A9D96583-7E4D-4DBB-AE35-7C8C8225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077450"/>
            <a:ext cx="45030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BGE-M3 밀집 검색[5]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42528C-4725-435B-AB16-536A6710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388" y="9963150"/>
            <a:ext cx="46554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19050">
            <a:solidFill>
              <a:srgbClr val="695184"/>
            </a:solidFill>
            <a:prstDash val="solid"/>
          </a:ln>
        </p:spPr>
      </p:sp>
      <p:sp>
        <p:nvSpPr>
          <p:cNvPr id="20" name="가중 RRF[7] 0.6 / 0.4, k=60">
            <a:extLst xmlns:a="http://schemas.openxmlformats.org/drawingml/2006/main">
              <a:ext uri="{FF2B5EF4-FFF2-40B4-BE49-F238E27FC236}">
                <a16:creationId xmlns:a16="http://schemas.microsoft.com/office/drawing/2014/main" id="{1679DDD9-8C86-47C7-85C6-84E80F15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588" y="10077450"/>
            <a:ext cx="450303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가중 RRF[7]</a:t>
            </a:r>
          </a:p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0.6 / 0.4, k=60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00CBE0-38EE-455A-A7C9-AE5369A0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946844" y="9696450"/>
            <a:ext cx="171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324A"/>
          </a:solidFill>
          <a:ln xmlns:a="http://schemas.openxmlformats.org/drawingml/2006/main" w="0">
            <a:solidFill>
              <a:srgbClr val="24324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C75861-DBC2-4E0D-B5AE-F74E5A1C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6488" y="1011555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324A"/>
          </a:solidFill>
          <a:ln xmlns:a="http://schemas.openxmlformats.org/drawingml/2006/main" w="0">
            <a:solidFill>
              <a:srgbClr val="24324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08E98F-1AF5-42D5-910B-0F37B414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21381" y="9696450"/>
            <a:ext cx="171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324A"/>
          </a:solidFill>
          <a:ln xmlns:a="http://schemas.openxmlformats.org/drawingml/2006/main" w="0">
            <a:solidFill>
              <a:srgbClr val="24324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E5DB06-D7AF-4EA4-AD52-BC72E376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10900"/>
            <a:ext cx="97299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19050">
            <a:solidFill>
              <a:srgbClr val="695184"/>
            </a:solidFill>
            <a:prstDash val="solid"/>
          </a:ln>
        </p:spPr>
      </p:sp>
      <p:sp>
        <p:nvSpPr>
          <p:cNvPr id="25" name="원질의·구간 쌍 CrossEncoder 재정렬[8][M2] 상위 5개 구간 선택·입력 길이 관리">
            <a:extLst xmlns:a="http://schemas.openxmlformats.org/drawingml/2006/main">
              <a:ext uri="{FF2B5EF4-FFF2-40B4-BE49-F238E27FC236}">
                <a16:creationId xmlns:a16="http://schemas.microsoft.com/office/drawing/2014/main" id="{E0C29DD9-3988-4BC3-85A2-FBAFD7EE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125200"/>
            <a:ext cx="95775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원질의·구간 쌍 CrossEncoder 재정렬[8][M2]</a:t>
            </a:r>
          </a:p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상위 5개 구간 선택·입력 길이 관리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193B95-3A6C-4CC6-BA9B-D3BE41E1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34850"/>
            <a:ext cx="97299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19050">
            <a:solidFill>
              <a:srgbClr val="16846F"/>
            </a:solidFill>
            <a:prstDash val="solid"/>
          </a:ln>
        </p:spPr>
      </p:sp>
      <p:sp>
        <p:nvSpPr>
          <p:cNvPr id="27" name="Mi:dm 2.0 Base Instruct[M1] CAD 로짓 결합 후 SCD 언어별 조정, 최종 답변 생성">
            <a:extLst xmlns:a="http://schemas.openxmlformats.org/drawingml/2006/main">
              <a:ext uri="{FF2B5EF4-FFF2-40B4-BE49-F238E27FC236}">
                <a16:creationId xmlns:a16="http://schemas.microsoft.com/office/drawing/2014/main" id="{74CEE050-1D7B-4011-BFEF-88462673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249150"/>
            <a:ext cx="95775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Mi:dm 2.0 Base Instruct[M1]</a:t>
            </a:r>
          </a:p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CAD 로짓 결합 후 SCD 언어별 조정, 최종 답변 생성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5D53B2-A524-4425-8BF7-C7BC1589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84113" y="107727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324A"/>
          </a:solidFill>
          <a:ln xmlns:a="http://schemas.openxmlformats.org/drawingml/2006/main" w="0">
            <a:solidFill>
              <a:srgbClr val="24324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D6EE17-7979-41B2-875D-17A8110C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84113" y="1188720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324A"/>
          </a:solidFill>
          <a:ln xmlns:a="http://schemas.openxmlformats.org/drawingml/2006/main" w="0">
            <a:solidFill>
              <a:srgbClr val="24324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4B9920-4910-4CDA-954E-F2EE2465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239750"/>
            <a:ext cx="972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03 3요인 완전요인 실험 설계">
            <a:extLst xmlns:a="http://schemas.openxmlformats.org/drawingml/2006/main">
              <a:ext uri="{FF2B5EF4-FFF2-40B4-BE49-F238E27FC236}">
                <a16:creationId xmlns:a16="http://schemas.microsoft.com/office/drawing/2014/main" id="{7CD99925-E4FC-4C66-BFB2-679BEA53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268325"/>
            <a:ext cx="9539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 3요인 완전요인 실험 설계</a:t>
            </a:r>
          </a:p>
        </p:txBody>
      </p:sp>
      <p:sp>
        <p:nvSpPr>
          <p:cNvPr id="32" name="H=HyDE, C=CAD, S=SCD   0=미적용, 1=적용">
            <a:extLst xmlns:a="http://schemas.openxmlformats.org/drawingml/2006/main">
              <a:ext uri="{FF2B5EF4-FFF2-40B4-BE49-F238E27FC236}">
                <a16:creationId xmlns:a16="http://schemas.microsoft.com/office/drawing/2014/main" id="{DAC40030-95F2-4374-B49F-F07E1783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0"/>
            <a:ext cx="9729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H=HyDE, C=CAD, S=SCD   0=미적용, 1=적용</a:t>
            </a:r>
          </a:p>
        </p:txBody>
      </p:sp>
      <p:graphicFrame>
        <p:nvGraphicFrame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BA6536-99F7-48BA-AD4B-1B7D2FA2ADB7}"/>
              </a:ext>
            </a:extLst>
          </p:cNvPr>
          <p:cNvGraphicFramePr/>
          <p:nvPr/>
        </p:nvGraphicFramePr>
        <p:xfrm>
          <a:off xmlns:a="http://schemas.openxmlformats.org/drawingml/2006/main" x="704850" y="14258925"/>
          <a:ext xmlns:a="http://schemas.openxmlformats.org/drawingml/2006/main" cx="9729975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5789"/>
                <a:gridCol w="1751396"/>
                <a:gridCol w="1751396"/>
                <a:gridCol w="1751396"/>
              </a:tblGrid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</a:tr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H0C0S0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H0C0S1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H0C1S0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H0C1S1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H1C0S0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H1C0S1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H1C1S0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H1C1S1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</a:tbl>
          </a:graphicData>
        </a:graphic>
      </p:graphicFrame>
      <p:sp>
        <p:nvSpPr>
          <p:cNvPr id="34" name="같은 질의 60개 × 8조건 반복측정 = 480개 생성 기록">
            <a:extLst xmlns:a="http://schemas.openxmlformats.org/drawingml/2006/main">
              <a:ext uri="{FF2B5EF4-FFF2-40B4-BE49-F238E27FC236}">
                <a16:creationId xmlns:a16="http://schemas.microsoft.com/office/drawing/2014/main" id="{D1307836-4D2E-497C-9E8F-CFCF5CDB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0"/>
            <a:ext cx="9729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같은 질의 60개 × 8조건 반복측정 = 480개 생성 기록</a:t>
            </a:r>
          </a:p>
        </p:txBody>
      </p:sp>
      <p:sp>
        <p:nvSpPr>
          <p:cNvPr id="35" name="생성 512토큰, CAD α=0.5, SCD α=1.1·β=0.9·Tstart=5">
            <a:extLst xmlns:a="http://schemas.openxmlformats.org/drawingml/2006/main">
              <a:ext uri="{FF2B5EF4-FFF2-40B4-BE49-F238E27FC236}">
                <a16:creationId xmlns:a16="http://schemas.microsoft.com/office/drawing/2014/main" id="{7367A58D-DB4E-469D-A8B4-92717C3C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45100"/>
            <a:ext cx="9729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생성 512토큰, CAD α=0.5, SCD α=1.1·β=0.9·Tstart=5</a:t>
            </a:r>
          </a:p>
        </p:txBody>
      </p:sp>
      <p:sp>
        <p:nvSpPr>
          <p:cNvPr id="36" name="문서마다 주요 내용을 15개 단위로 요약해 단위별 질의를 작성하고, 총 60개 질의의 원문 페이지·정답 근거·답변 가">
            <a:extLst xmlns:a="http://schemas.openxmlformats.org/drawingml/2006/main">
              <a:ext uri="{FF2B5EF4-FFF2-40B4-BE49-F238E27FC236}">
                <a16:creationId xmlns:a16="http://schemas.microsoft.com/office/drawing/2014/main" id="{7FF39FDF-F991-41D3-8CAA-0977B3DC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383250"/>
            <a:ext cx="9729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문서마다 주요 내용을 15개 단위로 요약해 단위별 질의를 작성하고,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총 60개 질의의 원문 페이지·정답 근거·답변 가능성을 확인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55367C-74E7-4EFE-AB67-BDC63436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145250"/>
            <a:ext cx="972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04 평가 지표 및 실험·통계 방법">
            <a:extLst xmlns:a="http://schemas.openxmlformats.org/drawingml/2006/main">
              <a:ext uri="{FF2B5EF4-FFF2-40B4-BE49-F238E27FC236}">
                <a16:creationId xmlns:a16="http://schemas.microsoft.com/office/drawing/2014/main" id="{2483ABE8-8E6C-429E-84D9-93D779E4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173825"/>
            <a:ext cx="9539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 평가 지표 및 실험·통계 방법</a:t>
            </a:r>
          </a:p>
        </p:txBody>
      </p:sp>
      <p:sp>
        <p:nvSpPr>
          <p:cNvPr id="39" name="근거 충실도: 높을수록 검색 결과가 뒷받침하는 답변 주장 비율이 크다. 답변 관련성: 높을수록 답변 기반 질문과 원질">
            <a:extLst xmlns:a="http://schemas.openxmlformats.org/drawingml/2006/main">
              <a:ext uri="{FF2B5EF4-FFF2-40B4-BE49-F238E27FC236}">
                <a16:creationId xmlns:a16="http://schemas.microsoft.com/office/drawing/2014/main" id="{9827BE99-BE23-418E-97A9-EE205D0C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716750"/>
            <a:ext cx="97299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근거 충실도: 높을수록 검색 결과가 뒷받침하는 답변 주장 비율이 크다.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답변 관련성: 높을수록 답변 기반 질문과 원질문의 의미가 가깝다.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문맥 정밀도: 높을수록 참조 답변에 유용한 구간이 상위에 놓인다.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문맥 재현율: 높을수록 검색 근거가 포괄하는 참조 답변 비중이 크다.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한국어 비율: 한글 / (한글 + ASCII 영문자), 높을수록 한글 비중이 크다.</a:t>
            </a:r>
          </a:p>
        </p:txBody>
      </p:sp>
      <p:sp>
        <p:nvSpPr>
          <p:cNvPr id="40" name="품질 관측값은 0~1이다. 차이 = ON − OFF 평균. 한국어 비율 0.700은 70.0%, 차이 +0.218은 ">
            <a:extLst xmlns:a="http://schemas.openxmlformats.org/drawingml/2006/main">
              <a:ext uri="{FF2B5EF4-FFF2-40B4-BE49-F238E27FC236}">
                <a16:creationId xmlns:a16="http://schemas.microsoft.com/office/drawing/2014/main" id="{C99A31BB-4C98-4AA8-8688-6153E15A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93125"/>
            <a:ext cx="97299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품질 관측값은 0~1이다. 차이 = ON − OFF 평균.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한국어 비율 0.700은 70.0%, 차이 +0.218은 +21.8%p다.</a:t>
            </a:r>
          </a:p>
        </p:txBody>
      </p:sp>
      <p:sp>
        <p:nvSpPr>
          <p:cNvPr id="41" name="평가 예시  ext_raptor_011, H0C0S0">
            <a:extLst xmlns:a="http://schemas.openxmlformats.org/drawingml/2006/main">
              <a:ext uri="{FF2B5EF4-FFF2-40B4-BE49-F238E27FC236}">
                <a16:creationId xmlns:a16="http://schemas.microsoft.com/office/drawing/2014/main" id="{8DE8B263-2B27-46B0-B574-4E238802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0"/>
            <a:ext cx="9729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평가 예시  ext_raptor_011, H0C0S0</a:t>
            </a:r>
          </a:p>
        </p:txBody>
      </p:sp>
      <p:sp>
        <p:nvSpPr>
          <p:cNvPr id="42" name="질문: Cinderella 사례의 정성 분석에서 RAPTOR의 tree-based retrieval이 DPR보다 주제">
            <a:extLst xmlns:a="http://schemas.openxmlformats.org/drawingml/2006/main">
              <a:ext uri="{FF2B5EF4-FFF2-40B4-BE49-F238E27FC236}">
                <a16:creationId xmlns:a16="http://schemas.microsoft.com/office/drawing/2014/main" id="{D5B67245-DB24-43E6-AAED-83F0CC6E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02800"/>
            <a:ext cx="9729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질문: Cinderella 사례의 정성 분석에서 RAPTOR의 tree-based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retrieval이 DPR보다 주제형·멀티홉 질문에 유리했던 이유는 무엇입니까?</a:t>
            </a:r>
          </a:p>
        </p:txBody>
      </p:sp>
      <p:sp>
        <p:nvSpPr>
          <p:cNvPr id="43" name="검색 근거(PDF p.9): “By providing both the original text and higher-l">
            <a:extLst xmlns:a="http://schemas.openxmlformats.org/drawingml/2006/main">
              <a:ext uri="{FF2B5EF4-FFF2-40B4-BE49-F238E27FC236}">
                <a16:creationId xmlns:a16="http://schemas.microsoft.com/office/drawing/2014/main" id="{16E6D16C-43E6-43BC-BA40-FA2D3F71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93350"/>
            <a:ext cx="97299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검색 근거(PDF p.9): “By providing both the original text and higher-level summaries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for retrieval, RAPTOR can effectively handle a wider range of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questions, from higher-order thematic queries to detail-oriented questions.”</a:t>
            </a:r>
          </a:p>
        </p:txBody>
      </p:sp>
      <p:sp>
        <p:nvSpPr>
          <p:cNvPr id="44" name="참조 답변 요지(PDF p.20): RAPTOR는 이야기의 주요 부분을, DPR은 이야기의 좁은 일부를 자세히 검색한">
            <a:extLst xmlns:a="http://schemas.openxmlformats.org/drawingml/2006/main">
              <a:ext uri="{FF2B5EF4-FFF2-40B4-BE49-F238E27FC236}">
                <a16:creationId xmlns:a16="http://schemas.microsoft.com/office/drawing/2014/main" id="{C984E1B1-06F0-4546-AB26-D56DFE55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79175"/>
            <a:ext cx="9729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참조 답변 요지(PDF p.20): RAPTOR는 이야기의 주요 부분을,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DPR은 이야기의 좁은 일부를 자세히 검색한다.</a:t>
            </a:r>
          </a:p>
        </p:txBody>
      </p:sp>
      <p:sp>
        <p:nvSpPr>
          <p:cNvPr id="45" name="생성 답변 발췌: “질문의 요구사항에 따라 서로 다른 층위(layer)에서 노드를 선택할 수 있습니다.”">
            <a:extLst xmlns:a="http://schemas.openxmlformats.org/drawingml/2006/main">
              <a:ext uri="{FF2B5EF4-FFF2-40B4-BE49-F238E27FC236}">
                <a16:creationId xmlns:a16="http://schemas.microsoft.com/office/drawing/2014/main" id="{31FA4CAA-1322-4492-9885-FC87E83A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469725"/>
            <a:ext cx="9729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생성 답변 발췌: “질문의 요구사항에 따라 서로 다른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층위(layer)에서 노드를 선택할 수 있습니다.”</a:t>
            </a:r>
          </a:p>
        </p:txBody>
      </p:sp>
      <p:sp>
        <p:nvSpPr>
          <p:cNvPr id="46" name="충실도 1.000: 추출된 답변 주장을 검색 결과가 모두 지지 관련성 0.937: 답변 기반 질문과 원질문의 평균 의">
            <a:extLst xmlns:a="http://schemas.openxmlformats.org/drawingml/2006/main">
              <a:ext uri="{FF2B5EF4-FFF2-40B4-BE49-F238E27FC236}">
                <a16:creationId xmlns:a16="http://schemas.microsoft.com/office/drawing/2014/main" id="{8B152D4F-8DF7-4E42-AE91-AE86C32D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069800"/>
            <a:ext cx="9729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충실도 1.000: 추출된 답변 주장을 검색 결과가 모두 지지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관련성 0.937: 답변 기반 질문과 원질문의 평균 의미 유사도</a:t>
            </a:r>
          </a:p>
        </p:txBody>
      </p:sp>
      <p:sp>
        <p:nvSpPr>
          <p:cNvPr id="47" name="평가: RAGAS 0.2.15[10]·gpt-4o·BGE-M3, 저장 답변 평가 평가 언어: S0 영어 / S1 한국">
            <a:extLst xmlns:a="http://schemas.openxmlformats.org/drawingml/2006/main">
              <a:ext uri="{FF2B5EF4-FFF2-40B4-BE49-F238E27FC236}">
                <a16:creationId xmlns:a16="http://schemas.microsoft.com/office/drawing/2014/main" id="{1CED883F-9B88-4197-8F87-EC16A612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669875"/>
            <a:ext cx="9729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평가: RAGAS 0.2.15[10]·gpt-4o·BGE-M3, 저장 답변 평가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평가 언어: S0 영어 / S1 한국어 번역, 생성 입력은 모두 영어</a:t>
            </a:r>
          </a:p>
        </p:txBody>
      </p:sp>
      <p:sp>
        <p:nvSpPr>
          <p:cNvPr id="48" name="반복측정 분산분석(ANOVA)·대응 t-검정, 양측 α=0.05 품질: SCD 상태별 H×C / 한국어 비율·시간: ">
            <a:extLst xmlns:a="http://schemas.openxmlformats.org/drawingml/2006/main">
              <a:ext uri="{FF2B5EF4-FFF2-40B4-BE49-F238E27FC236}">
                <a16:creationId xmlns:a16="http://schemas.microsoft.com/office/drawing/2014/main" id="{3CBAC86F-EA9F-4B6E-A065-3779A1B1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0"/>
            <a:ext cx="9729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반복측정 분산분석(ANOVA)·대응 t-검정, 양측 α=0.05</a:t>
            </a:r>
          </a:p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품질: SCD 상태별 H×C / 한국어 비율·시간: H×C×S, SCD 대응쌍은 질의별 평균(n=60)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841973D-C4C2-4654-8747-3902723A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3476625"/>
            <a:ext cx="972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05 조합별 결과와 통계 검정">
            <a:extLst xmlns:a="http://schemas.openxmlformats.org/drawingml/2006/main">
              <a:ext uri="{FF2B5EF4-FFF2-40B4-BE49-F238E27FC236}">
                <a16:creationId xmlns:a16="http://schemas.microsoft.com/office/drawing/2014/main" id="{EEB64929-40A4-4038-A628-40DEE23F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4425" y="3505200"/>
            <a:ext cx="9539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05 조합별 결과와 통계 검정</a:t>
            </a:r>
          </a:p>
        </p:txBody>
      </p:sp>
      <p:sp>
        <p:nvSpPr>
          <p:cNvPr id="51" name="HyDE·CAD·SCD 8조합의 품질·한국어 비율·시간 평균(SD)">
            <a:extLst xmlns:a="http://schemas.openxmlformats.org/drawingml/2006/main">
              <a:ext uri="{FF2B5EF4-FFF2-40B4-BE49-F238E27FC236}">
                <a16:creationId xmlns:a16="http://schemas.microsoft.com/office/drawing/2014/main" id="{18C0E817-91B0-42EA-A32F-DA2D009E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4095750"/>
            <a:ext cx="9729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HyDE·CAD·SCD 8조합의 품질·한국어 비율·시간 평균(SD)</a:t>
            </a:r>
          </a:p>
        </p:txBody>
      </p:sp>
      <p:graphicFrame>
        <p:nvGraphicFrame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4900C09-C005-4EA1-BF88-11EA0CD1433C}"/>
              </a:ext>
            </a:extLst>
          </p:cNvPr>
          <p:cNvGraphicFramePr/>
          <p:nvPr/>
        </p:nvGraphicFramePr>
        <p:xfrm>
          <a:off xmlns:a="http://schemas.openxmlformats.org/drawingml/2006/main" x="10949175" y="4610100"/>
          <a:ext xmlns:a="http://schemas.openxmlformats.org/drawingml/2006/main" cx="9729975" cy="617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56796"/>
                <a:gridCol w="1362197"/>
                <a:gridCol w="1362197"/>
                <a:gridCol w="1362197"/>
                <a:gridCol w="1362197"/>
                <a:gridCol w="1362197"/>
                <a:gridCol w="1362197"/>
              </a:tblGrid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충실도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관련성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문맥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정밀도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문맥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재현율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한국어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</a:tr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H0C0S0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0.791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(0.260)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0.683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(0.282)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0.749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(0.302)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0.933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(0.252)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0.494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(0.265)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20.792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(23.404)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H0C1S0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0.839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(0.201)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0.675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(0.261)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0.740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(0.302)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0.917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(0.279)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0.488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(0.245)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63.867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(25.312)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H1C0S0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0.834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(0.186)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0.763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(0.209)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0.714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(0.296)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0.933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(0.252)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0.556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(0.213)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23.440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(4.707)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H1C1S0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0.860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(0.181)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0.705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(0.248)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0.736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(0.271)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0.900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(0.303)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0.503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(0.229)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73.532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(21.584)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H0C0S1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0.787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(0.254)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0.637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(0.296)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0.763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(0.300)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0.900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(0.303)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0.699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(0.329)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18.898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(5.085)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H0C1S1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0.777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(0.270)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0.600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(0.321)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0.752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(0.301)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0.850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(0.360)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0.719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(0.218)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55.159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(26.465)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H1C0S1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0.822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(0.218)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0.710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(0.272)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0.743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(0.281)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0.900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(0.303)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0.807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(0.200)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24.892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(5.196)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H1C1S1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0.831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(0.253)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0.667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(0.286)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0.754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(0.267)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0.917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(0.279)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0.731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(0.209)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64.125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(21.675)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</a:tbl>
          </a:graphicData>
        </a:graphic>
      </p:graphicFrame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BD22C05-26C4-4437-B932-1A5A5A3E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8024813"/>
            <a:ext cx="9729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S0: 영어로 평가 / S1: 한국어 번역으로 평가 충실도 H0C1S0 n=58, H0C0S1 n=57, 나머지 n=">
            <a:extLst xmlns:a="http://schemas.openxmlformats.org/drawingml/2006/main">
              <a:ext uri="{FF2B5EF4-FFF2-40B4-BE49-F238E27FC236}">
                <a16:creationId xmlns:a16="http://schemas.microsoft.com/office/drawing/2014/main" id="{EBC22191-FA2C-4FD2-A327-A0ABEAEF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10963275"/>
            <a:ext cx="97299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S0: 영어로 평가 / S1: 한국어 번역으로 평가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충실도 H0C1S0 n=58, H0C0S1 n=57, 나머지 n=60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한국어 비율·시간(초)은 RAGAS를 거치지 않고 직접 계산</a:t>
            </a:r>
          </a:p>
        </p:txBody>
      </p:sp>
      <p:sp>
        <p:nvSpPr>
          <p:cNvPr id="55" name="3요인 반복측정 ANOVA  ·  각 효과 df=(1,59)">
            <a:extLst xmlns:a="http://schemas.openxmlformats.org/drawingml/2006/main">
              <a:ext uri="{FF2B5EF4-FFF2-40B4-BE49-F238E27FC236}">
                <a16:creationId xmlns:a16="http://schemas.microsoft.com/office/drawing/2014/main" id="{BB6D5BF9-D43F-4F36-B547-2FC61036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12115800"/>
            <a:ext cx="9729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3요인 반복측정 ANOVA  ·  각 효과 df=(1,59)</a:t>
            </a:r>
          </a:p>
        </p:txBody>
      </p:sp>
      <p:graphicFrame>
        <p:nvGraphicFrame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BF09564-B404-4305-868A-67FD2D737F64}"/>
              </a:ext>
            </a:extLst>
          </p:cNvPr>
          <p:cNvGraphicFramePr/>
          <p:nvPr/>
        </p:nvGraphicFramePr>
        <p:xfrm>
          <a:off xmlns:a="http://schemas.openxmlformats.org/drawingml/2006/main" x="10949175" y="12601575"/>
          <a:ext xmlns:a="http://schemas.openxmlformats.org/drawingml/2006/main" cx="9729975" cy="4010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48695"/>
                <a:gridCol w="2140595"/>
                <a:gridCol w="1751396"/>
                <a:gridCol w="2140595"/>
                <a:gridCol w="1848695"/>
              </a:tblGrid>
              <a:tr h="6096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요인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한국어 비율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시간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</a:tr>
              <a:tr h="485775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2.924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0.093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16.362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&lt;0.001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3.365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0.072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423.765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&lt;0.001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485775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341.302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&lt;0.001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6.097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0.016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H×C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4.417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0.040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2.262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0.138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485775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H×S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0.771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0.384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0.401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0.529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C×S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0.006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0.939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12.080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&lt;0.001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485775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H×C×S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1.035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0.313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0.487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0.488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p&lt;0.05: 한국어 비율 S·H×C / 실행 시간 H·C·S·C×S RAGAS H×C 검정은 평가 언어별로 수행했으">
            <a:extLst xmlns:a="http://schemas.openxmlformats.org/drawingml/2006/main">
              <a:ext uri="{FF2B5EF4-FFF2-40B4-BE49-F238E27FC236}">
                <a16:creationId xmlns:a16="http://schemas.microsoft.com/office/drawing/2014/main" id="{38EB2C80-A5C2-40AF-AD3A-E18885C0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16764000"/>
            <a:ext cx="97299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p&lt;0.05: 한국어 비율 S·H×C / 실행 시간 H·C·S·C×S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RAGAS H×C 검정은 평가 언어별로 수행했으며,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품질 4지표 24검정의 p는 모두 0.05 이상이었다.</a:t>
            </a:r>
          </a:p>
        </p:txBody>
      </p:sp>
      <p:sp>
        <p:nvSpPr>
          <p:cNvPr id="58" name="기법별 대응 비교  ·  질의별 평균 차이, 양측 검정">
            <a:extLst xmlns:a="http://schemas.openxmlformats.org/drawingml/2006/main">
              <a:ext uri="{FF2B5EF4-FFF2-40B4-BE49-F238E27FC236}">
                <a16:creationId xmlns:a16="http://schemas.microsoft.com/office/drawing/2014/main" id="{9C452A79-733D-446C-93A6-12008511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17811750"/>
            <a:ext cx="9729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기법별 대응 비교  ·  질의별 평균 차이, 양측 검정</a:t>
            </a:r>
          </a:p>
        </p:txBody>
      </p:sp>
      <p:graphicFrame>
        <p:nvGraphicFrame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19E716F-F5B9-48A3-8899-DB884D51EE30}"/>
              </a:ext>
            </a:extLst>
          </p:cNvPr>
          <p:cNvGraphicFramePr/>
          <p:nvPr/>
        </p:nvGraphicFramePr>
        <p:xfrm>
          <a:off xmlns:a="http://schemas.openxmlformats.org/drawingml/2006/main" x="10949175" y="18316575"/>
          <a:ext xmlns:a="http://schemas.openxmlformats.org/drawingml/2006/main" cx="9729975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32494"/>
                <a:gridCol w="2237894"/>
                <a:gridCol w="1945995"/>
                <a:gridCol w="1556796"/>
                <a:gridCol w="1556796"/>
              </a:tblGrid>
              <a:tr h="8001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차이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(SD)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t(df)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dz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</a:tr>
              <a:tr h="8001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HyDE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 관련성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0.080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(0.279)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2.236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(59)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0.029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0.289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CAD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 충실도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0.029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(0.255)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0.862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(57)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0.393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0.113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8001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SCD H0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한국어 비율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0.218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(0.121)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13.951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(59)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&lt;0.001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1.801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" name="HyDE: C0S0, CAD: H0S0, SCD: H0의 CAD 상태 평균 p: 양측 p, dz: 차이 평균/차이 S">
            <a:extLst xmlns:a="http://schemas.openxmlformats.org/drawingml/2006/main">
              <a:ext uri="{FF2B5EF4-FFF2-40B4-BE49-F238E27FC236}">
                <a16:creationId xmlns:a16="http://schemas.microsoft.com/office/drawing/2014/main" id="{D187388D-E0E5-4EB8-95C8-05E88948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21564600"/>
            <a:ext cx="97299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HyDE: C0S0, CAD: H0S0, SCD: H0의 CAD 상태 평균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p: 양측 p, dz: 차이 평균/차이 SD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평균표 SD는 점수의 산포, 대응표 SD는 ON−OFF 차이의 산포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A2F5F60-D6C2-4A1F-B4FA-FDEFF5B7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22526625"/>
            <a:ext cx="972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06 결과 해석">
            <a:extLst xmlns:a="http://schemas.openxmlformats.org/drawingml/2006/main">
              <a:ext uri="{FF2B5EF4-FFF2-40B4-BE49-F238E27FC236}">
                <a16:creationId xmlns:a16="http://schemas.microsoft.com/office/drawing/2014/main" id="{9AAFB2FD-863F-41F1-85F1-E1BCDDCE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4425" y="22555200"/>
            <a:ext cx="9539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06 결과 해석</a:t>
            </a:r>
          </a:p>
        </p:txBody>
      </p:sp>
      <p:sp>
        <p:nvSpPr>
          <p:cNvPr id="63" name="HyDE: 기본 조건에서 관련성이 유의하게 높았으나(p=0.029), SCD 적용 조건의 추가 비교에서는 p=0.11">
            <a:extLst xmlns:a="http://schemas.openxmlformats.org/drawingml/2006/main">
              <a:ext uri="{FF2B5EF4-FFF2-40B4-BE49-F238E27FC236}">
                <a16:creationId xmlns:a16="http://schemas.microsoft.com/office/drawing/2014/main" id="{2241DB9C-967A-4B2B-AFF2-97033132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23050500"/>
            <a:ext cx="97299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HyDE: 기본 조건에서 관련성이 유의하게 높았으나(p=0.029),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SCD 적용 조건의 추가 비교에서는 p=0.114였다.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CAD: 충실도 차이는 작았고(p=0.393), 실행 시간은 약 2.9배였다.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SCD: 네 조합 모두에서 한국어 문자 비율이 높았고, CAD와 함께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쓰면 CAD의 추가 시간이 약 8.8초 줄었다(C×S, p&lt;0.001).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838B24F-5971-45CA-9C51-E7160AB5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24593550"/>
            <a:ext cx="972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07 결론">
            <a:extLst xmlns:a="http://schemas.openxmlformats.org/drawingml/2006/main">
              <a:ext uri="{FF2B5EF4-FFF2-40B4-BE49-F238E27FC236}">
                <a16:creationId xmlns:a16="http://schemas.microsoft.com/office/drawing/2014/main" id="{718314C9-D4D0-49DA-96CE-635BAF3A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4425" y="24622125"/>
            <a:ext cx="9539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07 결론</a:t>
            </a:r>
          </a:p>
        </p:txBody>
      </p:sp>
      <p:sp>
        <p:nvSpPr>
          <p:cNvPr id="66" name="한국어 답변이 필요하면 SCD가 비용이 작은 선택지다. HyDE의 관련성 향상은 기본 조건(C0S0)에서 관측되었고,">
            <a:extLst xmlns:a="http://schemas.openxmlformats.org/drawingml/2006/main">
              <a:ext uri="{FF2B5EF4-FFF2-40B4-BE49-F238E27FC236}">
                <a16:creationId xmlns:a16="http://schemas.microsoft.com/office/drawing/2014/main" id="{8CE915E6-69C5-4058-ADF7-9302F18B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25193625"/>
            <a:ext cx="972997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한국어 답변이 필요하면 SCD가 비용이 작은 선택지다.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HyDE의 관련성 향상은 기본 조건(C0S0)에서 관측되었고,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이 차이에는 질의 번역과 가상 문서 생성이 함께 포함되었다.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CAD는 시간 비용이 커서(약 2.9배; SCD 미적용 3.1배, 적용 2.7배),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지식 충돌형 질의처럼 효과가 기대될 때 선택적으로 검토한다.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후속 실험: 번역 단독 조건, 반복 생성·평가, 한국어 사람 평가.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32BC51D-0505-4A2A-BE46-381816F7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0"/>
            <a:ext cx="1997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08 주요 참고문헌">
            <a:extLst xmlns:a="http://schemas.openxmlformats.org/drawingml/2006/main">
              <a:ext uri="{FF2B5EF4-FFF2-40B4-BE49-F238E27FC236}">
                <a16:creationId xmlns:a16="http://schemas.microsoft.com/office/drawing/2014/main" id="{B9884EFE-C170-45C5-AA20-4229AD5F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79575"/>
            <a:ext cx="1978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08 주요 참고문헌</a:t>
            </a:r>
          </a:p>
        </p:txBody>
      </p:sp>
      <p:sp>
        <p:nvSpPr>
          <p:cNvPr id="69" name="[1] Lewis et al. RAG. NeurIPS, 2020. [2] Gao et al. HyDE. ACL, 20">
            <a:extLst xmlns:a="http://schemas.openxmlformats.org/drawingml/2006/main">
              <a:ext uri="{FF2B5EF4-FFF2-40B4-BE49-F238E27FC236}">
                <a16:creationId xmlns:a16="http://schemas.microsoft.com/office/drawing/2014/main" id="{74580B26-B021-426B-98D4-64380D75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60600"/>
            <a:ext cx="97299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[1] Lewis et al. RAG. NeurIPS, 2020.</a:t>
            </a:r>
          </a:p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[2] Gao et al. HyDE. ACL, 2023.</a:t>
            </a:r>
          </a:p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[3] Shi et al. Context-Aware Decoding. NAACL, 2024.</a:t>
            </a:r>
          </a:p>
        </p:txBody>
      </p:sp>
      <p:sp>
        <p:nvSpPr>
          <p:cNvPr id="70" name="[4] Li et al. Language Drift and SCD. AAAI, 2026. [5] Chen et al.">
            <a:extLst xmlns:a="http://schemas.openxmlformats.org/drawingml/2006/main">
              <a:ext uri="{FF2B5EF4-FFF2-40B4-BE49-F238E27FC236}">
                <a16:creationId xmlns:a16="http://schemas.microsoft.com/office/drawing/2014/main" id="{EC5EEF81-0438-4142-9FD1-6DE96EDA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27660600"/>
            <a:ext cx="97299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[4] Li et al. Language Drift and SCD. AAAI, 2026.</a:t>
            </a:r>
          </a:p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[5] Chen et al. M3-Embedding. ACL Findings, 2024.</a:t>
            </a:r>
          </a:p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[10] Es et al. RAGAs. EACL Demonstrations, 2024.</a:t>
            </a:r>
          </a:p>
        </p:txBody>
      </p:sp>
      <p:sp>
        <p:nvSpPr>
          <p:cNvPr id="71" name="[6] Robertson et al. Okapi at TREC-3. NIST, 1995. [7] Cormack et ">
            <a:extLst xmlns:a="http://schemas.openxmlformats.org/drawingml/2006/main">
              <a:ext uri="{FF2B5EF4-FFF2-40B4-BE49-F238E27FC236}">
                <a16:creationId xmlns:a16="http://schemas.microsoft.com/office/drawing/2014/main" id="{F608A2BD-623A-46AC-AFD5-16A72F73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670250"/>
            <a:ext cx="9729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[6] Robertson et al. Okapi at TREC-3. NIST, 1995.</a:t>
            </a:r>
          </a:p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[7] Cormack et al. Reciprocal Rank Fusion. SIGIR, 2009.</a:t>
            </a:r>
          </a:p>
        </p:txBody>
      </p:sp>
      <p:sp>
        <p:nvSpPr>
          <p:cNvPr id="72" name="[8] MacAvaney et al. CEDR. SIGIR, 2019. 공식 모델  [M1] KT Mi:dm 2.0 ">
            <a:extLst xmlns:a="http://schemas.openxmlformats.org/drawingml/2006/main">
              <a:ext uri="{FF2B5EF4-FFF2-40B4-BE49-F238E27FC236}">
                <a16:creationId xmlns:a16="http://schemas.microsoft.com/office/drawing/2014/main" id="{E5D7AFA4-F9A2-4852-9C77-163A9601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28670250"/>
            <a:ext cx="9729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[8] MacAvaney et al. CEDR. SIGIR, 2019.</a:t>
            </a:r>
          </a:p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공식 모델  [M1] KT Mi:dm 2.0 / [M2] MiniLM CrossEncoder</a:t>
            </a:r>
          </a:p>
        </p:txBody>
      </p:sp>
      <p:sp>
        <p:nvSpPr>
          <p:cNvPr id="73" name="전체 참고문헌 22편과 모델·자료 출처는 논문의 참고문헌에 수록">
            <a:extLst xmlns:a="http://schemas.openxmlformats.org/drawingml/2006/main">
              <a:ext uri="{FF2B5EF4-FFF2-40B4-BE49-F238E27FC236}">
                <a16:creationId xmlns:a16="http://schemas.microsoft.com/office/drawing/2014/main" id="{2E8E43B5-0B52-4F3C-BE48-BA26BD72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56050"/>
            <a:ext cx="19974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전체 참고문헌 22편과 모델·자료 출처는 논문의 참고문헌에 수록</a:t>
            </a:r>
          </a:p>
        </p:txBody>
      </p:sp>
      <p:sp>
        <p:nvSpPr>
          <p:cNvPr id="74" name="영어 문서 4종 · 질의 60개 · 생성 모델 1종 · 질의별 반복측정">
            <a:extLst xmlns:a="http://schemas.openxmlformats.org/drawingml/2006/main">
              <a:ext uri="{FF2B5EF4-FFF2-40B4-BE49-F238E27FC236}">
                <a16:creationId xmlns:a16="http://schemas.microsoft.com/office/drawing/2014/main" id="{423A4DE1-5A3A-44FC-9820-6DD679F4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670375"/>
            <a:ext cx="1997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0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0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0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0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0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0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0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0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0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rPr>
              <a:t>영어 문서 4종 · 질의 60개 · 생성 모델 1종 · 질의별 반복측정</a:t>
            </a:r>
          </a:p>
        </p:txBody>
      </p:sp>
      <p:sp>
        <p:nvSpPr>
          <p:cNvPr id="75" name="A1 594 × 841 mm">
            <a:extLst xmlns:a="http://schemas.openxmlformats.org/drawingml/2006/main">
              <a:ext uri="{FF2B5EF4-FFF2-40B4-BE49-F238E27FC236}">
                <a16:creationId xmlns:a16="http://schemas.microsoft.com/office/drawing/2014/main" id="{3906BF05-F89B-453D-ABE6-D29A7412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89450"/>
            <a:ext cx="19974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05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05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05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05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05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05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05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05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05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rPr>
              <a:t>A1 594 × 841 mm</a:t>
            </a:r>
          </a:p>
        </p:txBody>
      </p:sp>
    </p:spTree>
    <p:extLst>
      <p:ext uri="{BB962C8B-B14F-4D97-AF65-F5344CB8AC3E}">
        <p14:creationId xmlns:p14="http://schemas.microsoft.com/office/powerpoint/2010/main" val="9205808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2026-10-18T14:46:49.6830000Z</dcterms:created>
  <dcterms:modified xsi:type="dcterms:W3CDTF">2026-10-18T14:46:49.6830000Z</dcterms:modified>
</coreProperties>
</file>