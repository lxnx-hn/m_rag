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8afd6dc3b964459" /><Relationship Type="http://schemas.openxmlformats.org/officeDocument/2006/relationships/extended-properties" Target="/docProps/app.xml" Id="R96cc7a9274354a1a" /><Relationship Type="http://schemas.openxmlformats.org/officeDocument/2006/relationships/officeDocument" Target="/ppt/presentation.xml" Id="R7bbec8f346d24a6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235bf1f6f664c81"/>
  </p:sldMasterIdLst>
  <p:notesMasterIdLst>
    <p:notesMasterId xmlns:r="http://schemas.openxmlformats.org/officeDocument/2006/relationships" r:id="Rdd3939f53baa400d"/>
  </p:notesMasterIdLst>
  <p:sldIdLst>
    <p:sldId xmlns:r="http://schemas.openxmlformats.org/officeDocument/2006/relationships" id="256" r:id="Re375367e10cc407b"/>
  </p:sldIdLst>
  <p:sldSz cx="21384000" cy="30276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9865815a93e4918" /><Relationship Type="http://schemas.openxmlformats.org/officeDocument/2006/relationships/slideMaster" Target="/ppt/slideMasters/slideMaster1.xml" Id="R6235bf1f6f664c81" /><Relationship Type="http://schemas.openxmlformats.org/officeDocument/2006/relationships/notesMaster" Target="/ppt/notesMasters/notesMaster1.xml" Id="Rdd3939f53baa400d" /><Relationship Type="http://schemas.openxmlformats.org/officeDocument/2006/relationships/presProps" Target="/ppt/presProps.xml" Id="R8736db5597fe4e65" /><Relationship Type="http://schemas.openxmlformats.org/officeDocument/2006/relationships/tableStyles" Target="/ppt/tableStyles.xml" Id="Rbbc9aec3601e47f3" /><Relationship Type="http://schemas.openxmlformats.org/officeDocument/2006/relationships/slide" Target="/ppt/slides/slide1.xml" Id="Re375367e10cc407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4e5a5898d8d4c9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15c4d05c4594480" /><Relationship Type="http://schemas.openxmlformats.org/officeDocument/2006/relationships/notesMaster" Target="/ppt/notesMasters/notesMaster1.xml" Id="R44e39e43dcdf470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Research sources and full statistics: FINALDOCS/DATA/TTEST_ANOVA_60Q.json; FINALDOCS/MANUSCRIPT/GRADUATION_REPORT_TRANSFER_KO_60Q.md. The exploratory analysis uses query-level paired t-tests and repeated-measures ANOVA with two-sided alpha 0.05 and no multiplicity adjustment. Editable tables follow explicit data-type alignment. Reference [4] https://ojs.aaai.org/index.php/AAAI/article/view/40417; [8] https://doi.org/10.1145/3331184.3331317 is conceptual ranking background, not the implemented CEDR architecture. [M1] https://huggingface.co/K-intelligence/Midm-2.0-Base-Instruct; [M2] https://huggingface.co/cross-encoder/ms-marco-MiniLM-L6-v2. The English case evidence is a contiguous saved context excerpt (PDF p.9), reference evidence is on PDF p.20. References follow manuscript numbering.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5b16b848f4458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622f04cc3043b6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fc6a087065436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9c28d8334b4250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906e1b4b614ed2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a8932aed444f3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7C0BAFA-B223-4E60-99AC-127FBC0D859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38400" y="11437600"/>
            <a:ext cx="17107200" cy="437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8419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1722EE8-B848-4B0B-9468-5D6C6817804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3207600" y="16651800"/>
            <a:ext cx="14968800" cy="336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E65C68E4-B19B-414A-999E-42315129271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138400" y="12615000"/>
            <a:ext cx="17107200" cy="504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7367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F31241B-A97F-4299-A9AC-F0157EAABDE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50" y="2354800"/>
            <a:ext cx="18978300" cy="37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E4E7E5E-1A2C-42E0-93CF-71AEC85BCC1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50" y="8410000"/>
            <a:ext cx="189783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935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470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004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5393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3073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608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4143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677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D5D812A-FDAF-4B24-9C9D-FB29B3C0FB0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50" y="2354800"/>
            <a:ext cx="18978300" cy="37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5D9849A-6575-4645-8D61-27673A9280F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50" y="8410000"/>
            <a:ext cx="88209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935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470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004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5393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3073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608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4143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677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CFD4B5D-6546-4CF6-8A2B-7B1C789071A2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1360250" y="8410000"/>
            <a:ext cx="88209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935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470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004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5393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3073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608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4143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677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68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497BE03-BD2D-4F5F-8AA9-2FBA4F1FED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02850" y="2354800"/>
            <a:ext cx="18978300" cy="3700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5788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A2718882-54BE-4AE2-BBCF-118386EB17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1202850" y="8410000"/>
            <a:ext cx="8820900" cy="18838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400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935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470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2004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5393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30739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36085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41431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4677750" indent="-400950" algn="l">
              <a:lnSpc>
                <a:spcPct val="110000"/>
              </a:lnSpc>
              <a:spcBef>
                <a:spcPts val="0"/>
              </a:spcBef>
              <a:spcAft>
                <a:spcPts val="2105"/>
              </a:spcAft>
              <a:buChar char="•"/>
              <a:defRPr sz="3946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97d9d9d0a114cf4" /><Relationship Type="http://schemas.openxmlformats.org/officeDocument/2006/relationships/slideLayout" Target="/ppt/slideLayouts/slideLayout1.xml" Id="R13ad1610903c456d" /><Relationship Type="http://schemas.openxmlformats.org/officeDocument/2006/relationships/slideLayout" Target="/ppt/slideLayouts/slideLayout2.xml" Id="Raa47b83c4b44442f" /><Relationship Type="http://schemas.openxmlformats.org/officeDocument/2006/relationships/slideLayout" Target="/ppt/slideLayouts/slideLayout3.xml" Id="Rd864ad15c57047f7" /><Relationship Type="http://schemas.openxmlformats.org/officeDocument/2006/relationships/slideLayout" Target="/ppt/slideLayouts/slideLayout4.xml" Id="R9d61913635c24bf8" /><Relationship Type="http://schemas.openxmlformats.org/officeDocument/2006/relationships/slideLayout" Target="/ppt/slideLayouts/slideLayout5.xml" Id="Rd70f9866964b4fb1" /><Relationship Type="http://schemas.openxmlformats.org/officeDocument/2006/relationships/slideLayout" Target="/ppt/slideLayouts/slideLayout6.xml" Id="R5547191a3a99437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3ad1610903c456d"/>
    <p:sldLayoutId xmlns:r="http://schemas.openxmlformats.org/officeDocument/2006/relationships" id="2147483650" r:id="Raa47b83c4b44442f"/>
    <p:sldLayoutId xmlns:r="http://schemas.openxmlformats.org/officeDocument/2006/relationships" id="2147483651" r:id="Rd864ad15c57047f7"/>
    <p:sldLayoutId xmlns:r="http://schemas.openxmlformats.org/officeDocument/2006/relationships" id="2147483652" r:id="R9d61913635c24bf8"/>
    <p:sldLayoutId xmlns:r="http://schemas.openxmlformats.org/officeDocument/2006/relationships" id="2147483653" r:id="Rd70f9866964b4fb1"/>
    <p:sldLayoutId xmlns:r="http://schemas.openxmlformats.org/officeDocument/2006/relationships" id="2147483654" r:id="R5547191a3a99437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338fa2712e44028" /><Relationship Type="http://schemas.openxmlformats.org/officeDocument/2006/relationships/notesSlide" Target="/ppt/notesSlides/notesSlide1.xml" Id="Raa488d49cd2148b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588A753-C5A7-4FB4-92AF-E8386BB8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1384000" cy="3067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한국어 질의로 영어 학술·기술 문서를 검색하는">
            <a:extLst xmlns:a="http://schemas.openxmlformats.org/drawingml/2006/main">
              <a:ext uri="{FF2B5EF4-FFF2-40B4-BE49-F238E27FC236}">
                <a16:creationId xmlns:a16="http://schemas.microsoft.com/office/drawing/2014/main" id="{98D35406-EEF0-4CD4-9D0D-F9C774496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8150"/>
            <a:ext cx="20317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한국어 질의로 영어 학술·기술 문서를 검색하는</a:t>
            </a:r>
          </a:p>
        </p:txBody>
      </p:sp>
      <p:sp>
        <p:nvSpPr>
          <p:cNvPr id="3" name="RAG에서의 HyDE·CAD·SCD 조합 실험">
            <a:extLst xmlns:a="http://schemas.openxmlformats.org/drawingml/2006/main">
              <a:ext uri="{FF2B5EF4-FFF2-40B4-BE49-F238E27FC236}">
                <a16:creationId xmlns:a16="http://schemas.microsoft.com/office/drawing/2014/main" id="{E408D2E7-5DC9-4E7B-A58D-61B1A7507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62075"/>
            <a:ext cx="203172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52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RAG에서의 HyDE·CAD·SCD 조합 실험</a:t>
            </a:r>
          </a:p>
        </p:txBody>
      </p:sp>
      <p:sp>
        <p:nvSpPr>
          <p:cNvPr id="4" name="문종건 · 동국대학교 WISE캠퍼스 컴퓨터공학과 · 지도교수 김진석 · 2026.10.15">
            <a:extLst xmlns:a="http://schemas.openxmlformats.org/drawingml/2006/main">
              <a:ext uri="{FF2B5EF4-FFF2-40B4-BE49-F238E27FC236}">
                <a16:creationId xmlns:a16="http://schemas.microsoft.com/office/drawing/2014/main" id="{33A74FED-624E-49DA-A8CD-D4E3025E1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486025"/>
            <a:ext cx="20317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0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문종건 · 동국대학교 WISE캠퍼스 컴퓨터공학과 · 지도교수 김진석 · 2026.10.15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4DF89C-E278-440C-8963-49FB8E9EB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7662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01 연구 배경과 목적">
            <a:extLst xmlns:a="http://schemas.openxmlformats.org/drawingml/2006/main">
              <a:ext uri="{FF2B5EF4-FFF2-40B4-BE49-F238E27FC236}">
                <a16:creationId xmlns:a16="http://schemas.microsoft.com/office/drawing/2014/main" id="{BFF15FD1-5AE2-4B54-8FCD-DA7CD889F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0520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01 연구 배경과 목적</a:t>
            </a:r>
          </a:p>
        </p:txBody>
      </p:sp>
      <p:sp>
        <p:nvSpPr>
          <p:cNvPr id="7" name="검색 증강 생성(Retrieval-Augmented Generation, RAG)은 관련 문서 구간을 검색하고 그 텍">
            <a:extLst xmlns:a="http://schemas.openxmlformats.org/drawingml/2006/main">
              <a:ext uri="{FF2B5EF4-FFF2-40B4-BE49-F238E27FC236}">
                <a16:creationId xmlns:a16="http://schemas.microsoft.com/office/drawing/2014/main" id="{A7CB3FE7-97E8-4D81-8342-D368E706B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95750"/>
            <a:ext cx="972997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검색 증강 생성(Retrieval-Augmented Generation, RAG)은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관련 문서 구간을 검색하고 그 텍스트로 답변을 생성한다[1].</a:t>
            </a:r>
          </a:p>
        </p:txBody>
      </p:sp>
      <p:sp>
        <p:nvSpPr>
          <p:cNvPr id="8" name="HyDE: 가상 문서 임베딩(Hypothetical Document Embeddings) 가상 문서 검색 입력 구성[">
            <a:extLst xmlns:a="http://schemas.openxmlformats.org/drawingml/2006/main">
              <a:ext uri="{FF2B5EF4-FFF2-40B4-BE49-F238E27FC236}">
                <a16:creationId xmlns:a16="http://schemas.microsoft.com/office/drawing/2014/main" id="{EC806C2C-1E27-4650-85F5-021605D0D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05350"/>
            <a:ext cx="9729975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HyDE: 가상 문서 임베딩(Hypothetical Document Embeddings)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가상 문서 검색 입력 구성[2]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CAD: 문맥 인식 디코딩(Context-Aware Decoding)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검색 근거의 영향 조정[3]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SCD: 소프트 제약 디코딩(Soft Constrained Decoding)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출력 언어 제어[4]</a:t>
            </a:r>
          </a:p>
        </p:txBody>
      </p:sp>
      <p:sp>
        <p:nvSpPr>
          <p:cNvPr id="9" name="HyDE는 한국어를 포함한 다국어 검색에서 평가되었다[2]. 한국어 질의–영어 문서 환경에서 HyDE·CAD·SCD의">
            <a:extLst xmlns:a="http://schemas.openxmlformats.org/drawingml/2006/main">
              <a:ext uri="{FF2B5EF4-FFF2-40B4-BE49-F238E27FC236}">
                <a16:creationId xmlns:a16="http://schemas.microsoft.com/office/drawing/2014/main" id="{702D493F-86F8-410D-8E8B-CB765BC15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457950"/>
            <a:ext cx="9729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HyDE는 한국어를 포함한 다국어 검색에서 평가되었다[2].</a:t>
            </a:r>
          </a:p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질의–영어 문서 환경에서 HyDE·CAD·SCD의</a:t>
            </a:r>
          </a:p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개별 차이와 조합 효과를 같은 파이프라인에서 비교하였다.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DAAC475-77ED-4736-800A-8861726B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36282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02 Paper-RAG 구조와 기법 적용 위치">
            <a:extLst xmlns:a="http://schemas.openxmlformats.org/drawingml/2006/main">
              <a:ext uri="{FF2B5EF4-FFF2-40B4-BE49-F238E27FC236}">
                <a16:creationId xmlns:a16="http://schemas.microsoft.com/office/drawing/2014/main" id="{E3BD0098-3652-4F43-8EA0-33F0BD15F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739140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02 Paper-RAG 구조와 기법 적용 위치</a:t>
            </a:r>
          </a:p>
        </p:txBody>
      </p:sp>
      <p:sp>
        <p:nvSpPr>
          <p:cNvPr id="12" name="Paper-RAG는 실험에 사용한 고정 검색·생성 파이프라인이다.">
            <a:extLst xmlns:a="http://schemas.openxmlformats.org/drawingml/2006/main">
              <a:ext uri="{FF2B5EF4-FFF2-40B4-BE49-F238E27FC236}">
                <a16:creationId xmlns:a16="http://schemas.microsoft.com/office/drawing/2014/main" id="{65790FA7-706C-4CCD-9B50-B6AFFD43C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972425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Paper-RAG는 실험에 사용한 고정 검색·생성 파이프라인이다.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93D2AE8-1B79-4888-8F4C-99CAD857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8515350"/>
            <a:ext cx="4655438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2F6DF6"/>
            </a:solidFill>
            <a:prstDash val="solid"/>
          </a:ln>
        </p:spPr>
      </p:sp>
      <p:sp>
        <p:nvSpPr>
          <p:cNvPr id="14" name="한국어 질의 HyDE OFF: 원질의 HyDE ON: 영어 번역·가상 문서">
            <a:extLst xmlns:a="http://schemas.openxmlformats.org/drawingml/2006/main">
              <a:ext uri="{FF2B5EF4-FFF2-40B4-BE49-F238E27FC236}">
                <a16:creationId xmlns:a16="http://schemas.microsoft.com/office/drawing/2014/main" id="{3654D477-6733-454A-B7F7-C181647B4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629650"/>
            <a:ext cx="4503038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질의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 OFF: 원질의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 ON: 영어 번역·가상 문서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7747A0-E20C-4769-9D02-CF7A7DBCA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9388" y="8515350"/>
            <a:ext cx="4655438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695184"/>
            </a:solidFill>
            <a:prstDash val="solid"/>
          </a:ln>
        </p:spPr>
      </p:sp>
      <p:sp>
        <p:nvSpPr>
          <p:cNvPr id="16" name="BM25 희소 검색[6] 한국어 원질의 사용">
            <a:extLst xmlns:a="http://schemas.openxmlformats.org/drawingml/2006/main">
              <a:ext uri="{FF2B5EF4-FFF2-40B4-BE49-F238E27FC236}">
                <a16:creationId xmlns:a16="http://schemas.microsoft.com/office/drawing/2014/main" id="{ACDFC118-C032-478F-AD46-18EC7D77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5588" y="8629650"/>
            <a:ext cx="4503038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BM25 희소 검색[6]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원질의 사용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74C2BD-B9B7-49EF-88CB-B5F38ED7B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63150"/>
            <a:ext cx="4655438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2F6DF6"/>
            </a:solidFill>
            <a:prstDash val="solid"/>
          </a:ln>
        </p:spPr>
      </p:sp>
      <p:sp>
        <p:nvSpPr>
          <p:cNvPr id="18" name="BGE-M3 밀집 검색[5]">
            <a:extLst xmlns:a="http://schemas.openxmlformats.org/drawingml/2006/main">
              <a:ext uri="{FF2B5EF4-FFF2-40B4-BE49-F238E27FC236}">
                <a16:creationId xmlns:a16="http://schemas.microsoft.com/office/drawing/2014/main" id="{19EE5B8B-6472-465C-BD69-6E4EF3AF9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0077450"/>
            <a:ext cx="4503038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BGE-M3 밀집 검색[5]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D039B9-CFAE-4DBA-AC09-EA5D171D5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9388" y="9963150"/>
            <a:ext cx="4655438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695184"/>
            </a:solidFill>
            <a:prstDash val="solid"/>
          </a:ln>
        </p:spPr>
      </p:sp>
      <p:sp>
        <p:nvSpPr>
          <p:cNvPr id="20" name="가중 RRF[7] 0.6 / 0.4, k=60">
            <a:extLst xmlns:a="http://schemas.openxmlformats.org/drawingml/2006/main">
              <a:ext uri="{FF2B5EF4-FFF2-40B4-BE49-F238E27FC236}">
                <a16:creationId xmlns:a16="http://schemas.microsoft.com/office/drawing/2014/main" id="{F99617E2-4428-4175-A3F3-E0A3B2F9C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5588" y="10077450"/>
            <a:ext cx="4503038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가중 RRF[7]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0.6 / 0.4, k=60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2B7DFCE-5098-4056-B08C-A24DCDFCF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2946844" y="9696450"/>
            <a:ext cx="1714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2BA4699-CED3-4379-81D6-5C05350B7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436488" y="10115550"/>
            <a:ext cx="266700" cy="1905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4232A8F-9529-4010-8844-E0F6C238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8021381" y="9696450"/>
            <a:ext cx="17145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048D26-F3E7-42D7-A017-56D562298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1010900"/>
            <a:ext cx="9729975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695184"/>
            </a:solidFill>
            <a:prstDash val="solid"/>
          </a:ln>
        </p:spPr>
      </p:sp>
      <p:sp>
        <p:nvSpPr>
          <p:cNvPr id="25" name="원질의·구간 쌍 CrossEncoder 재정렬[8][M2] 상위 5개 구간 선택·입력 길이 관리">
            <a:extLst xmlns:a="http://schemas.openxmlformats.org/drawingml/2006/main">
              <a:ext uri="{FF2B5EF4-FFF2-40B4-BE49-F238E27FC236}">
                <a16:creationId xmlns:a16="http://schemas.microsoft.com/office/drawing/2014/main" id="{8EA43AF2-B64A-4825-9209-54524E873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1125200"/>
            <a:ext cx="95775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원질의·구간 쌍 CrossEncoder 재정렬[8][M2]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상위 5개 구간 선택·입력 길이 관리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666C21F-B1C2-495D-99E4-DEE471276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2134850"/>
            <a:ext cx="9729975" cy="790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D"/>
          </a:solidFill>
          <a:ln xmlns:a="http://schemas.openxmlformats.org/drawingml/2006/main" w="19050">
            <a:solidFill>
              <a:srgbClr val="16846F"/>
            </a:solidFill>
            <a:prstDash val="solid"/>
          </a:ln>
        </p:spPr>
      </p:sp>
      <p:sp>
        <p:nvSpPr>
          <p:cNvPr id="27" name="Mi:dm 2.0 Base Instruct[M1] CAD 로짓 결합 후 SCD 언어별 조정, 최종 답변 생성">
            <a:extLst xmlns:a="http://schemas.openxmlformats.org/drawingml/2006/main">
              <a:ext uri="{FF2B5EF4-FFF2-40B4-BE49-F238E27FC236}">
                <a16:creationId xmlns:a16="http://schemas.microsoft.com/office/drawing/2014/main" id="{D2C6A544-5047-4101-9718-9B4665AB6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2249150"/>
            <a:ext cx="9577575" cy="676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Mi:dm 2.0 Base Instruct[M1]</a:t>
            </a:r>
          </a:p>
          <a:p xmlns:a="http://schemas.openxmlformats.org/drawingml/2006/main">
            <a:pPr algn="ctr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 로짓 결합 후 SCD 언어별 조정, 최종 답변 생성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AA8C1C-2718-487D-AEAC-C0F7205B4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484113" y="10772775"/>
            <a:ext cx="1714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FE2221B-1614-44C7-A556-F8899D09C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5484113" y="11887200"/>
            <a:ext cx="1714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4324A"/>
          </a:solidFill>
          <a:ln xmlns:a="http://schemas.openxmlformats.org/drawingml/2006/main" w="0">
            <a:solidFill>
              <a:srgbClr val="24324A"/>
            </a:solidFill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F530EC-E47E-4AA1-BCA2-8125DD7D1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239750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03 3요인 완전요인 실험 설계">
            <a:extLst xmlns:a="http://schemas.openxmlformats.org/drawingml/2006/main">
              <a:ext uri="{FF2B5EF4-FFF2-40B4-BE49-F238E27FC236}">
                <a16:creationId xmlns:a16="http://schemas.microsoft.com/office/drawing/2014/main" id="{A69E3D3F-0F58-40D0-9834-C475E82D5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3268325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03 3요인 완전요인 실험 설계</a:t>
            </a:r>
          </a:p>
        </p:txBody>
      </p:sp>
      <p:sp>
        <p:nvSpPr>
          <p:cNvPr id="32" name="H=HyDE, C=CAD, S=SCD   0=미적용, 1=적용">
            <a:extLst xmlns:a="http://schemas.openxmlformats.org/drawingml/2006/main">
              <a:ext uri="{FF2B5EF4-FFF2-40B4-BE49-F238E27FC236}">
                <a16:creationId xmlns:a16="http://schemas.microsoft.com/office/drawing/2014/main" id="{71871DC1-BCB9-401D-9EAE-446559189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811250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H=HyDE, C=CAD, S=SCD   0=미적용, 1=적용</a:t>
            </a:r>
          </a:p>
        </p:txBody>
      </p:sp>
      <p:graphicFrame>
        <p:nvGraphicFrame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AD321E6-9B75-47AF-AF04-C2D002046E83}"/>
              </a:ext>
            </a:extLst>
          </p:cNvPr>
          <p:cNvGraphicFramePr/>
          <p:nvPr/>
        </p:nvGraphicFramePr>
        <p:xfrm>
          <a:off xmlns:a="http://schemas.openxmlformats.org/drawingml/2006/main" x="704850" y="14258925"/>
          <a:ext xmlns:a="http://schemas.openxmlformats.org/drawingml/2006/main" cx="9729975" cy="3086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475789"/>
                <a:gridCol w="1751396"/>
                <a:gridCol w="1751396"/>
                <a:gridCol w="1751396"/>
              </a:tblGrid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조건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</a:tbl>
          </a:graphicData>
        </a:graphic>
      </p:graphicFrame>
      <p:sp>
        <p:nvSpPr>
          <p:cNvPr id="34" name="같은 질의 60개 × 8조건 반복측정 = 480개 생성 기록">
            <a:extLst xmlns:a="http://schemas.openxmlformats.org/drawingml/2006/main">
              <a:ext uri="{FF2B5EF4-FFF2-40B4-BE49-F238E27FC236}">
                <a16:creationId xmlns:a16="http://schemas.microsoft.com/office/drawing/2014/main" id="{116B4C4D-F43E-4030-BF53-304C1D03D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526000"/>
            <a:ext cx="9729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같은 질의 60개 × 8조건 반복측정 = 480개 생성 기록</a:t>
            </a:r>
          </a:p>
        </p:txBody>
      </p:sp>
      <p:sp>
        <p:nvSpPr>
          <p:cNvPr id="35" name="생성 512토큰, CAD α=0.5, SCD α=1.1·β=0.9·Tstart=5">
            <a:extLst xmlns:a="http://schemas.openxmlformats.org/drawingml/2006/main">
              <a:ext uri="{FF2B5EF4-FFF2-40B4-BE49-F238E27FC236}">
                <a16:creationId xmlns:a16="http://schemas.microsoft.com/office/drawing/2014/main" id="{31036749-CA9D-41BB-8831-0CDC2316E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945100"/>
            <a:ext cx="9729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생성 512토큰, CAD α=0.5, SCD α=1.1·β=0.9·Tstart=5</a:t>
            </a:r>
          </a:p>
        </p:txBody>
      </p:sp>
      <p:sp>
        <p:nvSpPr>
          <p:cNvPr id="36" name="문서 요약을 15개 내용 단위로 나누어 질의를 작성하고, 총 60개 질의의 원문 페이지·정답 근거·답변 가능성을 확인">
            <a:extLst xmlns:a="http://schemas.openxmlformats.org/drawingml/2006/main">
              <a:ext uri="{FF2B5EF4-FFF2-40B4-BE49-F238E27FC236}">
                <a16:creationId xmlns:a16="http://schemas.microsoft.com/office/drawing/2014/main" id="{E2A9BD50-6725-4102-A775-2019F889C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8383250"/>
            <a:ext cx="97299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문서 요약을 15개 내용 단위로 나누어 질의를 작성하고,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총 60개 질의의 원문 페이지·정답 근거·답변 가능성을 확인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0303BCD-161F-4E51-9E8E-2C63C2D40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145250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04 평가 지표 및 실험·통계 방법">
            <a:extLst xmlns:a="http://schemas.openxmlformats.org/drawingml/2006/main">
              <a:ext uri="{FF2B5EF4-FFF2-40B4-BE49-F238E27FC236}">
                <a16:creationId xmlns:a16="http://schemas.microsoft.com/office/drawing/2014/main" id="{E4C8F15C-80C5-4B90-9D18-F64AD1EDA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9173825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04 평가 지표 및 실험·통계 방법</a:t>
            </a:r>
          </a:p>
        </p:txBody>
      </p:sp>
      <p:sp>
        <p:nvSpPr>
          <p:cNvPr id="39" name="근거 충실도: 높을수록 검색 근거가 지지하는 답변 주장 비율이 크다. 답변 관련성: 높을수록 답변 기반 질문과 원질문">
            <a:extLst xmlns:a="http://schemas.openxmlformats.org/drawingml/2006/main">
              <a:ext uri="{FF2B5EF4-FFF2-40B4-BE49-F238E27FC236}">
                <a16:creationId xmlns:a16="http://schemas.microsoft.com/office/drawing/2014/main" id="{34D4FEBF-3FAE-466A-90E0-F2D762690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9716750"/>
            <a:ext cx="972997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근거 충실도: 높을수록 검색 근거가 지지하는 답변 주장 비율이 크다.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답변 관련성: 높을수록 답변 기반 질문과 원질문의 의미가 가깝다.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문맥 정밀도: 높을수록 참조 답변에 유용한 구간이 상위에 놓인다.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문맥 재현율: 높을수록 검색 근거가 포괄하는 참조 답변 비중이 크다.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비율: 한글 / (한글 + ASCII 영문자), 높을수록 한글 비중이 크다.</a:t>
            </a:r>
          </a:p>
        </p:txBody>
      </p:sp>
      <p:sp>
        <p:nvSpPr>
          <p:cNvPr id="40" name="품질 관측값은 0~1이다. 관련성 +0.080은 ON−OFF 평균 차이 0.080점이다. SD는 질의별 분포의 표본표">
            <a:extLst xmlns:a="http://schemas.openxmlformats.org/drawingml/2006/main">
              <a:ext uri="{FF2B5EF4-FFF2-40B4-BE49-F238E27FC236}">
                <a16:creationId xmlns:a16="http://schemas.microsoft.com/office/drawing/2014/main" id="{88C0CADF-57BA-4362-A5A5-D47FC13AC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193125"/>
            <a:ext cx="9729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품질 관측값은 0~1이다. 관련성 +0.080은 ON−OFF 평균 차이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0.080점이다. SD는 질의별 분포의 표본표준편차다.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비율 0.700은 70.0%, 차이 +0.218은 +21.8%p다.</a:t>
            </a:r>
          </a:p>
        </p:txBody>
      </p:sp>
      <p:sp>
        <p:nvSpPr>
          <p:cNvPr id="41" name="평가 예시  ext_raptor_011, H0C0S0">
            <a:extLst xmlns:a="http://schemas.openxmlformats.org/drawingml/2006/main">
              <a:ext uri="{FF2B5EF4-FFF2-40B4-BE49-F238E27FC236}">
                <a16:creationId xmlns:a16="http://schemas.microsoft.com/office/drawing/2014/main" id="{E37F1A37-A672-4B83-AEB7-C8CA70C6E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098000"/>
            <a:ext cx="97299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평가 예시  ext_raptor_011, H0C0S0</a:t>
            </a:r>
          </a:p>
        </p:txBody>
      </p:sp>
      <p:sp>
        <p:nvSpPr>
          <p:cNvPr id="42" name="질문: Cinderella 사례의 정성 분석에서 RAPTOR의 tree-based retrieval이 DPR보다 주제">
            <a:extLst xmlns:a="http://schemas.openxmlformats.org/drawingml/2006/main">
              <a:ext uri="{FF2B5EF4-FFF2-40B4-BE49-F238E27FC236}">
                <a16:creationId xmlns:a16="http://schemas.microsoft.com/office/drawing/2014/main" id="{DC3499A3-42C3-4F21-A0E8-20049CE17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0280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질문: Cinderella 사례의 정성 분석에서 RAPTOR의 tree-based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retrieval이 DPR보다 주제형·멀티홉 질문에 유리했던 이유는 무엇입니까?</a:t>
            </a:r>
          </a:p>
        </p:txBody>
      </p:sp>
      <p:sp>
        <p:nvSpPr>
          <p:cNvPr id="43" name="검색 근거(PDF p.9): “By providing both the original text and higher-l">
            <a:extLst xmlns:a="http://schemas.openxmlformats.org/drawingml/2006/main">
              <a:ext uri="{FF2B5EF4-FFF2-40B4-BE49-F238E27FC236}">
                <a16:creationId xmlns:a16="http://schemas.microsoft.com/office/drawing/2014/main" id="{C3ADAF69-E5B3-449E-A7FD-5356507FA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993350"/>
            <a:ext cx="97299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검색 근거(PDF p.9): “By providing both the original text and higher-level summaries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for retrieval, RAPTOR can effectively handle a wider range of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questions, from higher-order thematic queries to detail-oriented questions.”</a:t>
            </a:r>
          </a:p>
        </p:txBody>
      </p:sp>
      <p:sp>
        <p:nvSpPr>
          <p:cNvPr id="44" name="참조 답변 요지(PDF p.20): RAPTOR는 이야기의 주요 부분을, DPR은 이야기의 좁은 일부를 자세히 검색한">
            <a:extLst xmlns:a="http://schemas.openxmlformats.org/drawingml/2006/main">
              <a:ext uri="{FF2B5EF4-FFF2-40B4-BE49-F238E27FC236}">
                <a16:creationId xmlns:a16="http://schemas.microsoft.com/office/drawing/2014/main" id="{9C0E3B67-A5CE-45EC-8464-516C9CBB5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879175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참조 답변 요지(PDF p.20): RAPTOR는 이야기의 주요 부분을,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DPR은 이야기의 좁은 일부를 자세히 검색한다.</a:t>
            </a:r>
          </a:p>
        </p:txBody>
      </p:sp>
      <p:sp>
        <p:nvSpPr>
          <p:cNvPr id="45" name="생성 답변 발췌: “질문의 요구사항에 따라 서로 다른 층위(layer)에서 노드를 선택할 수 있습니다.”">
            <a:extLst xmlns:a="http://schemas.openxmlformats.org/drawingml/2006/main">
              <a:ext uri="{FF2B5EF4-FFF2-40B4-BE49-F238E27FC236}">
                <a16:creationId xmlns:a16="http://schemas.microsoft.com/office/drawing/2014/main" id="{A623D024-5FFC-45AF-95E6-B29CC4D9C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4469725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생성 답변 발췌: “질문의 요구사항에 따라 서로 다른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층위(layer)에서 노드를 선택할 수 있습니다.”</a:t>
            </a:r>
          </a:p>
        </p:txBody>
      </p:sp>
      <p:sp>
        <p:nvSpPr>
          <p:cNvPr id="46" name="충실도 1.000: 추출된 답변 주장을 검색 결과가 모두 지지 관련성 0.937: 답변 기반 질문과 원질문의 평균 의">
            <a:extLst xmlns:a="http://schemas.openxmlformats.org/drawingml/2006/main">
              <a:ext uri="{FF2B5EF4-FFF2-40B4-BE49-F238E27FC236}">
                <a16:creationId xmlns:a16="http://schemas.microsoft.com/office/drawing/2014/main" id="{9A302188-48D6-4F4F-BCFF-73D34CA44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06980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충실도 1.000: 추출된 답변 주장을 검색 결과가 모두 지지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관련성 0.937: 답변 기반 질문과 원질문의 평균 의미 유사도</a:t>
            </a:r>
          </a:p>
        </p:txBody>
      </p:sp>
      <p:sp>
        <p:nvSpPr>
          <p:cNvPr id="47" name="평가: RAGAS 0.2.15[10]·gpt-4o·BGE-M3, 저장 답변 평가 평가 언어: S0 영어 / S1 한국">
            <a:extLst xmlns:a="http://schemas.openxmlformats.org/drawingml/2006/main">
              <a:ext uri="{FF2B5EF4-FFF2-40B4-BE49-F238E27FC236}">
                <a16:creationId xmlns:a16="http://schemas.microsoft.com/office/drawing/2014/main" id="{0B8F4923-F7F9-43DE-8B49-D3938F05B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5669875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평가: RAGAS 0.2.15[10]·gpt-4o·BGE-M3, 저장 답변 평가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평가 언어: S0 영어 / S1 한국어 번역, 생성 입력은 모두 영어</a:t>
            </a:r>
          </a:p>
        </p:txBody>
      </p:sp>
      <p:sp>
        <p:nvSpPr>
          <p:cNvPr id="48" name="반복측정 분산분석(ANOVA)·대응 t-검정, 양측 α=0.05 품질: SCD 상태별 H×C / 한국어 비율·시간: ">
            <a:extLst xmlns:a="http://schemas.openxmlformats.org/drawingml/2006/main">
              <a:ext uri="{FF2B5EF4-FFF2-40B4-BE49-F238E27FC236}">
                <a16:creationId xmlns:a16="http://schemas.microsoft.com/office/drawing/2014/main" id="{EB0B9160-DBEB-4086-AF5F-982005DCC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28900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반복측정 분산분석(ANOVA)·대응 t-검정, 양측 α=0.05</a:t>
            </a:r>
          </a:p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품질: SCD 상태별 H×C / 한국어 비율·시간: H×C×S, SCD 대응쌍은 질의별 평균(n=60)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0C34AB8-5FB9-44BC-8D41-E5CE950F9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347662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05 조합별 결과와 통계 검정">
            <a:extLst xmlns:a="http://schemas.openxmlformats.org/drawingml/2006/main">
              <a:ext uri="{FF2B5EF4-FFF2-40B4-BE49-F238E27FC236}">
                <a16:creationId xmlns:a16="http://schemas.microsoft.com/office/drawing/2014/main" id="{B8026820-DC64-4CAE-846B-BBD1C4EB4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4425" y="350520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05 조합별 결과와 통계 검정</a:t>
            </a:r>
          </a:p>
        </p:txBody>
      </p:sp>
      <p:sp>
        <p:nvSpPr>
          <p:cNvPr id="51" name="HyDE·CAD·SCD 8조합의 품질·한국어 비율·시간 평균(SD)">
            <a:extLst xmlns:a="http://schemas.openxmlformats.org/drawingml/2006/main">
              <a:ext uri="{FF2B5EF4-FFF2-40B4-BE49-F238E27FC236}">
                <a16:creationId xmlns:a16="http://schemas.microsoft.com/office/drawing/2014/main" id="{C8442F1B-C298-43B8-974A-C33CA8E52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4095750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HyDE·CAD·SCD 8조합의 품질·한국어 비율·시간 평균(SD)</a:t>
            </a:r>
          </a:p>
        </p:txBody>
      </p:sp>
      <p:graphicFrame>
        <p:nvGraphicFrame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1BFE966-BC00-4A78-B095-B71984F5A4EB}"/>
              </a:ext>
            </a:extLst>
          </p:cNvPr>
          <p:cNvGraphicFramePr/>
          <p:nvPr/>
        </p:nvGraphicFramePr>
        <p:xfrm>
          <a:off xmlns:a="http://schemas.openxmlformats.org/drawingml/2006/main" x="10949175" y="4610100"/>
          <a:ext xmlns:a="http://schemas.openxmlformats.org/drawingml/2006/main" cx="9729975" cy="6172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56796"/>
                <a:gridCol w="1362197"/>
                <a:gridCol w="1362197"/>
                <a:gridCol w="1362197"/>
                <a:gridCol w="1362197"/>
                <a:gridCol w="1362197"/>
                <a:gridCol w="1362197"/>
              </a:tblGrid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조건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근거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충실도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답변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관련성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정밀도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문맥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재현율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한국어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비율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실행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시간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0.791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0.683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(0.282)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0.749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0.933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0.494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20.792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(23.404)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0.839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0.675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0.740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0.917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0.488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(0.245)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63.867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(25.312)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0.834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(0.186)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0.763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0.714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(0.296)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0.933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0.556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(0.213)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23.440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(4.707)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H1C1S0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0.860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(0.181)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0.705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(0.248)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0.736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0.900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0.503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(0.229)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73.532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(21.584)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0.787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(0.254)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0.637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(0.296)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0.763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0.900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0.699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(0.329)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18.898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(5.085)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H0C1S1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0.777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0.600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(0.321)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0.752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0.850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(0.360)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0.719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(0.218)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55.159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(26.465)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H1C0S1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0.822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(0.218)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0.710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(0.272)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0.743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(0.281)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0.900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(0.303)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0.807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(0.200)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24.892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(5.196)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H1C1S1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0.831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(0.253)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0.667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(0.286)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0.754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(0.267)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0.917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0.731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(0.209)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64.125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(21.675)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</a:tbl>
          </a:graphicData>
        </a:graphic>
      </p:graphicFrame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EE5D3F3-A0F6-4031-BFA9-423A029CF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8024813"/>
            <a:ext cx="97299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S0: 영어로 평가 / S1: 한국어 번역으로 평가 충실도 H0C1S0 n=58, H0C0S1 n=57, 나머지 n=">
            <a:extLst xmlns:a="http://schemas.openxmlformats.org/drawingml/2006/main">
              <a:ext uri="{FF2B5EF4-FFF2-40B4-BE49-F238E27FC236}">
                <a16:creationId xmlns:a16="http://schemas.microsoft.com/office/drawing/2014/main" id="{295E0488-BDFD-4C11-B933-812D2285E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0963275"/>
            <a:ext cx="97299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S0: 영어로 평가 / S1: 한국어 번역으로 평가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충실도 H0C1S0 n=58, H0C0S1 n=57, 나머지 n=60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한국어 비율·시간(초)은 생성 기록에서 직접 계산</a:t>
            </a:r>
          </a:p>
        </p:txBody>
      </p:sp>
      <p:sp>
        <p:nvSpPr>
          <p:cNvPr id="55" name="3요인 반복측정 ANOVA  ·  각 효과 df=(1,59)">
            <a:extLst xmlns:a="http://schemas.openxmlformats.org/drawingml/2006/main">
              <a:ext uri="{FF2B5EF4-FFF2-40B4-BE49-F238E27FC236}">
                <a16:creationId xmlns:a16="http://schemas.microsoft.com/office/drawing/2014/main" id="{40531829-FA42-40F2-ABFC-4704220EC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2115800"/>
            <a:ext cx="97299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3요인 반복측정 ANOVA  ·  각 효과 df=(1,59)</a:t>
            </a:r>
          </a:p>
        </p:txBody>
      </p:sp>
      <p:graphicFrame>
        <p:nvGraphicFrame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93AD65B-8613-4291-8BAE-D64014BEB2C3}"/>
              </a:ext>
            </a:extLst>
          </p:cNvPr>
          <p:cNvGraphicFramePr/>
          <p:nvPr/>
        </p:nvGraphicFramePr>
        <p:xfrm>
          <a:off xmlns:a="http://schemas.openxmlformats.org/drawingml/2006/main" x="10949175" y="12601575"/>
          <a:ext xmlns:a="http://schemas.openxmlformats.org/drawingml/2006/main" cx="9729975" cy="40100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48695"/>
                <a:gridCol w="2140595"/>
                <a:gridCol w="1751396"/>
                <a:gridCol w="2140595"/>
                <a:gridCol w="1848695"/>
              </a:tblGrid>
              <a:tr h="6096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요인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한국어 비율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실행 시간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2.924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0.093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16.362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3.365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0.072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423.765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341.302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6.097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0.016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H×C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4.417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0.040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2.262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0.138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H×S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0.771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0.384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0.529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C×S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0.006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0.939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12.080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485775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H×C×S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1.035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0.313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0.487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0.488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p&lt;0.05: 한국어 비율 S·H×C / 실행 시간 H·C·S·C×S RAGAS H×C 검정은 평가 언어별로 수행했으">
            <a:extLst xmlns:a="http://schemas.openxmlformats.org/drawingml/2006/main">
              <a:ext uri="{FF2B5EF4-FFF2-40B4-BE49-F238E27FC236}">
                <a16:creationId xmlns:a16="http://schemas.microsoft.com/office/drawing/2014/main" id="{8D43E5C8-53AE-46BC-8AC2-0CAB42FBF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6764000"/>
            <a:ext cx="9729975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p&lt;0.05: 한국어 비율 S·H×C / 실행 시간 H·C·S·C×S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RAGAS H×C 검정은 평가 언어별로 수행했으며,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품질 4지표 24검정의 p는 모두 0.05 이상이었다.</a:t>
            </a:r>
          </a:p>
        </p:txBody>
      </p:sp>
      <p:sp>
        <p:nvSpPr>
          <p:cNvPr id="58" name="기법별 대응 비교  ·  질의별 평균 차이, 양측 검정">
            <a:extLst xmlns:a="http://schemas.openxmlformats.org/drawingml/2006/main">
              <a:ext uri="{FF2B5EF4-FFF2-40B4-BE49-F238E27FC236}">
                <a16:creationId xmlns:a16="http://schemas.microsoft.com/office/drawing/2014/main" id="{1CBB8F47-5559-4E64-A827-F5A96B999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17811750"/>
            <a:ext cx="97299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기법별 대응 비교  ·  질의별 평균 차이, 양측 검정</a:t>
            </a:r>
          </a:p>
        </p:txBody>
      </p:sp>
      <p:graphicFrame>
        <p:nvGraphicFrame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05563F7-B5A4-434B-8C44-4B92B7814EC4}"/>
              </a:ext>
            </a:extLst>
          </p:cNvPr>
          <p:cNvGraphicFramePr/>
          <p:nvPr/>
        </p:nvGraphicFramePr>
        <p:xfrm>
          <a:off xmlns:a="http://schemas.openxmlformats.org/drawingml/2006/main" x="10949175" y="18316575"/>
          <a:ext xmlns:a="http://schemas.openxmlformats.org/drawingml/2006/main" cx="9729975" cy="32004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32494"/>
                <a:gridCol w="2237894"/>
                <a:gridCol w="1945995"/>
                <a:gridCol w="1556796"/>
                <a:gridCol w="1556796"/>
              </a:tblGrid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비교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차이</a:t>
                      </a:r>
                    </a:p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(SD)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t(df)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ctr"/>
                      <a:r>
                        <a:rPr sz="1800" b="1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dz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T w="6668">
                      <a:solidFill>
                        <a:srgbClr val="D8CFE4"/>
                      </a:solidFill>
                      <a:prstDash val="solid"/>
                    </a:lnT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EAE4F1"/>
                    </a:solidFill>
                  </a:tcPr>
                </a:tc>
              </a:tr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HyDE</a:t>
                      </a:r>
                    </a:p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답변 관련성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0.080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(0.279)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2.236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0.029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0.289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CAD</a:t>
                      </a:r>
                    </a:p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근거 충실도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0.029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(0.255)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0.862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(57)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0.393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0.113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8F6FA"/>
                    </a:solidFill>
                  </a:tcPr>
                </a:tc>
              </a:tr>
              <a:tr h="800100"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SCD H0</a:t>
                      </a:r>
                    </a:p>
                    <a:p>
                      <a:pPr algn="l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한국어 비율</a:t>
                      </a:r>
                    </a:p>
                  </a:txBody>
                  <a:tcPr marL="91440" marR="91440" marT="45720" marB="45720" anchor="ctr">
                    <a:lnL w="6668">
                      <a:solidFill>
                        <a:srgbClr val="D8CFE4"/>
                      </a:solidFill>
                      <a:prstDash val="solid"/>
                    </a:lnL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0.218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(0.121)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13.951</a:t>
                      </a:r>
                    </a:p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(59)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&lt;0.001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 lIns="38100" tIns="38100" rIns="38100" bIns="3810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4324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1.801</a:t>
                      </a:r>
                    </a:p>
                  </a:txBody>
                  <a:tcPr marL="91440" marR="91440" marT="45720" marB="45720" anchor="ctr">
                    <a:lnR w="6668">
                      <a:solidFill>
                        <a:srgbClr val="D8CFE4"/>
                      </a:solidFill>
                      <a:prstDash val="solid"/>
                    </a:lnR>
                    <a:lnB w="6668">
                      <a:solidFill>
                        <a:srgbClr val="D8CFE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0" name="HyDE: C0S0, CAD: H0S0, SCD: H0의 CAD 상태 평균 p: 다중비교 보정 없는 양측 p, dz:">
            <a:extLst xmlns:a="http://schemas.openxmlformats.org/drawingml/2006/main">
              <a:ext uri="{FF2B5EF4-FFF2-40B4-BE49-F238E27FC236}">
                <a16:creationId xmlns:a16="http://schemas.microsoft.com/office/drawing/2014/main" id="{C0816845-668B-41BA-BDBE-562C26C5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1564600"/>
            <a:ext cx="972997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HyDE: C0S0, CAD: H0S0, SCD: H0의 CAD 상태 평균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p: 다중비교 보정 없는 양측 p, dz: 차이 평균/차이 SD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SCD 차이 +0.218은 한글 비중 +21.8%p에 해당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평균표 SD는 점수의 산포, 대응표 SD는 ON−OFF 차이의 산포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016D7BE4-F789-46BA-AD29-2F59AB9C1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2812375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06 결과 해석">
            <a:extLst xmlns:a="http://schemas.openxmlformats.org/drawingml/2006/main">
              <a:ext uri="{FF2B5EF4-FFF2-40B4-BE49-F238E27FC236}">
                <a16:creationId xmlns:a16="http://schemas.microsoft.com/office/drawing/2014/main" id="{6F48715C-D631-4F96-9C90-6B0BF3448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4425" y="22840950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06 결과 해석</a:t>
            </a:r>
          </a:p>
        </p:txBody>
      </p:sp>
      <p:sp>
        <p:nvSpPr>
          <p:cNvPr id="63" name="HyDE 관련성은 평균 +0.080점, t(59)=2.236, p=0.029였다. CAD 충실도는 평균 +0.029점">
            <a:extLst xmlns:a="http://schemas.openxmlformats.org/drawingml/2006/main">
              <a:ext uri="{FF2B5EF4-FFF2-40B4-BE49-F238E27FC236}">
                <a16:creationId xmlns:a16="http://schemas.microsoft.com/office/drawing/2014/main" id="{3E3E3D95-84C1-4D2B-B648-631C8BDC0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3336250"/>
            <a:ext cx="9729975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 관련성은 평균 +0.080점, t(59)=2.236, p=0.029였다.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 충실도는 평균 +0.029점, t(57)=0.862, p=0.393이었다.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SCD 주 비교의 한국어 비율은 21.8%p 높았다(p&lt;0.001).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 시간 증가: SCD OFF +46.6초 / ON +37.7초.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DDFB009-280C-4D25-8BD8-EC906DF81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4688800"/>
            <a:ext cx="9729975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07 결론">
            <a:extLst xmlns:a="http://schemas.openxmlformats.org/drawingml/2006/main">
              <a:ext uri="{FF2B5EF4-FFF2-40B4-BE49-F238E27FC236}">
                <a16:creationId xmlns:a16="http://schemas.microsoft.com/office/drawing/2014/main" id="{BEF4C6BB-82A6-46F7-B90D-D803172EA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4425" y="24717375"/>
            <a:ext cx="95394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07 결론</a:t>
            </a:r>
          </a:p>
        </p:txBody>
      </p:sp>
      <p:sp>
        <p:nvSpPr>
          <p:cNvPr id="66" name="HyDE는 C0S0에서 관련성을 높였고(p=0.029), CAD 충실도 차이는 p=0.393이었다. SCD는 같은 영">
            <a:extLst xmlns:a="http://schemas.openxmlformats.org/drawingml/2006/main">
              <a:ext uri="{FF2B5EF4-FFF2-40B4-BE49-F238E27FC236}">
                <a16:creationId xmlns:a16="http://schemas.microsoft.com/office/drawing/2014/main" id="{86590124-E2D6-4D2C-BCE9-2DA0B098C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5288875"/>
            <a:ext cx="9729975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HyDE는 C0S0에서 관련성을 높였고(p=0.029), CAD 충실도 차이는 p=0.393이었다.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SCD는 같은 영어 근거에서 한국어 사용 비중을 높였다.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CAD는 실행 시간을 SCD 미적용 3.1배, 적용 2.7배로 늘렸다.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HyDE 비교에는 질의 번역과 가상 문서 생성이 함께 포함됐다.</a:t>
            </a:r>
          </a:p>
          <a:p xmlns:a="http://schemas.openxmlformats.org/drawingml/2006/main">
            <a:pPr algn="l">
              <a:def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후속 실험: 번역 단독 조건, 반복 생성·평가, 한국어 사람 평가.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36ABA67-7A8C-4E2E-91E6-A3D620081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051000"/>
            <a:ext cx="199743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9518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08 주요 참고문헌">
            <a:extLst xmlns:a="http://schemas.openxmlformats.org/drawingml/2006/main">
              <a:ext uri="{FF2B5EF4-FFF2-40B4-BE49-F238E27FC236}">
                <a16:creationId xmlns:a16="http://schemas.microsoft.com/office/drawing/2014/main" id="{4D6854E6-000C-459A-B5ED-65287A85E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079575"/>
            <a:ext cx="19783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0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08 주요 참고문헌</a:t>
            </a:r>
          </a:p>
        </p:txBody>
      </p:sp>
      <p:sp>
        <p:nvSpPr>
          <p:cNvPr id="69" name="[1] Lewis et al. RAG. NeurIPS, 2020. [2] Gao et al. HyDE. ACL, 20">
            <a:extLst xmlns:a="http://schemas.openxmlformats.org/drawingml/2006/main">
              <a:ext uri="{FF2B5EF4-FFF2-40B4-BE49-F238E27FC236}">
                <a16:creationId xmlns:a16="http://schemas.microsoft.com/office/drawing/2014/main" id="{825D5A2E-31B9-4494-A2A9-4E4FF8352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660600"/>
            <a:ext cx="972997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[1] Lewis et al. RAG. NeurIPS, 2020.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[2] Gao et al. HyDE. ACL, 2023.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[3] Shi et al. Context-Aware Decoding. NAACL, 2024.</a:t>
            </a:r>
          </a:p>
        </p:txBody>
      </p:sp>
      <p:sp>
        <p:nvSpPr>
          <p:cNvPr id="70" name="[4] Li et al. Language Drift and SCD. AAAI, 2026. [5] Chen et al.">
            <a:extLst xmlns:a="http://schemas.openxmlformats.org/drawingml/2006/main">
              <a:ext uri="{FF2B5EF4-FFF2-40B4-BE49-F238E27FC236}">
                <a16:creationId xmlns:a16="http://schemas.microsoft.com/office/drawing/2014/main" id="{DE9E04A5-62CE-4805-8CFA-37769019A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7660600"/>
            <a:ext cx="9729975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[4] Li et al. Language Drift and SCD. AAAI, 2026.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[5] Chen et al. M3-Embedding. ACL Findings, 2024.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[10] Es et al. RAGAs. EACL Demonstrations, 2024.</a:t>
            </a:r>
          </a:p>
        </p:txBody>
      </p:sp>
      <p:sp>
        <p:nvSpPr>
          <p:cNvPr id="71" name="[6] Robertson et al. Okapi at TREC-3. NIST, 1995. [7] Cormack et ">
            <a:extLst xmlns:a="http://schemas.openxmlformats.org/drawingml/2006/main">
              <a:ext uri="{FF2B5EF4-FFF2-40B4-BE49-F238E27FC236}">
                <a16:creationId xmlns:a16="http://schemas.microsoft.com/office/drawing/2014/main" id="{78204908-7C94-46F5-ABDD-4B5AEE8C3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867025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[6] Robertson et al. Okapi at TREC-3. NIST, 1995.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[7] Cormack et al. Reciprocal Rank Fusion. SIGIR, 2009.</a:t>
            </a:r>
          </a:p>
        </p:txBody>
      </p:sp>
      <p:sp>
        <p:nvSpPr>
          <p:cNvPr id="72" name="[8] MacAvaney et al. CEDR. SIGIR, 2019. 공식 모델  [M1] KT Mi:dm 2.0 ">
            <a:extLst xmlns:a="http://schemas.openxmlformats.org/drawingml/2006/main">
              <a:ext uri="{FF2B5EF4-FFF2-40B4-BE49-F238E27FC236}">
                <a16:creationId xmlns:a16="http://schemas.microsoft.com/office/drawing/2014/main" id="{A19F4303-8579-495D-AFDA-452DB00C7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49175" y="28670250"/>
            <a:ext cx="97299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[8] MacAvaney et al. CEDR. SIGIR, 2019.</a:t>
            </a:r>
          </a:p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공식 모델  [M1] KT Mi:dm 2.0 / [M2] MiniLM CrossEncoder</a:t>
            </a:r>
          </a:p>
        </p:txBody>
      </p:sp>
      <p:sp>
        <p:nvSpPr>
          <p:cNvPr id="73" name="전체 참고문헌 22편과 모델·자료 출처는 논문의 참고문헌에 수록">
            <a:extLst xmlns:a="http://schemas.openxmlformats.org/drawingml/2006/main">
              <a:ext uri="{FF2B5EF4-FFF2-40B4-BE49-F238E27FC236}">
                <a16:creationId xmlns:a16="http://schemas.microsoft.com/office/drawing/2014/main" id="{C324540F-2DBC-4D8F-9B96-472E99434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356050"/>
            <a:ext cx="19974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defRPr>
            </a:pPr>
            <a:r>
              <a:rPr sz="1600" b="0">
                <a:solidFill>
                  <a:srgbClr val="24324A"/>
                </a:solidFill>
                <a:latin typeface="Malgun Gothic"/>
                <a:ea typeface="Malgun Gothic"/>
                <a:cs typeface="Malgun Gothic"/>
              </a:rPr>
              <a:t>전체 참고문헌 22편과 모델·자료 출처는 논문의 참고문헌에 수록</a:t>
            </a:r>
          </a:p>
        </p:txBody>
      </p:sp>
      <p:sp>
        <p:nvSpPr>
          <p:cNvPr id="74" name="영어 문서 4종 · 질의 60개 · 생성 모델 1종 · 질의별 반복측정">
            <a:extLst xmlns:a="http://schemas.openxmlformats.org/drawingml/2006/main">
              <a:ext uri="{FF2B5EF4-FFF2-40B4-BE49-F238E27FC236}">
                <a16:creationId xmlns:a16="http://schemas.microsoft.com/office/drawing/2014/main" id="{D495E1C2-3AAE-4CF5-9BE2-746AF70B1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670375"/>
            <a:ext cx="19974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pPr>
            <a:r>
              <a:rPr sz="140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rPr>
              <a:t>영어 문서 4종 · 질의 60개 · 생성 모델 1종 · 질의별 반복측정</a:t>
            </a:r>
          </a:p>
        </p:txBody>
      </p:sp>
      <p:sp>
        <p:nvSpPr>
          <p:cNvPr id="75" name="A1 594 × 841 mm">
            <a:extLst xmlns:a="http://schemas.openxmlformats.org/drawingml/2006/main">
              <a:ext uri="{FF2B5EF4-FFF2-40B4-BE49-F238E27FC236}">
                <a16:creationId xmlns:a16="http://schemas.microsoft.com/office/drawing/2014/main" id="{7AD36D54-2D25-403B-9A86-DCF8076F8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889450"/>
            <a:ext cx="199743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defRPr>
            </a:pPr>
            <a:r>
              <a:rPr sz="1050" b="0">
                <a:solidFill>
                  <a:srgbClr val="695184"/>
                </a:solidFill>
                <a:latin typeface="Malgun Gothic"/>
                <a:ea typeface="Malgun Gothic"/>
                <a:cs typeface="Malgun Gothic"/>
              </a:rPr>
              <a:t>A1 594 × 841 mm</a:t>
            </a:r>
          </a:p>
        </p:txBody>
      </p:sp>
    </p:spTree>
    <p:extLst>
      <p:ext uri="{BB962C8B-B14F-4D97-AF65-F5344CB8AC3E}">
        <p14:creationId xmlns:p14="http://schemas.microsoft.com/office/powerpoint/2010/main" val="20475513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2026-10-18T03:19:19.5370000Z</dcterms:created>
  <dcterms:modified xsi:type="dcterms:W3CDTF">2026-10-18T03:19:19.5370000Z</dcterms:modified>
</coreProperties>
</file>