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384000" cy="3027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384000" cy="2880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324000"/>
            <a:ext cx="19800000" cy="1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6200" b="1">
                <a:solidFill>
                  <a:srgbClr val="FFFFFF"/>
                </a:solidFill>
                <a:latin typeface="Malgun Gothic"/>
                <a:ea typeface="Malgun Gothic"/>
              </a:rPr>
              <a:t>한국어 질의로 영어 학술 및 기술 문서를 검색하는</a:t>
            </a:r>
          </a:p>
          <a:p>
            <a:pPr algn="ctr">
              <a:lnSpc>
                <a:spcPct val="105000"/>
              </a:lnSpc>
            </a:pPr>
            <a:r>
              <a:rPr sz="6200" b="1">
                <a:solidFill>
                  <a:srgbClr val="FFFFFF"/>
                </a:solidFill>
                <a:latin typeface="Malgun Gothic"/>
                <a:ea typeface="Malgun Gothic"/>
              </a:rPr>
              <a:t>RAG에서의 HyDE, CAD, SCD 조합 실험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2376000"/>
            <a:ext cx="1980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</a:rPr>
              <a:t>[학과] [학번] [이름], 지도교수 [지도교수]</a:t>
            </a:r>
          </a:p>
        </p:txBody>
      </p:sp>
      <p:sp>
        <p:nvSpPr>
          <p:cNvPr id="5" name="Rectangle 4"/>
          <p:cNvSpPr/>
          <p:nvPr/>
        </p:nvSpPr>
        <p:spPr>
          <a:xfrm>
            <a:off x="792000" y="3240000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6000" y="3265200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01 연구 배경과 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3852000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한국어 질문으로 영어 논문을 검색해 한국어로 답하는 RAG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4294066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HyDE는 검색 입력, CAD는 근거 반영, SCD는 출력 언어를 조정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4736132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같은 질문 60개로 유형마다 유리한 기법을 비교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000" y="5610198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6000" y="5635398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02 파이프라인과 실험 조건</a:t>
            </a:r>
          </a:p>
        </p:txBody>
      </p:sp>
      <p:pic>
        <p:nvPicPr>
          <p:cNvPr id="12" name="Picture 11" descr="poster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6366198"/>
            <a:ext cx="9612000" cy="3661714"/>
          </a:xfrm>
          <a:prstGeom prst="rect">
            <a:avLst/>
          </a:prstGeom>
        </p:spPr>
      </p:pic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92000" y="10387912"/>
          <a:ext cx="9612000" cy="3287781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332160"/>
                <a:gridCol w="1281600"/>
                <a:gridCol w="1281600"/>
                <a:gridCol w="1281600"/>
                <a:gridCol w="2435040"/>
              </a:tblGrid>
              <a:tr h="365309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조건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품질 평가 근거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1 미적용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영어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 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영어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3 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영어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4 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한국어 번역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5 HyDE+CAD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영어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6 HyDE+SCD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한국어 번역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7 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한국어 번역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8 HyDE+CAD+SCD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한국어 번역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92000" y="13783698"/>
            <a:ext cx="9612000" cy="9053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63044"/>
                </a:solidFill>
                <a:latin typeface="Malgun Gothic"/>
                <a:ea typeface="Malgun Gothic"/>
              </a:rPr>
              <a:t>- HyDE는 Hypothetical Document Embeddings, CAD는
  Context-Aware Decoding, SCD는 Soft Constrained Decoding
  표의 +는 적용, −는 미적용을 뜻함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80000" y="3240000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24000" y="3265200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03 질문 60개와 평가 지표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80000" y="3852000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영어 문서 4종에서 15개씩 질문 60개, 조건 8개, 답변 480개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80000" y="4294066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수치 질문 18개, 방법 질문 25개, 개념과 결과 질문 17개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0980000" y="4772132"/>
          <a:ext cx="9611999" cy="2712113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57363"/>
                <a:gridCol w="4878818"/>
                <a:gridCol w="2475818"/>
              </a:tblGrid>
              <a:tr h="349814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지표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무엇을 측정하는가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값의 방향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근거 충실도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답변 주장 중 입력 구간이 뒷받침하는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근거 일치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613229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답변 관련성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답변에서 만든 질문과 원래 질문의 유사도</a:t>
                      </a:r>
                    </a:p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회피하거나 모호한 응답은 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질문에 부합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문맥 정밀도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유용한 검색 구간이 위쪽에 놓인 정도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순위 정확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문맥 재현율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참조 답변을 검색 구간이 뒷받침하는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근거 확보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한국어 문자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한글 ÷ (한글 + ASCII 영문자)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한국어 출력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처리 시간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질문 하나의 검색과 생성 시간(초)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낮을수록 비용 감소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10980000" y="7556249"/>
            <a:ext cx="961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777777"/>
                </a:solidFill>
                <a:latin typeface="Malgun Gothic"/>
                <a:ea typeface="Malgun Gothic"/>
              </a:rPr>
              <a:t>점수 지표는 0에서 1 사이이며 관련성의 이론 범위는 −1에서 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980000" y="7952249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24000" y="7977449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04 단일 기법의 처리 시간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980000" y="8564249"/>
          <a:ext cx="9611998" cy="146123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63606"/>
                <a:gridCol w="2521180"/>
                <a:gridCol w="2363606"/>
                <a:gridCol w="2363606"/>
              </a:tblGrid>
              <a:tr h="365309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기법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미적용(초)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적용(초)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변화(초)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23.44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+2.65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63.87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+43.07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18.90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−1.89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980000" y="10133487"/>
            <a:ext cx="9612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CAD는 토큰마다 로짓을 두 번 계산해 처리 시간이 약 세 배(굵은 값은 가장 긴 시간)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980000" y="10614023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24000" y="10639223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05 조건별 평균 점수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10980000" y="11226023"/>
          <a:ext cx="9611996" cy="3566691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930487"/>
                <a:gridCol w="1289414"/>
                <a:gridCol w="1289414"/>
                <a:gridCol w="1289414"/>
                <a:gridCol w="1289414"/>
                <a:gridCol w="1523853"/>
              </a:tblGrid>
              <a:tr h="644219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조건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근거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충실도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답변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관련성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문맥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정밀도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문맥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재현율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한국어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문자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1 미적용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0.49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 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0.56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3 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0.92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0.49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4 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0.64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5 HyDE+CAD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0.86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0.50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6 HyDE+SCD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7 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0.60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8 HyDE+CAD+SCD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0.92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10980000" y="14900719"/>
            <a:ext cx="9612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두 기법 이상 결합한 조건의 관련성은 모두 HyDE보다 낮음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2000" y="15453255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6000" y="15478455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06 질문 유형별 평균 점수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792000" y="16065255"/>
          <a:ext cx="19799991" cy="3761555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068656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</a:tblGrid>
              <a:tr h="349814">
                <a:tc rowSpan="2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조건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근거 충실도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답변 관련성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문맥 정밀도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문맥 재현율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한국어 문자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613229">
                <a:tc v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1 미적용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2 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3 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4 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5 HyDE+CAD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6 HyDE+SCD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7 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8 HyDE+CAD+SCD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792000" y="19934815"/>
            <a:ext cx="19800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관련성은 방법 질문에서 HyDE가 0.57에서 0.74로, 충실도는 수치 질문에서 CAD가 0.83에서 0.90으로 높임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2000" y="20487351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6000" y="20512551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07 방법 질문 25개의 조건별 원점수 평행좌표</a:t>
            </a:r>
          </a:p>
        </p:txBody>
      </p:sp>
      <p:pic>
        <p:nvPicPr>
          <p:cNvPr id="35" name="Picture 34" descr="poster_parall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21099351"/>
            <a:ext cx="19800000" cy="447096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792000" y="25606319"/>
            <a:ext cx="19800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HyDE 적용 후 관련성 축의 선이 위로 모이고 관련성 0점 답변이 5개에서 1개로 줄어듦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92000" y="26086855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6000" y="26112055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08 결론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2000" y="26698855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한 지표가 중요하면 기법 하나(관련성, 개념과 결과 질문은 HyDE)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2000" y="27124156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수치 질문은 정답 구간의 검색을 확인하고 충실도는 HyDE+CAD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2000" y="27549458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고루 지키려면 세 기법(방법 질문의 네 품질 지표 모두 상승)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2000" y="27974759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조합은 HyDE 단독보다 관련성이 낮고 일관된 이득은 SCD의 한국어 비율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980000" y="26086855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124000" y="26112055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09 실제 답변에서 확인한 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80000" y="26698855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BIC 질문은 HyDE가 근거 구간을 찾아 관련성이 0.00에서 0.89로 오름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80000" y="27124156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QuALITY 질문은 HyDE 후 73.68이 빠져 관련성이 0.87에서 0.00으로 내림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80000" y="27549458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XSUM 질문은 CAD가 다른 행 수치를 옮겼는데 충실도가 0.53에서 0.87로 오름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80000" y="27974759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RAG 이점 질문은 CAD 후 지시문만 남아 관련성이 0.90에서 0.00으로 내림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2000" y="28472060"/>
            <a:ext cx="9612000" cy="13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63044"/>
                </a:solidFill>
                <a:latin typeface="Malgun Gothic"/>
                <a:ea typeface="Malgun Gothic"/>
              </a:rPr>
              <a:t>[1] Lewis et al., RAG, NeurIPS 2020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263044"/>
                </a:solidFill>
                <a:latin typeface="Malgun Gothic"/>
                <a:ea typeface="Malgun Gothic"/>
              </a:rPr>
              <a:t>[2] Gao et al., HyDE, ACL 2023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263044"/>
                </a:solidFill>
                <a:latin typeface="Malgun Gothic"/>
                <a:ea typeface="Malgun Gothic"/>
              </a:rPr>
              <a:t>[3] Shi et al., CAD, NAACL 2024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263044"/>
                </a:solidFill>
                <a:latin typeface="Malgun Gothic"/>
                <a:ea typeface="Malgun Gothic"/>
              </a:rPr>
              <a:t>[4] Li et al., SCD, AAAI 2026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263044"/>
                </a:solidFill>
                <a:latin typeface="Malgun Gothic"/>
                <a:ea typeface="Malgun Gothic"/>
              </a:rPr>
              <a:t>[5] Es et al., RAGAs, EACL 2024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